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2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62" autoAdjust="0"/>
    <p:restoredTop sz="94660"/>
  </p:normalViewPr>
  <p:slideViewPr>
    <p:cSldViewPr snapToGrid="0">
      <p:cViewPr>
        <p:scale>
          <a:sx n="154" d="100"/>
          <a:sy n="154" d="100"/>
        </p:scale>
        <p:origin x="4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1B498-5104-FC55-5314-019F17CFE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F59563-6131-81FB-5A0F-142C2CE1F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756BE-6DBE-ABFF-B7FA-7E88CCB7C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5FBC8-A699-432F-A2A7-9C6840403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ECA0-4C8B-CE7A-995F-F03AE2CE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76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18A1-B04B-2C03-CCAE-A9F08E05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97207-13B1-3C71-44AA-AC4FD7ABB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9BEC9-862B-1EB1-C7AB-CD75654C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22D81-DDB7-D178-336E-AA803C92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81A2-E06E-70C9-FB5A-83F0D0ED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71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57039-BEA6-8139-66F7-F0A85A4B6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164296-F794-180A-8F89-3339C9D1F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9C8AD-139F-EB83-6650-AC4910B6B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CC3F-06C8-03AE-EEF7-04C3B6DB8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61B93-C845-2F48-0ACD-FB41711B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F8838-0FEA-A0CB-8FDD-8220AB76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02565-564D-EAF1-A1A7-14D5A0289E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91F3D-BF2F-D2DB-5475-1E057DCC1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B08E2-B51B-6A6D-776A-103B08E3D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9324F-6BBE-60F3-1444-42A9A8E81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D76D0-3279-7735-CB3E-B15619C0F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754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6929-1A24-D1DD-6207-D32688E02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B21E6A-E80E-2010-F6F6-A2C2E6AB6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F07C0-2049-6D94-83DA-E67E1DAC83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897F5A-6CE2-5EC6-5860-96B40AE02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AB82F6-F6F2-727A-E216-DD6AFDFF5D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0FFF27-8477-F568-6247-1E15C0A6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1458A0-9775-7765-75F0-939F0C7E3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ABF86E-0CBD-8C7D-E1B3-DBD6A3603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99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A48E-B7EC-8095-76AD-667B85E92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8D1D62-6932-073E-348D-641BACCC4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69C11-3762-7758-956E-0BE4DB37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F42E3-FF64-8021-1A66-E7C70133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07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88DDCB-8FC1-456B-1216-3A656F7CF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1CB4BD-8B30-37BE-A870-27333685C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4301F-9C47-1FB2-8612-EE599775A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34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A6CD5-46BA-3B90-2EE1-23E6CFF9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85506-D77E-A352-BAF8-20B745A5D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B516C1-898C-F748-5B65-6C656E17F6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3A70EB-44B7-7E6C-D2DE-E9E5F58C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57523-1952-ADCA-DD3C-9365F532E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C9CE2-B6DC-7254-9427-7CF1F08B8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50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532A-7364-B531-A57C-E2B3093F7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1B691E-D6BE-7238-C3AF-B1F3699E3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CE634-6F0D-7EFD-2459-44F550D3C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15DBA-A8AD-143E-8997-95E309149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5E79E2-378B-37B3-F13D-CB90DFFA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861D1-C712-3CE8-047A-D41B5686D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21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96CD-42EF-9B96-1C13-40D9E71A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5A414-70BB-F1F5-BE55-BF33D28FD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2AD7-4491-8432-4B1D-A16C2E1C9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471CD-BC37-5232-914A-5917EDEA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84F47-6C04-88F7-E3B4-38839D32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3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E9B01-0C73-4A59-FE0C-8118B20B9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6D0B42-1029-C81E-9B44-FBE9BB0B0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409BD-C2CD-3D0E-3C4E-AB89FA65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5AAE9-E314-4C44-C605-64C580AF3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5C412-645B-18EA-4E80-AA06F5BC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567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7B37E-C73C-4481-09FD-A3B601D4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47DAA-7FAE-5B90-7000-5B383AA8A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AB16BC-DC82-2353-3A08-73906B8865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A4709-13E2-40A7-8CFC-5CB3D9E2D050}" type="datetimeFigureOut">
              <a:rPr lang="en-US" smtClean="0"/>
              <a:t>5/23/25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7C413-E2A1-CAEE-749C-1B818F33D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7566B-5549-573D-BE53-FB50449EB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4EFD79-E537-43FF-B5E2-0144774EA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7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0.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样例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SalerReward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87D46B-4D1E-4AD8-7BF5-772D43F39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0224"/>
            <a:ext cx="5367528" cy="5736336"/>
          </a:xfrm>
        </p:spPr>
        <p:txBody>
          <a:bodyPr>
            <a:normAutofit fontScale="55000" lnSpcReduction="20000"/>
          </a:bodyPr>
          <a:lstStyle/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Program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SalerReward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(INPUT,OUTPUT)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apple,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As Integer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day As Integer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As Double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appleProfit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huaweiProfit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xiaomiProfit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As Double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totalApple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totalHuawei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As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Interger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appleSales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huaweiSales, xiaomiSales As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Interger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totalSales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totalProfits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profitRate As Double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Dim reward As String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10,000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5,000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2,000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appleProfit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3,000 // rate = 30%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huaweiProfit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1,000 //rate = 20%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xiaomiProfit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200 // rate = 10%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totalApple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0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totalHuawei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0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0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day = 1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While (day &lt;=30)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Input(apple,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totalApple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totalApple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+ apple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totalHuawei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totalHuawei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+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day = day + 1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EndWhile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Output("Apple sold: ",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totalApple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Output("Huawei sold: ",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totalHuawei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Output("Xiaomi sold: ",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appleSales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totalApple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huaweiSales =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huaweiPrice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totalHuawei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xiaomiSales =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xiaomiPrice</a:t>
            </a:r>
            <a:r>
              <a:rPr lang="en-US" sz="20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endParaRPr lang="en-US" sz="20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marR="0" lvl="0" indent="-342900" algn="l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lang="en-US" sz="1800" kern="100" dirty="0">
              <a:effectLst/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7806CAB-B837-3768-49FA-B39CD5E750F0}"/>
              </a:ext>
            </a:extLst>
          </p:cNvPr>
          <p:cNvSpPr txBox="1">
            <a:spLocks/>
          </p:cNvSpPr>
          <p:nvPr/>
        </p:nvSpPr>
        <p:spPr>
          <a:xfrm>
            <a:off x="6038088" y="1030224"/>
            <a:ext cx="5367528" cy="5736336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xiaomiSales =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xiaomiPrice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endParaRPr lang="en-US" sz="2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totalSales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appleSales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+ huaweiSales + xiaomiSales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Output("Total sales: ",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totalSales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totalProfits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=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appleProfit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totalApple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+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huaweiProfit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*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totalHuawei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+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xiaomiProfit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*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totalXiaomi</a:t>
            </a:r>
            <a:endParaRPr lang="en-US" sz="2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profitRate =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totalProfits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/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totalSales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// </a:t>
            </a:r>
            <a:r>
              <a:rPr lang="zh-CN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计算利润率</a:t>
            </a:r>
            <a:endParaRPr lang="en-US" sz="2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Output("Total profits: ",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totalProfits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If (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totalSales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&gt;= 100,000)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Then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If (profitRate &gt;= 0.2) 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Then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    reward = "Diamond"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Else If (profitRate &lt; 0.2 &amp;&amp; profitRate &gt;= 0.15) 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Then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    reward = "Gold"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Else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    reward = "Silver"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Endif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Else If (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totalSales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&lt; 100,000 &amp;&amp;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totalSales</a:t>
            </a: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&gt;= 60,000)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Then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If (profitRate &gt;= 0.2)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Then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    reward = "Gold"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Else 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    reward = "Silver"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Endif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Else If (profitRate &gt;= 0.2)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Then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reward = "Silver"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Else 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    reward = "No Reward"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Endif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    Output("Reward is: ", reward)</a:t>
            </a:r>
          </a:p>
          <a:p>
            <a:pPr marL="342900" indent="-342900">
              <a:lnSpc>
                <a:spcPct val="120000"/>
              </a:lnSpc>
              <a:spcBef>
                <a:spcPts val="0"/>
              </a:spcBef>
              <a:buFont typeface="+mj-lt"/>
              <a:buAutoNum type="arabicPeriod" startAt="33"/>
            </a:pPr>
            <a:r>
              <a:rPr lang="en-US" sz="2000" kern="1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End </a:t>
            </a:r>
            <a:r>
              <a:rPr lang="en-US" sz="2000" kern="100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SalerReward</a:t>
            </a:r>
            <a:endParaRPr lang="en-US" sz="2000" kern="1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0"/>
              </a:spcBef>
              <a:buFont typeface="+mj-lt"/>
              <a:buAutoNum type="arabicPeriod" startAt="33"/>
            </a:pPr>
            <a:endParaRPr lang="en-US" sz="1800" kern="100" dirty="0">
              <a:latin typeface="Calibri" panose="020F050202020403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405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1. </a:t>
            </a:r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Def-Use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表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DB4474-82AA-AB31-EA3F-ED9695BCBC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9538177"/>
              </p:ext>
            </p:extLst>
          </p:nvPr>
        </p:nvGraphicFramePr>
        <p:xfrm>
          <a:off x="3639312" y="1419839"/>
          <a:ext cx="4913376" cy="47132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4752">
                  <a:extLst>
                    <a:ext uri="{9D8B030D-6E8A-4147-A177-3AD203B41FA5}">
                      <a16:colId xmlns:a16="http://schemas.microsoft.com/office/drawing/2014/main" val="4264311046"/>
                    </a:ext>
                  </a:extLst>
                </a:gridCol>
                <a:gridCol w="1956876">
                  <a:extLst>
                    <a:ext uri="{9D8B030D-6E8A-4147-A177-3AD203B41FA5}">
                      <a16:colId xmlns:a16="http://schemas.microsoft.com/office/drawing/2014/main" val="2761628058"/>
                    </a:ext>
                  </a:extLst>
                </a:gridCol>
                <a:gridCol w="1511748">
                  <a:extLst>
                    <a:ext uri="{9D8B030D-6E8A-4147-A177-3AD203B41FA5}">
                      <a16:colId xmlns:a16="http://schemas.microsoft.com/office/drawing/2014/main" val="199184500"/>
                    </a:ext>
                  </a:extLst>
                </a:gridCol>
              </a:tblGrid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变量名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定义节点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使用节点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9673610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apple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6455092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huawei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9542140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xiaomi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21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5647024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appleProfit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13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8834779"/>
                  </a:ext>
                </a:extLst>
              </a:tr>
              <a:tr h="224494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huaweiProfit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14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91998264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xiaomiProfit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15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181902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day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19,25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20,25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021063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applePrice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10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45668604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huaweiPrice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31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6680692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xiaomiPrice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12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9789690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totalApple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16,22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22,27,30,35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1771133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totalHuawei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17,23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23,28,31,35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9801611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totalXiaomi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18,24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24,29,32,35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5726454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appleSales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30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6085641"/>
                  </a:ext>
                </a:extLst>
              </a:tr>
              <a:tr h="268758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huaweiSales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31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5650297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xiaomiSales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32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4650026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totalSales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33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34,36,38,49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7448420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totalProfits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35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36,37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5058108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profitRate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36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40,43,51,57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9463319"/>
                  </a:ext>
                </a:extLst>
              </a:tr>
              <a:tr h="222106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reward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42,45,47,53,55,59,61</a:t>
                      </a:r>
                      <a:endParaRPr lang="en-US" sz="1100" kern="10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63</a:t>
                      </a:r>
                      <a:endParaRPr lang="en-US" sz="1100" kern="100" dirty="0"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4013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187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程序切片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6843A9-91B1-4318-2BBA-A3603D299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5129"/>
            <a:ext cx="5373624" cy="1755647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 Apple</a:t>
            </a:r>
            <a:r>
              <a:rPr lang="zh-CN" sz="18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sz="18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16) = {16}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22) = {16, 19, 20, 21, 22, 25, 26}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27) = {16, 19, 20, 21, 22, 25, 26}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30) = {16, 19, 20, 21, 22, 25, 26}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35) = {16, 19, 20, 21, 22, 25, 26}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628E3A37-6F97-2432-C3DA-BDF53DF99539}"/>
              </a:ext>
            </a:extLst>
          </p:cNvPr>
          <p:cNvSpPr txBox="1">
            <a:spLocks/>
          </p:cNvSpPr>
          <p:nvPr/>
        </p:nvSpPr>
        <p:spPr>
          <a:xfrm>
            <a:off x="6361176" y="987552"/>
            <a:ext cx="5154168" cy="1755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profitRate:</a:t>
            </a:r>
            <a:endParaRPr lang="en-US" sz="18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36)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40)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43)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51)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57) = {10-26, 30-33, 35, 36}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E81DD55-66D9-A9F2-4748-E633483705AB}"/>
              </a:ext>
            </a:extLst>
          </p:cNvPr>
          <p:cNvSpPr txBox="1">
            <a:spLocks/>
          </p:cNvSpPr>
          <p:nvPr/>
        </p:nvSpPr>
        <p:spPr>
          <a:xfrm>
            <a:off x="6361176" y="3044951"/>
            <a:ext cx="6156960" cy="768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huaweiSales</a:t>
            </a:r>
            <a:r>
              <a:rPr lang="zh-CN" sz="14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sz="1400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S(huaweiSales, 31) = {11, 17, 19, 20, 21, 23, 25, 26, 31}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S(huaweiSales, 33) = {11, 17, 19, 20, 21, 23, 25, 26, 31}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B5BE298-98C9-10DB-A8CC-78F8F6CF2076}"/>
              </a:ext>
            </a:extLst>
          </p:cNvPr>
          <p:cNvSpPr txBox="1">
            <a:spLocks/>
          </p:cNvSpPr>
          <p:nvPr/>
        </p:nvSpPr>
        <p:spPr>
          <a:xfrm>
            <a:off x="838200" y="3437135"/>
            <a:ext cx="5522976" cy="24079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reward: 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42) = {10-26, 30-33, 35, 36, 38-42}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45) = {10-26, 30-33, 35, 36, 38-45}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47) = {10-26, 30-33, 35, 36, 38-47}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53) = {10-26, 30-33, 35, 36, 38-53}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55) = {10-26, 30-33, 35, 36, 38-55}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59) = {10-26, 30-33, 35, 36, 38-59}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61) = {10-26, 30-33, 35, 36, 38-61}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63) = {10-26, 30-33, 35, 36, 38-61}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907FFD7-9716-D090-AB03-92208E9174A2}"/>
              </a:ext>
            </a:extLst>
          </p:cNvPr>
          <p:cNvSpPr txBox="1"/>
          <p:nvPr/>
        </p:nvSpPr>
        <p:spPr>
          <a:xfrm>
            <a:off x="833021" y="1001035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据程序片测试的方法，请写出以下变量的程序切片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842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程序切片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06843A9-91B1-4318-2BBA-A3603D299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385"/>
            <a:ext cx="5373624" cy="1755647"/>
          </a:xfrm>
        </p:spPr>
        <p:txBody>
          <a:bodyPr>
            <a:noAutofit/>
          </a:bodyPr>
          <a:lstStyle/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sz="1800" b="1" kern="1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(def: 16,22; use:  22,27,30,35)</a:t>
            </a:r>
            <a:endParaRPr lang="en-US" sz="1800" kern="100" dirty="0">
              <a:solidFill>
                <a:srgbClr val="0070C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16) = {16}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22) = {16, 19, 20, 21, 22, 25, 26}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27) = {16, 19, 20, 21, 22, 25, 26}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30) = {16, 19, 20, 21, 22, 25, 26}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</a:t>
            </a:r>
            <a:r>
              <a:rPr lang="en-US" sz="1800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, 35) = {16, 19, 20, 21, 22, 25, 26}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81BA2A-16D0-783F-55EF-4DF4591E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511" y="1091183"/>
            <a:ext cx="4640834" cy="47819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061532-9419-51DB-B50E-8C2FBD59961B}"/>
              </a:ext>
            </a:extLst>
          </p:cNvPr>
          <p:cNvSpPr txBox="1"/>
          <p:nvPr/>
        </p:nvSpPr>
        <p:spPr>
          <a:xfrm>
            <a:off x="838200" y="3553968"/>
            <a:ext cx="56521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只有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行的赋值和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while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循环对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totalApple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作出贡献。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27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35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是无贡献的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use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7D880DE-E5E0-EF07-BE1A-3ED5FF96FAB7}"/>
              </a:ext>
            </a:extLst>
          </p:cNvPr>
          <p:cNvSpPr txBox="1"/>
          <p:nvPr/>
        </p:nvSpPr>
        <p:spPr>
          <a:xfrm>
            <a:off x="833021" y="1091183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据程序片测试的方法，请写出以下变量的程序切片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25474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程序切片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BF23806F-C792-9A35-5D32-31C07CD63998}"/>
              </a:ext>
            </a:extLst>
          </p:cNvPr>
          <p:cNvSpPr txBox="1">
            <a:spLocks/>
          </p:cNvSpPr>
          <p:nvPr/>
        </p:nvSpPr>
        <p:spPr>
          <a:xfrm>
            <a:off x="838200" y="896112"/>
            <a:ext cx="5522976" cy="24079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reward: </a:t>
            </a:r>
            <a:r>
              <a:rPr lang="en-US" sz="1400" b="1" kern="10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(def: 42,45,47,53,55,59,61; use: 63)</a:t>
            </a:r>
            <a:endParaRPr lang="en-US" sz="1400" kern="100" dirty="0">
              <a:solidFill>
                <a:srgbClr val="0070C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42) = {10-26, 30-33, 35, 36, 38-42}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45) = {10-26, 30-33, 35, 36, 38-45}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47) = {10-26, 30-33, 35, 36, 38-47}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53) = {10-26, 30-33, 35, 36, 38-53}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55) = {10-26, 30-33, 35, 36, 38-55}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59) = {10-26, 30-33, 35, 36, 38-59}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61) = {10-26, 30-33, 35, 36, 38-61}</a:t>
            </a:r>
          </a:p>
          <a:p>
            <a:pPr marL="0" marR="0" indent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 (reward, 63) = {10-26, 30-33, 35, 36, 38-61}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0BCCD-E8B5-1CBE-72A8-2D591432B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768" y="728229"/>
            <a:ext cx="4574695" cy="54015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DB24FA3-F572-F21E-86AB-0D68C4EB05C3}"/>
              </a:ext>
            </a:extLst>
          </p:cNvPr>
          <p:cNvSpPr txBox="1"/>
          <p:nvPr/>
        </p:nvSpPr>
        <p:spPr>
          <a:xfrm>
            <a:off x="838200" y="3553968"/>
            <a:ext cx="4659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分支条件依赖变量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totalSales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profitRate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4C402-ED9F-0CD8-8377-3D39DDD357A0}"/>
              </a:ext>
            </a:extLst>
          </p:cNvPr>
          <p:cNvSpPr txBox="1"/>
          <p:nvPr/>
        </p:nvSpPr>
        <p:spPr>
          <a:xfrm>
            <a:off x="838200" y="4803529"/>
            <a:ext cx="5946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如果涉及条件分支，语句前的分支都应该包含在切片中。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ED378C-9334-BB6D-0BCB-F5317FD72EB8}"/>
              </a:ext>
            </a:extLst>
          </p:cNvPr>
          <p:cNvSpPr/>
          <p:nvPr/>
        </p:nvSpPr>
        <p:spPr>
          <a:xfrm>
            <a:off x="2316480" y="1242433"/>
            <a:ext cx="1749552" cy="19652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F343C-7720-9367-B02F-E07FB23AD280}"/>
              </a:ext>
            </a:extLst>
          </p:cNvPr>
          <p:cNvSpPr/>
          <p:nvPr/>
        </p:nvSpPr>
        <p:spPr>
          <a:xfrm>
            <a:off x="4187952" y="1242433"/>
            <a:ext cx="621792" cy="196521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F62AE65-76F7-C358-CF4C-13F7ACFBBA8A}"/>
              </a:ext>
            </a:extLst>
          </p:cNvPr>
          <p:cNvCxnSpPr>
            <a:cxnSpLocks/>
            <a:endCxn id="7" idx="0"/>
          </p:cNvCxnSpPr>
          <p:nvPr/>
        </p:nvCxnSpPr>
        <p:spPr>
          <a:xfrm rot="5400000">
            <a:off x="3005012" y="3370769"/>
            <a:ext cx="346321" cy="20077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8A1ECDD-02EC-FE45-D046-88066BA47F62}"/>
              </a:ext>
            </a:extLst>
          </p:cNvPr>
          <p:cNvCxnSpPr>
            <a:cxnSpLocks/>
            <a:stCxn id="10" idx="3"/>
            <a:endCxn id="8" idx="0"/>
          </p:cNvCxnSpPr>
          <p:nvPr/>
        </p:nvCxnSpPr>
        <p:spPr>
          <a:xfrm flipH="1">
            <a:off x="3811524" y="2225040"/>
            <a:ext cx="998220" cy="2578489"/>
          </a:xfrm>
          <a:prstGeom prst="curvedConnector4">
            <a:avLst>
              <a:gd name="adj1" fmla="val -92519"/>
              <a:gd name="adj2" fmla="val 7851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64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程序切片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BF8FF7FE-A521-2D5E-4407-A4E8D0F19009}"/>
              </a:ext>
            </a:extLst>
          </p:cNvPr>
          <p:cNvSpPr txBox="1">
            <a:spLocks/>
          </p:cNvSpPr>
          <p:nvPr/>
        </p:nvSpPr>
        <p:spPr>
          <a:xfrm>
            <a:off x="838200" y="896112"/>
            <a:ext cx="5154168" cy="1755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profitRate: </a:t>
            </a:r>
            <a:r>
              <a:rPr lang="en-US" sz="1800" b="1" kern="10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(def: 36; use: 40,43,51,57)</a:t>
            </a:r>
            <a:endParaRPr lang="en-US" sz="1800" kern="100" dirty="0">
              <a:solidFill>
                <a:srgbClr val="0070C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36)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40)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43)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51) = {10-26, 30-33, 35, 36}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S(profitRate, 57) = {10-26, 30-33, 35, 36}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42BEDE-318D-516D-E622-57739F118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806" y="623618"/>
            <a:ext cx="4972994" cy="56107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E418B0-6B7E-0CEC-0099-148F3E290C50}"/>
              </a:ext>
            </a:extLst>
          </p:cNvPr>
          <p:cNvSpPr txBox="1"/>
          <p:nvPr/>
        </p:nvSpPr>
        <p:spPr>
          <a:xfrm>
            <a:off x="838201" y="3700272"/>
            <a:ext cx="545896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profitRate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依赖变量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totalProfits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totalSales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。其中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totalSales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不仅在定义时被依赖，在使用的分支条件中也被依赖。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只有语句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36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对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profitRate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作定义，因此所有切片都长一样。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B9777E-1BD3-DFD9-D99E-19A1828ED4AD}"/>
              </a:ext>
            </a:extLst>
          </p:cNvPr>
          <p:cNvSpPr/>
          <p:nvPr/>
        </p:nvSpPr>
        <p:spPr>
          <a:xfrm>
            <a:off x="3078480" y="1210802"/>
            <a:ext cx="1780032" cy="144095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86A6D94-9F38-9734-66EE-1DD07157052D}"/>
              </a:ext>
            </a:extLst>
          </p:cNvPr>
          <p:cNvCxnSpPr>
            <a:stCxn id="13" idx="2"/>
            <a:endCxn id="12" idx="0"/>
          </p:cNvCxnSpPr>
          <p:nvPr/>
        </p:nvCxnSpPr>
        <p:spPr>
          <a:xfrm rot="5400000">
            <a:off x="3243835" y="2975610"/>
            <a:ext cx="1048513" cy="40081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335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2.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程序切片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B9072CF-CD30-FAD0-AA8F-BD9DCBB10332}"/>
              </a:ext>
            </a:extLst>
          </p:cNvPr>
          <p:cNvSpPr txBox="1">
            <a:spLocks/>
          </p:cNvSpPr>
          <p:nvPr/>
        </p:nvSpPr>
        <p:spPr>
          <a:xfrm>
            <a:off x="838200" y="896112"/>
            <a:ext cx="4794504" cy="7680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huaweiSales</a:t>
            </a:r>
            <a:r>
              <a:rPr lang="en-US" sz="1400" b="1" kern="1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sz="1400" b="1" kern="100" dirty="0">
                <a:solidFill>
                  <a:srgbClr val="0070C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(def: 31; use: 33)</a:t>
            </a:r>
            <a:endParaRPr lang="en-US" sz="1400" kern="100" dirty="0">
              <a:solidFill>
                <a:srgbClr val="0070C0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S(huaweiSales, 31) = {11, 17, 19, 20, 21, 23, 25, 26, 31}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S(huaweiSales, 33) = {11, 17, 19, 20, 21, 23, 25, 26, 31}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84C278-A771-C276-0EA0-E40E6E5D4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298" y="767778"/>
            <a:ext cx="4709298" cy="53224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CC96356-4645-0CC4-2BDB-75F300F5502E}"/>
              </a:ext>
            </a:extLst>
          </p:cNvPr>
          <p:cNvSpPr/>
          <p:nvPr/>
        </p:nvSpPr>
        <p:spPr>
          <a:xfrm>
            <a:off x="2755392" y="1152144"/>
            <a:ext cx="256032" cy="45110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5F578-3869-9B1B-9633-F7C8A795C947}"/>
              </a:ext>
            </a:extLst>
          </p:cNvPr>
          <p:cNvSpPr/>
          <p:nvPr/>
        </p:nvSpPr>
        <p:spPr>
          <a:xfrm>
            <a:off x="3090672" y="1152144"/>
            <a:ext cx="2066543" cy="45110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F19AC-3C11-49A9-C380-7FA0BAC1A4FB}"/>
              </a:ext>
            </a:extLst>
          </p:cNvPr>
          <p:cNvSpPr txBox="1"/>
          <p:nvPr/>
        </p:nvSpPr>
        <p:spPr>
          <a:xfrm>
            <a:off x="944880" y="2109216"/>
            <a:ext cx="1970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依赖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huaweiPrice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5E75C7-A179-E7B4-AB16-362B1107339D}"/>
              </a:ext>
            </a:extLst>
          </p:cNvPr>
          <p:cNvSpPr txBox="1"/>
          <p:nvPr/>
        </p:nvSpPr>
        <p:spPr>
          <a:xfrm>
            <a:off x="944880" y="2798064"/>
            <a:ext cx="1976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依赖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totalHuawei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4611C24-88F5-78D8-50D0-013DE72FBEDA}"/>
              </a:ext>
            </a:extLst>
          </p:cNvPr>
          <p:cNvCxnSpPr>
            <a:stCxn id="7" idx="2"/>
            <a:endCxn id="9" idx="0"/>
          </p:cNvCxnSpPr>
          <p:nvPr/>
        </p:nvCxnSpPr>
        <p:spPr>
          <a:xfrm rot="5400000">
            <a:off x="2153859" y="1379667"/>
            <a:ext cx="505968" cy="953130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4405B29F-E1D6-DC4D-AB48-A3A9DD9EEE1F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2431226" y="1105346"/>
            <a:ext cx="1194816" cy="2190620"/>
          </a:xfrm>
          <a:prstGeom prst="curvedConnector3">
            <a:avLst>
              <a:gd name="adj1" fmla="val 7295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7635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3. DD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路径图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1" descr="形状&#10;&#10;AI 生成的内容可能不正确。">
            <a:extLst>
              <a:ext uri="{FF2B5EF4-FFF2-40B4-BE49-F238E27FC236}">
                <a16:creationId xmlns:a16="http://schemas.microsoft.com/office/drawing/2014/main" id="{BCA8D953-F9D8-1884-088C-D0D3BDAFE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878" y="1109916"/>
            <a:ext cx="3791585" cy="515930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D8A9A74-BEA3-4696-8DD2-40CE9A69C200}"/>
              </a:ext>
            </a:extLst>
          </p:cNvPr>
          <p:cNvSpPr/>
          <p:nvPr/>
        </p:nvSpPr>
        <p:spPr>
          <a:xfrm>
            <a:off x="2718816" y="1780031"/>
            <a:ext cx="920496" cy="9265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9196CC-1DFE-3C20-972E-E1D46E086C87}"/>
              </a:ext>
            </a:extLst>
          </p:cNvPr>
          <p:cNvSpPr/>
          <p:nvPr/>
        </p:nvSpPr>
        <p:spPr>
          <a:xfrm>
            <a:off x="1444878" y="2840736"/>
            <a:ext cx="3608706" cy="26578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4C56C-0876-848C-6087-EA491F862E60}"/>
              </a:ext>
            </a:extLst>
          </p:cNvPr>
          <p:cNvSpPr txBox="1"/>
          <p:nvPr/>
        </p:nvSpPr>
        <p:spPr>
          <a:xfrm>
            <a:off x="3761232" y="2011680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While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循环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9E5991-7691-E84F-CEF5-D10E1F96ECA6}"/>
              </a:ext>
            </a:extLst>
          </p:cNvPr>
          <p:cNvSpPr txBox="1"/>
          <p:nvPr/>
        </p:nvSpPr>
        <p:spPr>
          <a:xfrm>
            <a:off x="5489103" y="3984998"/>
            <a:ext cx="5242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If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分支（注意每个分支包含头尾，不可省略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）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09715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0C304-6BF1-023F-2F23-F2FCCCAD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0987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4.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基本路径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6FD9FF-1C6B-36E4-33FD-FEE0E50EBB5C}"/>
              </a:ext>
            </a:extLst>
          </p:cNvPr>
          <p:cNvSpPr txBox="1"/>
          <p:nvPr/>
        </p:nvSpPr>
        <p:spPr>
          <a:xfrm>
            <a:off x="883920" y="1120676"/>
            <a:ext cx="60904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kern="100" dirty="0" err="1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MaCabe</a:t>
            </a:r>
            <a:r>
              <a:rPr lang="zh-CN" alt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圈数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:</a:t>
            </a:r>
            <a:r>
              <a:rPr lang="zh-CN" alt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V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(G)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2p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23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17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kern="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endParaRPr lang="en-US" altLang="zh-CN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endParaRPr lang="en-US" altLang="zh-CN" kern="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just"/>
            <a:r>
              <a:rPr lang="zh-CN" alt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基本路径的总数为</a:t>
            </a:r>
            <a:r>
              <a:rPr lang="en-US" altLang="zh-CN" kern="100" dirty="0">
                <a:solidFill>
                  <a:srgbClr val="0070C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8</a:t>
            </a:r>
            <a:r>
              <a:rPr lang="zh-CN" alt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F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E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H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I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K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J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L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P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Q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以上是一个样例，基本路径能够覆盖所有分支即可。</a:t>
            </a:r>
            <a:endParaRPr lang="en-US" altLang="zh-CN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zh-CN" alt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其中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kern="10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可以放在任意路径上，但只能出现一次。</a:t>
            </a:r>
            <a:endParaRPr lang="en-US" altLang="zh-CN" kern="10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endParaRPr lang="en-US" kern="1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E0E679-D924-65CB-A3D5-B780748E28AC}"/>
              </a:ext>
            </a:extLst>
          </p:cNvPr>
          <p:cNvSpPr/>
          <p:nvPr/>
        </p:nvSpPr>
        <p:spPr>
          <a:xfrm>
            <a:off x="2120300" y="1715192"/>
            <a:ext cx="920496" cy="2560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1" descr="形状&#10;&#10;AI 生成的内容可能不正确。">
            <a:extLst>
              <a:ext uri="{FF2B5EF4-FFF2-40B4-BE49-F238E27FC236}">
                <a16:creationId xmlns:a16="http://schemas.microsoft.com/office/drawing/2014/main" id="{E650061D-2FCC-974A-F2F1-C7D3F281C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094" y="896112"/>
            <a:ext cx="3791585" cy="515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18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1621</Words>
  <Application>Microsoft Macintosh PowerPoint</Application>
  <PresentationFormat>宽屏</PresentationFormat>
  <Paragraphs>212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Microsoft YaHei</vt:lpstr>
      <vt:lpstr>Aptos</vt:lpstr>
      <vt:lpstr>Aptos Display</vt:lpstr>
      <vt:lpstr>Arial</vt:lpstr>
      <vt:lpstr>Calibri</vt:lpstr>
      <vt:lpstr>Office Theme</vt:lpstr>
      <vt:lpstr>0. 样例SalerReward</vt:lpstr>
      <vt:lpstr>1. Def-Use 表</vt:lpstr>
      <vt:lpstr>2. 程序切片</vt:lpstr>
      <vt:lpstr>2. 程序切片</vt:lpstr>
      <vt:lpstr>2. 程序切片</vt:lpstr>
      <vt:lpstr>2. 程序切片</vt:lpstr>
      <vt:lpstr>2. 程序切片</vt:lpstr>
      <vt:lpstr>3. DD路径图</vt:lpstr>
      <vt:lpstr>4. 基本路径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佳航 谢</dc:creator>
  <cp:lastModifiedBy>Istrate Ramona</cp:lastModifiedBy>
  <cp:revision>22</cp:revision>
  <dcterms:created xsi:type="dcterms:W3CDTF">2025-05-20T02:40:47Z</dcterms:created>
  <dcterms:modified xsi:type="dcterms:W3CDTF">2025-05-23T02:22:47Z</dcterms:modified>
</cp:coreProperties>
</file>