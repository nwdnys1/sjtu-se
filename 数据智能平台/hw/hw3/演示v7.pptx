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3.svg" ContentType="image/svg+xml"/>
  <Override PartName="/ppt/media/image119.svg" ContentType="image/svg+xml"/>
  <Override PartName="/ppt/media/image60.svg" ContentType="image/svg+xml"/>
  <Override PartName="/ppt/media/image89.svg" ContentType="image/svg+xml"/>
  <Override PartName="/ppt/media/image95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0" r:id="rId3"/>
    <p:sldId id="291" r:id="rId5"/>
    <p:sldId id="336" r:id="rId6"/>
    <p:sldId id="267" r:id="rId7"/>
    <p:sldId id="319" r:id="rId8"/>
    <p:sldId id="357" r:id="rId9"/>
    <p:sldId id="268" r:id="rId10"/>
    <p:sldId id="341" r:id="rId11"/>
    <p:sldId id="337" r:id="rId12"/>
    <p:sldId id="338" r:id="rId13"/>
    <p:sldId id="339" r:id="rId14"/>
    <p:sldId id="340" r:id="rId15"/>
    <p:sldId id="342" r:id="rId16"/>
    <p:sldId id="343" r:id="rId17"/>
    <p:sldId id="344" r:id="rId18"/>
    <p:sldId id="345" r:id="rId19"/>
    <p:sldId id="356" r:id="rId20"/>
    <p:sldId id="355" r:id="rId21"/>
    <p:sldId id="346" r:id="rId22"/>
    <p:sldId id="349" r:id="rId23"/>
    <p:sldId id="350" r:id="rId24"/>
    <p:sldId id="351" r:id="rId25"/>
    <p:sldId id="352" r:id="rId26"/>
    <p:sldId id="353" r:id="rId27"/>
    <p:sldId id="347" r:id="rId28"/>
    <p:sldId id="328" r:id="rId29"/>
    <p:sldId id="333" r:id="rId30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74E2"/>
    <a:srgbClr val="112034"/>
    <a:srgbClr val="F9F9F9"/>
    <a:srgbClr val="6AA8EA"/>
    <a:srgbClr val="96C8FB"/>
    <a:srgbClr val="BCD0FA"/>
    <a:srgbClr val="3CBCE9"/>
    <a:srgbClr val="4074E3"/>
    <a:srgbClr val="133988"/>
    <a:srgbClr val="84B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98" autoAdjust="0"/>
    <p:restoredTop sz="95262" autoAdjust="0"/>
  </p:normalViewPr>
  <p:slideViewPr>
    <p:cSldViewPr snapToGrid="0">
      <p:cViewPr varScale="1">
        <p:scale>
          <a:sx n="213" d="100"/>
          <a:sy n="213" d="100"/>
        </p:scale>
        <p:origin x="216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69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9F400-9719-49C3-841F-338D4456F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97510-8608-43A8-909B-1EA8A58B67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97510-8608-43A8-909B-1EA8A58B67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97510-8608-43A8-909B-1EA8A58B67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2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211235" cy="6862713"/>
          </a:xfrm>
          <a:prstGeom prst="rect">
            <a:avLst/>
          </a:prstGeom>
        </p:spPr>
      </p:pic>
      <p:sp>
        <p:nvSpPr>
          <p:cNvPr id="13" name="任意多边形: 形状 16"/>
          <p:cNvSpPr/>
          <p:nvPr/>
        </p:nvSpPr>
        <p:spPr>
          <a:xfrm>
            <a:off x="-2" y="-7760"/>
            <a:ext cx="12188858" cy="686271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rgbClr val="13325E">
                  <a:alpha val="50000"/>
                </a:srgbClr>
              </a:gs>
              <a:gs pos="34000">
                <a:schemeClr val="tx1">
                  <a:lumMod val="50000"/>
                  <a:lumOff val="50000"/>
                  <a:alpha val="30000"/>
                </a:schemeClr>
              </a:gs>
              <a:gs pos="71000">
                <a:schemeClr val="tx1">
                  <a:alpha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2701506" y="4604225"/>
            <a:ext cx="9354526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>
                  <a:gradFill>
                    <a:gsLst>
                      <a:gs pos="68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15000"/>
                          <a:lumOff val="8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>
                <a:gradFill>
                  <a:gsLst>
                    <a:gs pos="68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15000"/>
                        <a:lumOff val="85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82818" y="1603022"/>
            <a:ext cx="11246338" cy="3149600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7" y="1549049"/>
            <a:ext cx="10868057" cy="140945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211235" cy="6862713"/>
          </a:xfrm>
          <a:prstGeom prst="rect">
            <a:avLst/>
          </a:prstGeom>
        </p:spPr>
      </p:pic>
      <p:sp>
        <p:nvSpPr>
          <p:cNvPr id="3" name="任意多边形: 形状 16"/>
          <p:cNvSpPr/>
          <p:nvPr userDrawn="1"/>
        </p:nvSpPr>
        <p:spPr>
          <a:xfrm>
            <a:off x="3142" y="-18567"/>
            <a:ext cx="12188858" cy="686271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rgbClr val="13325E">
                  <a:alpha val="50000"/>
                </a:srgbClr>
              </a:gs>
              <a:gs pos="34000">
                <a:schemeClr val="tx1">
                  <a:lumMod val="50000"/>
                  <a:lumOff val="50000"/>
                  <a:alpha val="30000"/>
                </a:schemeClr>
              </a:gs>
              <a:gs pos="71000">
                <a:schemeClr val="tx1">
                  <a:alpha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2701506" y="4604225"/>
            <a:ext cx="9354526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>
                  <a:gradFill>
                    <a:gsLst>
                      <a:gs pos="68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15000"/>
                          <a:lumOff val="8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>
                <a:gradFill>
                  <a:gsLst>
                    <a:gs pos="68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15000"/>
                        <a:lumOff val="85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 userDrawn="1"/>
        </p:nvSpPr>
        <p:spPr>
          <a:xfrm>
            <a:off x="482818" y="1603022"/>
            <a:ext cx="11246338" cy="3149600"/>
          </a:xfrm>
          <a:prstGeom prst="roundRect">
            <a:avLst>
              <a:gd name="adj" fmla="val 3667"/>
            </a:avLst>
          </a:prstGeom>
          <a:gradFill>
            <a:gsLst>
              <a:gs pos="0">
                <a:schemeClr val="tx1">
                  <a:lumMod val="65000"/>
                  <a:lumOff val="35000"/>
                  <a:alpha val="50000"/>
                </a:schemeClr>
              </a:gs>
              <a:gs pos="99000">
                <a:srgbClr val="000000">
                  <a:alpha val="70000"/>
                </a:srgbClr>
              </a:gs>
            </a:gsLst>
            <a:lin ang="5400000" scaled="0"/>
          </a:gradFill>
          <a:ln w="76200">
            <a:solidFill>
              <a:schemeClr val="bg1"/>
            </a:solidFill>
          </a:ln>
          <a:effectLst>
            <a:outerShdw blurRad="257189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58447" y="1913710"/>
            <a:ext cx="6961209" cy="7798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52899" y="1769035"/>
            <a:ext cx="1748022" cy="1030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34628" y="1859920"/>
            <a:ext cx="2423661" cy="7798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" y="0"/>
            <a:ext cx="12211235" cy="686271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9658" y="5035621"/>
            <a:ext cx="9046781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 w="22225">
                  <a:gradFill>
                    <a:gsLst>
                      <a:gs pos="63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34000"/>
                          <a:lumOff val="66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 w="22225">
                <a:gradFill>
                  <a:gsLst>
                    <a:gs pos="63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34000"/>
                        <a:lumOff val="66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任意多边形: 形状 16"/>
          <p:cNvSpPr/>
          <p:nvPr/>
        </p:nvSpPr>
        <p:spPr>
          <a:xfrm flipH="1">
            <a:off x="9144" y="-682978"/>
            <a:ext cx="12220379" cy="8223956"/>
          </a:xfrm>
          <a:prstGeom prst="rect">
            <a:avLst/>
          </a:prstGeom>
          <a:gradFill flip="none" rotWithShape="1">
            <a:gsLst>
              <a:gs pos="9000">
                <a:schemeClr val="accent1">
                  <a:lumMod val="20000"/>
                  <a:lumOff val="80000"/>
                  <a:alpha val="0"/>
                </a:schemeClr>
              </a:gs>
              <a:gs pos="42000">
                <a:srgbClr val="7B9CDC">
                  <a:alpha val="75000"/>
                </a:srgbClr>
              </a:gs>
              <a:gs pos="81000">
                <a:srgbClr val="4174E2">
                  <a:lumMod val="77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1056365" y="6379028"/>
            <a:ext cx="485738" cy="174197"/>
            <a:chOff x="10939341" y="6288321"/>
            <a:chExt cx="485738" cy="275790"/>
          </a:xfrm>
        </p:grpSpPr>
        <p:sp>
          <p:nvSpPr>
            <p:cNvPr id="13" name="等腰三角形 12"/>
            <p:cNvSpPr/>
            <p:nvPr/>
          </p:nvSpPr>
          <p:spPr>
            <a:xfrm rot="5400000">
              <a:off x="10913022" y="6314640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5400000">
              <a:off x="11175608" y="6314641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862" y="304775"/>
            <a:ext cx="3723994" cy="4829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9133" y="-4713"/>
            <a:ext cx="12211235" cy="6862713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19658" y="5035621"/>
            <a:ext cx="9046781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 w="22225">
                  <a:gradFill>
                    <a:gsLst>
                      <a:gs pos="63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34000"/>
                          <a:lumOff val="66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 w="22225">
                <a:gradFill>
                  <a:gsLst>
                    <a:gs pos="63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34000"/>
                        <a:lumOff val="66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任意多边形: 形状 16"/>
          <p:cNvSpPr/>
          <p:nvPr userDrawn="1"/>
        </p:nvSpPr>
        <p:spPr>
          <a:xfrm flipH="1">
            <a:off x="0" y="-488175"/>
            <a:ext cx="12220379" cy="822395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36000">
                <a:srgbClr val="6884BC">
                  <a:alpha val="74902"/>
                </a:srgbClr>
              </a:gs>
              <a:gs pos="79000">
                <a:srgbClr val="13398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056365" y="6379028"/>
            <a:ext cx="485738" cy="174197"/>
            <a:chOff x="10939341" y="6288321"/>
            <a:chExt cx="485738" cy="275790"/>
          </a:xfrm>
        </p:grpSpPr>
        <p:sp>
          <p:nvSpPr>
            <p:cNvPr id="10" name="等腰三角形 12"/>
            <p:cNvSpPr/>
            <p:nvPr/>
          </p:nvSpPr>
          <p:spPr>
            <a:xfrm rot="5400000">
              <a:off x="10913022" y="6314640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3"/>
            <p:cNvSpPr/>
            <p:nvPr/>
          </p:nvSpPr>
          <p:spPr>
            <a:xfrm rot="5400000">
              <a:off x="11175608" y="6314641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869082" y="246859"/>
            <a:ext cx="3184080" cy="310573"/>
            <a:chOff x="852899" y="1769035"/>
            <a:chExt cx="10566757" cy="1030673"/>
          </a:xfrm>
        </p:grpSpPr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458447" y="1913710"/>
              <a:ext cx="6961209" cy="77985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852899" y="1769035"/>
              <a:ext cx="1748022" cy="1030673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2034628" y="1859920"/>
              <a:ext cx="2423661" cy="779853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25699" t="4737" r="2242" b="6829"/>
          <a:stretch>
            <a:fillRect/>
          </a:stretch>
        </p:blipFill>
        <p:spPr>
          <a:xfrm>
            <a:off x="-1" y="-6967"/>
            <a:ext cx="12192001" cy="68580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5971" y="294723"/>
            <a:ext cx="1010445" cy="388161"/>
            <a:chOff x="-197645" y="556402"/>
            <a:chExt cx="1010445" cy="388161"/>
          </a:xfrm>
        </p:grpSpPr>
        <p:sp>
          <p:nvSpPr>
            <p:cNvPr id="9" name="1"/>
            <p:cNvSpPr/>
            <p:nvPr>
              <p:custDataLst>
                <p:tags r:id="rId4"/>
              </p:custDataLst>
            </p:nvPr>
          </p:nvSpPr>
          <p:spPr>
            <a:xfrm>
              <a:off x="-96838" y="771086"/>
              <a:ext cx="796132" cy="173477"/>
            </a:xfrm>
            <a:prstGeom prst="parallelogram">
              <a:avLst>
                <a:gd name="adj" fmla="val 36348"/>
              </a:avLst>
            </a:prstGeom>
            <a:gradFill>
              <a:gsLst>
                <a:gs pos="9000">
                  <a:srgbClr val="1D78FA">
                    <a:alpha val="0"/>
                  </a:srgbClr>
                </a:gs>
                <a:gs pos="100000">
                  <a:srgbClr val="063F91"/>
                </a:gs>
              </a:gsLst>
              <a:lin ang="18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" name="2"/>
            <p:cNvSpPr/>
            <p:nvPr>
              <p:custDataLst>
                <p:tags r:id="rId5"/>
              </p:custDataLst>
            </p:nvPr>
          </p:nvSpPr>
          <p:spPr>
            <a:xfrm>
              <a:off x="-197645" y="556402"/>
              <a:ext cx="796132" cy="173477"/>
            </a:xfrm>
            <a:prstGeom prst="parallelogram">
              <a:avLst>
                <a:gd name="adj" fmla="val 36348"/>
              </a:avLst>
            </a:prstGeom>
            <a:noFill/>
            <a:ln w="12700" cap="flat" cmpd="sng" algn="ctr">
              <a:gradFill flip="none" rotWithShape="1">
                <a:gsLst>
                  <a:gs pos="32000">
                    <a:srgbClr val="1D78FA">
                      <a:alpha val="0"/>
                    </a:srgbClr>
                  </a:gs>
                  <a:gs pos="100000">
                    <a:srgbClr val="1D78FA"/>
                  </a:gs>
                </a:gsLst>
                <a:lin ang="180000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1" name="2"/>
            <p:cNvSpPr/>
            <p:nvPr>
              <p:custDataLst>
                <p:tags r:id="rId6"/>
              </p:custDataLst>
            </p:nvPr>
          </p:nvSpPr>
          <p:spPr>
            <a:xfrm>
              <a:off x="16668" y="663744"/>
              <a:ext cx="796132" cy="173477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45000">
                  <a:srgbClr val="1D78FA">
                    <a:alpha val="0"/>
                  </a:srgbClr>
                </a:gs>
                <a:gs pos="100000">
                  <a:srgbClr val="1A77B6"/>
                </a:gs>
              </a:gsLst>
              <a:lin ang="180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2" name="任意多边形: 形状 86"/>
            <p:cNvSpPr/>
            <p:nvPr>
              <p:custDataLst>
                <p:tags r:id="rId7"/>
              </p:custDataLst>
            </p:nvPr>
          </p:nvSpPr>
          <p:spPr>
            <a:xfrm>
              <a:off x="612908" y="771086"/>
              <a:ext cx="86386" cy="173477"/>
            </a:xfrm>
            <a:custGeom>
              <a:avLst/>
              <a:gdLst>
                <a:gd name="connsiteX0" fmla="*/ 63055 w 86386"/>
                <a:gd name="connsiteY0" fmla="*/ 0 h 173477"/>
                <a:gd name="connsiteX1" fmla="*/ 86386 w 86386"/>
                <a:gd name="connsiteY1" fmla="*/ 0 h 173477"/>
                <a:gd name="connsiteX2" fmla="*/ 23331 w 86386"/>
                <a:gd name="connsiteY2" fmla="*/ 173477 h 173477"/>
                <a:gd name="connsiteX3" fmla="*/ 0 w 86386"/>
                <a:gd name="connsiteY3" fmla="*/ 173477 h 17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86" h="173477">
                  <a:moveTo>
                    <a:pt x="63055" y="0"/>
                  </a:moveTo>
                  <a:lnTo>
                    <a:pt x="86386" y="0"/>
                  </a:lnTo>
                  <a:lnTo>
                    <a:pt x="23331" y="173477"/>
                  </a:lnTo>
                  <a:lnTo>
                    <a:pt x="0" y="173477"/>
                  </a:lnTo>
                  <a:close/>
                </a:path>
              </a:pathLst>
            </a:custGeom>
            <a:gradFill flip="none" rotWithShape="1">
              <a:gsLst>
                <a:gs pos="26000">
                  <a:srgbClr val="1D78FA"/>
                </a:gs>
                <a:gs pos="100000">
                  <a:srgbClr val="1D78FA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778" y="6557874"/>
            <a:ext cx="2314222" cy="300126"/>
          </a:xfrm>
          <a:prstGeom prst="rect">
            <a:avLst/>
          </a:prstGeom>
          <a:solidFill>
            <a:srgbClr val="4174E2"/>
          </a:solidFill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" b="92"/>
          <a:stretch>
            <a:fillRect/>
          </a:stretch>
        </p:blipFill>
        <p:spPr>
          <a:xfrm>
            <a:off x="14287" y="-6967"/>
            <a:ext cx="12192001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85971" y="294723"/>
            <a:ext cx="1010445" cy="388161"/>
            <a:chOff x="-197645" y="556402"/>
            <a:chExt cx="1010445" cy="388161"/>
          </a:xfrm>
        </p:grpSpPr>
        <p:sp>
          <p:nvSpPr>
            <p:cNvPr id="5" name="1"/>
            <p:cNvSpPr/>
            <p:nvPr>
              <p:custDataLst>
                <p:tags r:id="rId10"/>
              </p:custDataLst>
            </p:nvPr>
          </p:nvSpPr>
          <p:spPr>
            <a:xfrm>
              <a:off x="-96838" y="771086"/>
              <a:ext cx="796132" cy="173477"/>
            </a:xfrm>
            <a:prstGeom prst="parallelogram">
              <a:avLst>
                <a:gd name="adj" fmla="val 36348"/>
              </a:avLst>
            </a:prstGeom>
            <a:gradFill>
              <a:gsLst>
                <a:gs pos="9000">
                  <a:srgbClr val="1D78FA">
                    <a:alpha val="0"/>
                  </a:srgbClr>
                </a:gs>
                <a:gs pos="100000">
                  <a:srgbClr val="063F91"/>
                </a:gs>
              </a:gsLst>
              <a:lin ang="18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1"/>
              </p:custDataLst>
            </p:nvPr>
          </p:nvSpPr>
          <p:spPr>
            <a:xfrm>
              <a:off x="-197645" y="556402"/>
              <a:ext cx="796132" cy="173477"/>
            </a:xfrm>
            <a:prstGeom prst="parallelogram">
              <a:avLst>
                <a:gd name="adj" fmla="val 36348"/>
              </a:avLst>
            </a:prstGeom>
            <a:noFill/>
            <a:ln w="12700" cap="flat" cmpd="sng" algn="ctr">
              <a:gradFill flip="none" rotWithShape="1">
                <a:gsLst>
                  <a:gs pos="32000">
                    <a:srgbClr val="1D78FA">
                      <a:alpha val="0"/>
                    </a:srgbClr>
                  </a:gs>
                  <a:gs pos="100000">
                    <a:srgbClr val="1D78FA"/>
                  </a:gs>
                </a:gsLst>
                <a:lin ang="180000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3" name="2"/>
            <p:cNvSpPr/>
            <p:nvPr>
              <p:custDataLst>
                <p:tags r:id="rId12"/>
              </p:custDataLst>
            </p:nvPr>
          </p:nvSpPr>
          <p:spPr>
            <a:xfrm>
              <a:off x="16668" y="663744"/>
              <a:ext cx="796132" cy="173477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45000">
                  <a:srgbClr val="1D78FA">
                    <a:alpha val="0"/>
                  </a:srgbClr>
                </a:gs>
                <a:gs pos="100000">
                  <a:srgbClr val="1A77B6"/>
                </a:gs>
              </a:gsLst>
              <a:lin ang="180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4" name="任意多边形: 形状 86"/>
            <p:cNvSpPr/>
            <p:nvPr>
              <p:custDataLst>
                <p:tags r:id="rId13"/>
              </p:custDataLst>
            </p:nvPr>
          </p:nvSpPr>
          <p:spPr>
            <a:xfrm>
              <a:off x="612908" y="771086"/>
              <a:ext cx="86386" cy="173477"/>
            </a:xfrm>
            <a:custGeom>
              <a:avLst/>
              <a:gdLst>
                <a:gd name="connsiteX0" fmla="*/ 63055 w 86386"/>
                <a:gd name="connsiteY0" fmla="*/ 0 h 173477"/>
                <a:gd name="connsiteX1" fmla="*/ 86386 w 86386"/>
                <a:gd name="connsiteY1" fmla="*/ 0 h 173477"/>
                <a:gd name="connsiteX2" fmla="*/ 23331 w 86386"/>
                <a:gd name="connsiteY2" fmla="*/ 173477 h 173477"/>
                <a:gd name="connsiteX3" fmla="*/ 0 w 86386"/>
                <a:gd name="connsiteY3" fmla="*/ 173477 h 17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86" h="173477">
                  <a:moveTo>
                    <a:pt x="63055" y="0"/>
                  </a:moveTo>
                  <a:lnTo>
                    <a:pt x="86386" y="0"/>
                  </a:lnTo>
                  <a:lnTo>
                    <a:pt x="23331" y="173477"/>
                  </a:lnTo>
                  <a:lnTo>
                    <a:pt x="0" y="173477"/>
                  </a:lnTo>
                  <a:close/>
                </a:path>
              </a:pathLst>
            </a:custGeom>
            <a:gradFill flip="none" rotWithShape="1">
              <a:gsLst>
                <a:gs pos="26000">
                  <a:srgbClr val="1D78FA"/>
                </a:gs>
                <a:gs pos="100000">
                  <a:srgbClr val="1D78FA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778" y="6557874"/>
            <a:ext cx="2314222" cy="300126"/>
          </a:xfrm>
          <a:prstGeom prst="rect">
            <a:avLst/>
          </a:prstGeom>
          <a:solidFill>
            <a:srgbClr val="4174E2"/>
          </a:solidFill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989" y="254435"/>
            <a:ext cx="1709454" cy="428697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1056365" y="6379028"/>
            <a:ext cx="485738" cy="174197"/>
            <a:chOff x="10939341" y="6288321"/>
            <a:chExt cx="485738" cy="275790"/>
          </a:xfrm>
        </p:grpSpPr>
        <p:sp>
          <p:nvSpPr>
            <p:cNvPr id="11" name="等腰三角形 10"/>
            <p:cNvSpPr/>
            <p:nvPr/>
          </p:nvSpPr>
          <p:spPr>
            <a:xfrm rot="5400000">
              <a:off x="10913022" y="6314640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11175608" y="6314641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989" y="254435"/>
            <a:ext cx="1709454" cy="428697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11056365" y="6379028"/>
            <a:ext cx="485738" cy="174197"/>
            <a:chOff x="10939341" y="6288321"/>
            <a:chExt cx="485738" cy="275790"/>
          </a:xfrm>
        </p:grpSpPr>
        <p:sp>
          <p:nvSpPr>
            <p:cNvPr id="4" name="等腰三角形 10"/>
            <p:cNvSpPr/>
            <p:nvPr/>
          </p:nvSpPr>
          <p:spPr>
            <a:xfrm rot="5400000">
              <a:off x="10913022" y="6314640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11"/>
            <p:cNvSpPr/>
            <p:nvPr/>
          </p:nvSpPr>
          <p:spPr>
            <a:xfrm rot="5400000">
              <a:off x="11175608" y="6314641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47"/>
            <a:ext cx="12211235" cy="6862713"/>
          </a:xfrm>
          <a:prstGeom prst="rect">
            <a:avLst/>
          </a:prstGeom>
        </p:spPr>
      </p:pic>
      <p:sp>
        <p:nvSpPr>
          <p:cNvPr id="13" name="任意多边形: 形状 16"/>
          <p:cNvSpPr/>
          <p:nvPr userDrawn="1"/>
        </p:nvSpPr>
        <p:spPr>
          <a:xfrm>
            <a:off x="-2" y="-7760"/>
            <a:ext cx="12188858" cy="686271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88000">
                <a:srgbClr val="13325E">
                  <a:alpha val="50000"/>
                </a:srgbClr>
              </a:gs>
              <a:gs pos="34000">
                <a:schemeClr val="tx1">
                  <a:lumMod val="50000"/>
                  <a:lumOff val="50000"/>
                  <a:alpha val="30000"/>
                </a:schemeClr>
              </a:gs>
              <a:gs pos="71000">
                <a:schemeClr val="tx1">
                  <a:alpha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 userDrawn="1"/>
        </p:nvSpPr>
        <p:spPr>
          <a:xfrm>
            <a:off x="2701506" y="4604225"/>
            <a:ext cx="9354526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>
                  <a:gradFill>
                    <a:gsLst>
                      <a:gs pos="68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15000"/>
                          <a:lumOff val="8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>
                <a:gradFill>
                  <a:gsLst>
                    <a:gs pos="68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15000"/>
                        <a:lumOff val="85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圆角矩形 18"/>
          <p:cNvSpPr/>
          <p:nvPr userDrawn="1"/>
        </p:nvSpPr>
        <p:spPr>
          <a:xfrm>
            <a:off x="41835" y="0"/>
            <a:ext cx="12147021" cy="6807200"/>
          </a:xfrm>
          <a:prstGeom prst="roundRect">
            <a:avLst>
              <a:gd name="adj" fmla="val 115"/>
            </a:avLst>
          </a:prstGeom>
          <a:solidFill>
            <a:schemeClr val="tx1">
              <a:alpha val="7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58447" y="1913710"/>
            <a:ext cx="6961209" cy="7798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2899" y="1769035"/>
            <a:ext cx="1748022" cy="10306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34628" y="1859920"/>
            <a:ext cx="2423661" cy="7798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" y="0"/>
            <a:ext cx="12211235" cy="686271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19658" y="5035621"/>
            <a:ext cx="9046781" cy="2616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sz="19600" kern="700" dirty="0" err="1">
                <a:ln w="22225">
                  <a:gradFill>
                    <a:gsLst>
                      <a:gs pos="63000">
                        <a:schemeClr val="accent1">
                          <a:lumMod val="5000"/>
                          <a:lumOff val="95000"/>
                          <a:alpha val="0"/>
                        </a:schemeClr>
                      </a:gs>
                      <a:gs pos="0">
                        <a:schemeClr val="accent1">
                          <a:lumMod val="34000"/>
                          <a:lumOff val="66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Microsoft YaHei UI" panose="020B0503020204020204" pitchFamily="34" charset="-122"/>
                <a:ea typeface="Microsoft YaHei UI" panose="020B0503020204020204" pitchFamily="34" charset="-122"/>
                <a:cs typeface="+mn-ea"/>
                <a:sym typeface="+mn-lt"/>
              </a:rPr>
              <a:t>ISTorm</a:t>
            </a:r>
            <a:endParaRPr lang="zh-CN" altLang="en-US" sz="19600" kern="700" dirty="0">
              <a:ln w="22225">
                <a:gradFill>
                  <a:gsLst>
                    <a:gs pos="63000">
                      <a:schemeClr val="accent1">
                        <a:lumMod val="5000"/>
                        <a:lumOff val="95000"/>
                        <a:alpha val="0"/>
                      </a:schemeClr>
                    </a:gs>
                    <a:gs pos="0">
                      <a:schemeClr val="accent1">
                        <a:lumMod val="34000"/>
                        <a:lumOff val="66000"/>
                      </a:schemeClr>
                    </a:gs>
                  </a:gsLst>
                  <a:lin ang="5400000" scaled="1"/>
                </a:gradFill>
              </a:ln>
              <a:noFill/>
              <a:latin typeface="Microsoft YaHei UI" panose="020B0503020204020204" pitchFamily="34" charset="-122"/>
              <a:ea typeface="Microsoft YaHei U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任意多边形: 形状 16"/>
          <p:cNvSpPr/>
          <p:nvPr userDrawn="1"/>
        </p:nvSpPr>
        <p:spPr>
          <a:xfrm flipH="1">
            <a:off x="9144" y="-682978"/>
            <a:ext cx="12220379" cy="8223956"/>
          </a:xfrm>
          <a:prstGeom prst="rect">
            <a:avLst/>
          </a:prstGeom>
          <a:gradFill flip="none" rotWithShape="1">
            <a:gsLst>
              <a:gs pos="9000">
                <a:schemeClr val="accent1">
                  <a:lumMod val="20000"/>
                  <a:lumOff val="80000"/>
                  <a:alpha val="0"/>
                </a:schemeClr>
              </a:gs>
              <a:gs pos="42000">
                <a:srgbClr val="7B9CDC">
                  <a:alpha val="75000"/>
                </a:srgbClr>
              </a:gs>
              <a:gs pos="81000">
                <a:srgbClr val="4174E2">
                  <a:lumMod val="77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1056365" y="6379028"/>
            <a:ext cx="485738" cy="174197"/>
            <a:chOff x="10939341" y="6288321"/>
            <a:chExt cx="485738" cy="275790"/>
          </a:xfrm>
        </p:grpSpPr>
        <p:sp>
          <p:nvSpPr>
            <p:cNvPr id="13" name="等腰三角形 12"/>
            <p:cNvSpPr/>
            <p:nvPr/>
          </p:nvSpPr>
          <p:spPr>
            <a:xfrm rot="5400000">
              <a:off x="10913022" y="6314640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5400000">
              <a:off x="11175608" y="6314641"/>
              <a:ext cx="275789" cy="223152"/>
            </a:xfrm>
            <a:prstGeom prst="triangle">
              <a:avLst/>
            </a:prstGeom>
            <a:gradFill>
              <a:gsLst>
                <a:gs pos="0">
                  <a:schemeClr val="bg1"/>
                </a:gs>
                <a:gs pos="30000">
                  <a:schemeClr val="accent1">
                    <a:lumMod val="20000"/>
                    <a:lumOff val="80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862" y="304775"/>
            <a:ext cx="3723994" cy="4829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25699" t="4737" r="2242" b="6829"/>
          <a:stretch>
            <a:fillRect/>
          </a:stretch>
        </p:blipFill>
        <p:spPr>
          <a:xfrm>
            <a:off x="-1" y="-6967"/>
            <a:ext cx="12192001" cy="68580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85971" y="294723"/>
            <a:ext cx="1010445" cy="388161"/>
            <a:chOff x="-197645" y="556402"/>
            <a:chExt cx="1010445" cy="388161"/>
          </a:xfrm>
        </p:grpSpPr>
        <p:sp>
          <p:nvSpPr>
            <p:cNvPr id="9" name="1"/>
            <p:cNvSpPr/>
            <p:nvPr>
              <p:custDataLst>
                <p:tags r:id="rId4"/>
              </p:custDataLst>
            </p:nvPr>
          </p:nvSpPr>
          <p:spPr>
            <a:xfrm>
              <a:off x="-96838" y="771086"/>
              <a:ext cx="796132" cy="173477"/>
            </a:xfrm>
            <a:prstGeom prst="parallelogram">
              <a:avLst>
                <a:gd name="adj" fmla="val 36348"/>
              </a:avLst>
            </a:prstGeom>
            <a:gradFill>
              <a:gsLst>
                <a:gs pos="9000">
                  <a:srgbClr val="1D78FA">
                    <a:alpha val="0"/>
                  </a:srgbClr>
                </a:gs>
                <a:gs pos="100000">
                  <a:srgbClr val="063F91"/>
                </a:gs>
              </a:gsLst>
              <a:lin ang="18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0" name="2"/>
            <p:cNvSpPr/>
            <p:nvPr>
              <p:custDataLst>
                <p:tags r:id="rId5"/>
              </p:custDataLst>
            </p:nvPr>
          </p:nvSpPr>
          <p:spPr>
            <a:xfrm>
              <a:off x="-197645" y="556402"/>
              <a:ext cx="796132" cy="173477"/>
            </a:xfrm>
            <a:prstGeom prst="parallelogram">
              <a:avLst>
                <a:gd name="adj" fmla="val 36348"/>
              </a:avLst>
            </a:prstGeom>
            <a:noFill/>
            <a:ln w="12700" cap="flat" cmpd="sng" algn="ctr">
              <a:gradFill flip="none" rotWithShape="1">
                <a:gsLst>
                  <a:gs pos="32000">
                    <a:srgbClr val="1D78FA">
                      <a:alpha val="0"/>
                    </a:srgbClr>
                  </a:gs>
                  <a:gs pos="100000">
                    <a:srgbClr val="1D78FA"/>
                  </a:gs>
                </a:gsLst>
                <a:lin ang="1800000" scaled="0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1" name="2"/>
            <p:cNvSpPr/>
            <p:nvPr>
              <p:custDataLst>
                <p:tags r:id="rId6"/>
              </p:custDataLst>
            </p:nvPr>
          </p:nvSpPr>
          <p:spPr>
            <a:xfrm>
              <a:off x="16668" y="663744"/>
              <a:ext cx="796132" cy="173477"/>
            </a:xfrm>
            <a:prstGeom prst="parallelogram">
              <a:avLst>
                <a:gd name="adj" fmla="val 36348"/>
              </a:avLst>
            </a:prstGeom>
            <a:gradFill flip="none" rotWithShape="1">
              <a:gsLst>
                <a:gs pos="45000">
                  <a:srgbClr val="1D78FA">
                    <a:alpha val="0"/>
                  </a:srgbClr>
                </a:gs>
                <a:gs pos="100000">
                  <a:srgbClr val="1A77B6"/>
                </a:gs>
              </a:gsLst>
              <a:lin ang="180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/>
                <a:ea typeface="思源黑体 CN Regular"/>
                <a:cs typeface="思源黑体 CN Regular" panose="020B0500000000000000" charset="-122"/>
              </a:endParaRPr>
            </a:p>
          </p:txBody>
        </p:sp>
        <p:sp>
          <p:nvSpPr>
            <p:cNvPr id="12" name="任意多边形: 形状 86"/>
            <p:cNvSpPr/>
            <p:nvPr>
              <p:custDataLst>
                <p:tags r:id="rId7"/>
              </p:custDataLst>
            </p:nvPr>
          </p:nvSpPr>
          <p:spPr>
            <a:xfrm>
              <a:off x="612908" y="771086"/>
              <a:ext cx="86386" cy="173477"/>
            </a:xfrm>
            <a:custGeom>
              <a:avLst/>
              <a:gdLst>
                <a:gd name="connsiteX0" fmla="*/ 63055 w 86386"/>
                <a:gd name="connsiteY0" fmla="*/ 0 h 173477"/>
                <a:gd name="connsiteX1" fmla="*/ 86386 w 86386"/>
                <a:gd name="connsiteY1" fmla="*/ 0 h 173477"/>
                <a:gd name="connsiteX2" fmla="*/ 23331 w 86386"/>
                <a:gd name="connsiteY2" fmla="*/ 173477 h 173477"/>
                <a:gd name="connsiteX3" fmla="*/ 0 w 86386"/>
                <a:gd name="connsiteY3" fmla="*/ 173477 h 17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86" h="173477">
                  <a:moveTo>
                    <a:pt x="63055" y="0"/>
                  </a:moveTo>
                  <a:lnTo>
                    <a:pt x="86386" y="0"/>
                  </a:lnTo>
                  <a:lnTo>
                    <a:pt x="23331" y="173477"/>
                  </a:lnTo>
                  <a:lnTo>
                    <a:pt x="0" y="173477"/>
                  </a:lnTo>
                  <a:close/>
                </a:path>
              </a:pathLst>
            </a:custGeom>
            <a:gradFill flip="none" rotWithShape="1">
              <a:gsLst>
                <a:gs pos="26000">
                  <a:srgbClr val="1D78FA"/>
                </a:gs>
                <a:gs pos="100000">
                  <a:srgbClr val="1D78FA">
                    <a:lumMod val="60000"/>
                    <a:lumOff val="4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Regular"/>
                <a:ea typeface="思源黑体 CN Regular"/>
                <a:cs typeface="思源黑体 CN Regular" panose="020B0500000000000000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778" y="6557874"/>
            <a:ext cx="2314222" cy="300126"/>
          </a:xfrm>
          <a:prstGeom prst="rect">
            <a:avLst/>
          </a:prstGeom>
          <a:solidFill>
            <a:srgbClr val="4174E2"/>
          </a:solidFill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A9AC8-D418-4245-9F17-661D3C8A25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2F60E-7EAC-4163-A54C-821D03472C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1" Type="http://schemas.openxmlformats.org/officeDocument/2006/relationships/slideLayout" Target="../slideLayouts/slideLayout6.xml"/><Relationship Id="rId20" Type="http://schemas.openxmlformats.org/officeDocument/2006/relationships/tags" Target="../tags/tag34.xml"/><Relationship Id="rId2" Type="http://schemas.openxmlformats.org/officeDocument/2006/relationships/image" Target="../media/image12.png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microsoft.com/office/2007/relationships/hdphoto" Target="../media/image20.wdp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1" Type="http://schemas.openxmlformats.org/officeDocument/2006/relationships/slideLayout" Target="../slideLayouts/slideLayout6.xml"/><Relationship Id="rId30" Type="http://schemas.openxmlformats.org/officeDocument/2006/relationships/image" Target="../media/image32.png"/><Relationship Id="rId3" Type="http://schemas.openxmlformats.org/officeDocument/2006/relationships/tags" Target="../tags/tag37.xml"/><Relationship Id="rId29" Type="http://schemas.openxmlformats.org/officeDocument/2006/relationships/image" Target="../media/image31.png"/><Relationship Id="rId28" Type="http://schemas.openxmlformats.org/officeDocument/2006/relationships/image" Target="../media/image30.png"/><Relationship Id="rId27" Type="http://schemas.openxmlformats.org/officeDocument/2006/relationships/tags" Target="../tags/tag58.xml"/><Relationship Id="rId26" Type="http://schemas.openxmlformats.org/officeDocument/2006/relationships/tags" Target="../tags/tag57.xml"/><Relationship Id="rId25" Type="http://schemas.openxmlformats.org/officeDocument/2006/relationships/tags" Target="../tags/tag56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6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image" Target="../media/image29.png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image" Target="../media/image28.png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hyperlink" Target="http://47.101.153.28:8868/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microsoft.com/office/2007/relationships/hdphoto" Target="../media/image44.wdp"/><Relationship Id="rId13" Type="http://schemas.openxmlformats.org/officeDocument/2006/relationships/slideLayout" Target="../slideLayouts/slideLayout6.xml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68.jpeg"/><Relationship Id="rId12" Type="http://schemas.openxmlformats.org/officeDocument/2006/relationships/image" Target="../media/image67.jpeg"/><Relationship Id="rId11" Type="http://schemas.openxmlformats.org/officeDocument/2006/relationships/image" Target="../media/image38.jpeg"/><Relationship Id="rId10" Type="http://schemas.openxmlformats.org/officeDocument/2006/relationships/image" Target="../media/image66.png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Relationship Id="rId3" Type="http://schemas.openxmlformats.org/officeDocument/2006/relationships/image" Target="../media/image71.jpeg"/><Relationship Id="rId2" Type="http://schemas.microsoft.com/office/2007/relationships/hdphoto" Target="../media/image70.wdp"/><Relationship Id="rId1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png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microsoft.com/office/2007/relationships/hdphoto" Target="../media/image79.wdp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87.png"/><Relationship Id="rId12" Type="http://schemas.openxmlformats.org/officeDocument/2006/relationships/image" Target="../media/image86.png"/><Relationship Id="rId11" Type="http://schemas.openxmlformats.org/officeDocument/2006/relationships/image" Target="../media/image85.png"/><Relationship Id="rId10" Type="http://schemas.openxmlformats.org/officeDocument/2006/relationships/image" Target="../media/image84.png"/><Relationship Id="rId1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svg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102.png"/><Relationship Id="rId14" Type="http://schemas.openxmlformats.org/officeDocument/2006/relationships/image" Target="../media/image101.png"/><Relationship Id="rId13" Type="http://schemas.openxmlformats.org/officeDocument/2006/relationships/image" Target="../media/image100.png"/><Relationship Id="rId12" Type="http://schemas.openxmlformats.org/officeDocument/2006/relationships/image" Target="../media/image99.png"/><Relationship Id="rId11" Type="http://schemas.openxmlformats.org/officeDocument/2006/relationships/image" Target="../media/image98.svg"/><Relationship Id="rId10" Type="http://schemas.openxmlformats.org/officeDocument/2006/relationships/image" Target="../media/image97.png"/><Relationship Id="rId1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microsoft.com/office/2007/relationships/hdphoto" Target="../media/image109.wdp"/><Relationship Id="rId7" Type="http://schemas.openxmlformats.org/officeDocument/2006/relationships/image" Target="../media/image108.png"/><Relationship Id="rId6" Type="http://schemas.microsoft.com/office/2007/relationships/hdphoto" Target="../media/image107.wdp"/><Relationship Id="rId5" Type="http://schemas.openxmlformats.org/officeDocument/2006/relationships/image" Target="../media/image106.png"/><Relationship Id="rId4" Type="http://schemas.microsoft.com/office/2007/relationships/hdphoto" Target="../media/image105.wdp"/><Relationship Id="rId3" Type="http://schemas.openxmlformats.org/officeDocument/2006/relationships/image" Target="../media/image104.png"/><Relationship Id="rId2" Type="http://schemas.openxmlformats.org/officeDocument/2006/relationships/image" Target="../media/image103.svg"/><Relationship Id="rId14" Type="http://schemas.openxmlformats.org/officeDocument/2006/relationships/slideLayout" Target="../slideLayouts/slideLayout6.xml"/><Relationship Id="rId13" Type="http://schemas.openxmlformats.org/officeDocument/2006/relationships/image" Target="../media/image114.png"/><Relationship Id="rId12" Type="http://schemas.openxmlformats.org/officeDocument/2006/relationships/image" Target="../media/image113.png"/><Relationship Id="rId11" Type="http://schemas.openxmlformats.org/officeDocument/2006/relationships/image" Target="../media/image112.png"/><Relationship Id="rId10" Type="http://schemas.microsoft.com/office/2007/relationships/hdphoto" Target="../media/image111.wdp"/><Relationship Id="rId1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19.svg"/><Relationship Id="rId4" Type="http://schemas.openxmlformats.org/officeDocument/2006/relationships/image" Target="../media/image118.png"/><Relationship Id="rId3" Type="http://schemas.openxmlformats.org/officeDocument/2006/relationships/image" Target="../media/image117.jpeg"/><Relationship Id="rId2" Type="http://schemas.openxmlformats.org/officeDocument/2006/relationships/image" Target="../media/image116.jpeg"/><Relationship Id="rId1" Type="http://schemas.openxmlformats.org/officeDocument/2006/relationships/image" Target="../media/image115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137785" y="4264660"/>
            <a:ext cx="2040255" cy="410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i="1" kern="2400" spc="350" dirty="0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badi MT Condensed Light" panose="020B0306030101010103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+mn-lt"/>
              </a:rPr>
              <a:t>ISTorm</a:t>
            </a:r>
            <a:endParaRPr lang="en-US" altLang="zh-CN" sz="3200" b="1" i="1" kern="2400" spc="350" dirty="0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badi MT Condensed Light" panose="020B0306030101010103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996" y="2854135"/>
            <a:ext cx="111020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rush Script MT" panose="03060802040406070304" pitchFamily="66" charset="-122"/>
              </a:rPr>
              <a:t>F1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rush Script MT" panose="03060802040406070304" pitchFamily="66" charset="-122"/>
              </a:rPr>
              <a:t>多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rush Script MT" panose="03060802040406070304" pitchFamily="66" charset="-122"/>
              </a:rPr>
              <a:t>Agent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rush Script MT" panose="03060802040406070304" pitchFamily="66" charset="-122"/>
              </a:rPr>
              <a:t>赛事生态模拟平台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rush Script MT" panose="03060802040406070304" pitchFamily="66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2397842" y="3983344"/>
            <a:ext cx="7396316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6853082" y="797356"/>
            <a:ext cx="4838175" cy="6060643"/>
          </a:xfrm>
          <a:prstGeom prst="roundRect">
            <a:avLst>
              <a:gd name="adj" fmla="val 2958"/>
            </a:avLst>
          </a:prstGeom>
          <a:gradFill flip="none" rotWithShape="1">
            <a:gsLst>
              <a:gs pos="50000">
                <a:srgbClr val="FFFFFF"/>
              </a:gs>
              <a:gs pos="0">
                <a:schemeClr val="bg1">
                  <a:alpha val="91000"/>
                </a:schemeClr>
              </a:gs>
              <a:gs pos="77000">
                <a:srgbClr val="FFFFFF">
                  <a:alpha val="78000"/>
                </a:srgbClr>
              </a:gs>
              <a:gs pos="25000">
                <a:schemeClr val="bg1">
                  <a:alpha val="91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"/>
            </p:custDataLst>
          </p:nvPr>
        </p:nvSpPr>
        <p:spPr>
          <a:xfrm>
            <a:off x="7221210" y="2254931"/>
            <a:ext cx="97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b="1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"/>
            </p:custDataLst>
          </p:nvPr>
        </p:nvSpPr>
        <p:spPr>
          <a:xfrm>
            <a:off x="8065875" y="2340118"/>
            <a:ext cx="27545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主要流程及场景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"/>
            </p:custDataLst>
          </p:nvPr>
        </p:nvSpPr>
        <p:spPr>
          <a:xfrm>
            <a:off x="7221210" y="3110080"/>
            <a:ext cx="97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b="1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8065875" y="3187243"/>
            <a:ext cx="46434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"/>
            </p:custDataLst>
          </p:nvPr>
        </p:nvSpPr>
        <p:spPr>
          <a:xfrm>
            <a:off x="7221210" y="3965229"/>
            <a:ext cx="97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b="1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8065875" y="4034368"/>
            <a:ext cx="464346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7"/>
            </p:custDataLst>
          </p:nvPr>
        </p:nvSpPr>
        <p:spPr>
          <a:xfrm>
            <a:off x="7221210" y="4820376"/>
            <a:ext cx="97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b="1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8"/>
            </p:custDataLst>
          </p:nvPr>
        </p:nvSpPr>
        <p:spPr>
          <a:xfrm>
            <a:off x="8065875" y="4881494"/>
            <a:ext cx="4643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人员组织架构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96" y="2004058"/>
            <a:ext cx="5133277" cy="2310584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7221210" y="1399782"/>
            <a:ext cx="975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b="1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8065875" y="1492993"/>
            <a:ext cx="275452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01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项目概述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任意多边形: 形状 17"/>
          <p:cNvSpPr/>
          <p:nvPr/>
        </p:nvSpPr>
        <p:spPr bwMode="auto">
          <a:xfrm flipH="1" flipV="1">
            <a:off x="6652207" y="1690516"/>
            <a:ext cx="1041433" cy="2038328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3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3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89" name="矩形: 圆角 331"/>
          <p:cNvSpPr/>
          <p:nvPr>
            <p:custDataLst>
              <p:tags r:id="rId1"/>
            </p:custDataLst>
          </p:nvPr>
        </p:nvSpPr>
        <p:spPr>
          <a:xfrm>
            <a:off x="3347736" y="1320119"/>
            <a:ext cx="3291675" cy="2592505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86" name="任意多边形: 形状 17"/>
          <p:cNvSpPr/>
          <p:nvPr/>
        </p:nvSpPr>
        <p:spPr bwMode="auto">
          <a:xfrm flipV="1">
            <a:off x="1955599" y="1563742"/>
            <a:ext cx="1358689" cy="2145124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3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3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文本框 120"/>
          <p:cNvSpPr txBox="1"/>
          <p:nvPr/>
        </p:nvSpPr>
        <p:spPr>
          <a:xfrm>
            <a:off x="1208922" y="301100"/>
            <a:ext cx="10828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赛事体验行业现状：高价值与高门槛并存，传统工具亟待突破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4" name="圆角矩形 5"/>
          <p:cNvSpPr/>
          <p:nvPr/>
        </p:nvSpPr>
        <p:spPr>
          <a:xfrm>
            <a:off x="317683" y="3516067"/>
            <a:ext cx="1975823" cy="439197"/>
          </a:xfrm>
          <a:prstGeom prst="roundRect">
            <a:avLst/>
          </a:prstGeom>
          <a:solidFill>
            <a:srgbClr val="004098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F1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赛事商业价值凸显</a:t>
            </a:r>
            <a:endParaRPr kumimoji="1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8" name="圆角矩形 5"/>
          <p:cNvSpPr/>
          <p:nvPr/>
        </p:nvSpPr>
        <p:spPr>
          <a:xfrm>
            <a:off x="1985765" y="2475458"/>
            <a:ext cx="1224970" cy="358886"/>
          </a:xfrm>
          <a:prstGeom prst="round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dirty="0">
                <a:ln>
                  <a:noFill/>
                </a:ln>
                <a:solidFill>
                  <a:srgbClr val="4174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市场供需</a:t>
            </a:r>
            <a:endParaRPr kumimoji="1" lang="en-US" altLang="zh-CN" sz="1400" b="0" i="0" u="none" strike="noStrike" kern="0" cap="none" spc="0" normalizeH="0" baseline="0" dirty="0">
              <a:ln>
                <a:noFill/>
              </a:ln>
              <a:solidFill>
                <a:srgbClr val="4174E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dirty="0">
                <a:ln>
                  <a:noFill/>
                </a:ln>
                <a:solidFill>
                  <a:srgbClr val="4174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失衡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4174E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0" name="任意多边形: 形状 346"/>
          <p:cNvSpPr/>
          <p:nvPr/>
        </p:nvSpPr>
        <p:spPr>
          <a:xfrm>
            <a:off x="3862242" y="1320119"/>
            <a:ext cx="2296080" cy="304819"/>
          </a:xfrm>
          <a:custGeom>
            <a:avLst/>
            <a:gdLst>
              <a:gd name="connsiteX0" fmla="*/ 0 w 3130745"/>
              <a:gd name="connsiteY0" fmla="*/ 0 h 323343"/>
              <a:gd name="connsiteX1" fmla="*/ 175128 w 3130745"/>
              <a:gd name="connsiteY1" fmla="*/ 0 h 323343"/>
              <a:gd name="connsiteX2" fmla="*/ 397565 w 3130745"/>
              <a:gd name="connsiteY2" fmla="*/ 0 h 323343"/>
              <a:gd name="connsiteX3" fmla="*/ 572693 w 3130745"/>
              <a:gd name="connsiteY3" fmla="*/ 0 h 323343"/>
              <a:gd name="connsiteX4" fmla="*/ 712602 w 3130745"/>
              <a:gd name="connsiteY4" fmla="*/ 0 h 323343"/>
              <a:gd name="connsiteX5" fmla="*/ 857645 w 3130745"/>
              <a:gd name="connsiteY5" fmla="*/ 0 h 323343"/>
              <a:gd name="connsiteX6" fmla="*/ 888248 w 3130745"/>
              <a:gd name="connsiteY6" fmla="*/ 0 h 323343"/>
              <a:gd name="connsiteX7" fmla="*/ 987287 w 3130745"/>
              <a:gd name="connsiteY7" fmla="*/ 0 h 323343"/>
              <a:gd name="connsiteX8" fmla="*/ 1033291 w 3130745"/>
              <a:gd name="connsiteY8" fmla="*/ 0 h 323343"/>
              <a:gd name="connsiteX9" fmla="*/ 1110167 w 3130745"/>
              <a:gd name="connsiteY9" fmla="*/ 0 h 323343"/>
              <a:gd name="connsiteX10" fmla="*/ 1162415 w 3130745"/>
              <a:gd name="connsiteY10" fmla="*/ 0 h 323343"/>
              <a:gd name="connsiteX11" fmla="*/ 1255210 w 3130745"/>
              <a:gd name="connsiteY11" fmla="*/ 0 h 323343"/>
              <a:gd name="connsiteX12" fmla="*/ 1285813 w 3130745"/>
              <a:gd name="connsiteY12" fmla="*/ 0 h 323343"/>
              <a:gd name="connsiteX13" fmla="*/ 1384852 w 3130745"/>
              <a:gd name="connsiteY13" fmla="*/ 0 h 323343"/>
              <a:gd name="connsiteX14" fmla="*/ 1430856 w 3130745"/>
              <a:gd name="connsiteY14" fmla="*/ 0 h 323343"/>
              <a:gd name="connsiteX15" fmla="*/ 1559980 w 3130745"/>
              <a:gd name="connsiteY15" fmla="*/ 0 h 323343"/>
              <a:gd name="connsiteX16" fmla="*/ 1570765 w 3130745"/>
              <a:gd name="connsiteY16" fmla="*/ 0 h 323343"/>
              <a:gd name="connsiteX17" fmla="*/ 1699889 w 3130745"/>
              <a:gd name="connsiteY17" fmla="*/ 0 h 323343"/>
              <a:gd name="connsiteX18" fmla="*/ 1745893 w 3130745"/>
              <a:gd name="connsiteY18" fmla="*/ 0 h 323343"/>
              <a:gd name="connsiteX19" fmla="*/ 1844932 w 3130745"/>
              <a:gd name="connsiteY19" fmla="*/ 0 h 323343"/>
              <a:gd name="connsiteX20" fmla="*/ 1875535 w 3130745"/>
              <a:gd name="connsiteY20" fmla="*/ 0 h 323343"/>
              <a:gd name="connsiteX21" fmla="*/ 1968330 w 3130745"/>
              <a:gd name="connsiteY21" fmla="*/ 0 h 323343"/>
              <a:gd name="connsiteX22" fmla="*/ 2020578 w 3130745"/>
              <a:gd name="connsiteY22" fmla="*/ 0 h 323343"/>
              <a:gd name="connsiteX23" fmla="*/ 2097454 w 3130745"/>
              <a:gd name="connsiteY23" fmla="*/ 0 h 323343"/>
              <a:gd name="connsiteX24" fmla="*/ 2143458 w 3130745"/>
              <a:gd name="connsiteY24" fmla="*/ 0 h 323343"/>
              <a:gd name="connsiteX25" fmla="*/ 2242497 w 3130745"/>
              <a:gd name="connsiteY25" fmla="*/ 0 h 323343"/>
              <a:gd name="connsiteX26" fmla="*/ 2273100 w 3130745"/>
              <a:gd name="connsiteY26" fmla="*/ 0 h 323343"/>
              <a:gd name="connsiteX27" fmla="*/ 2418143 w 3130745"/>
              <a:gd name="connsiteY27" fmla="*/ 0 h 323343"/>
              <a:gd name="connsiteX28" fmla="*/ 2558052 w 3130745"/>
              <a:gd name="connsiteY28" fmla="*/ 0 h 323343"/>
              <a:gd name="connsiteX29" fmla="*/ 2733180 w 3130745"/>
              <a:gd name="connsiteY29" fmla="*/ 0 h 323343"/>
              <a:gd name="connsiteX30" fmla="*/ 2955617 w 3130745"/>
              <a:gd name="connsiteY30" fmla="*/ 0 h 323343"/>
              <a:gd name="connsiteX31" fmla="*/ 3130745 w 3130745"/>
              <a:gd name="connsiteY31" fmla="*/ 0 h 323343"/>
              <a:gd name="connsiteX32" fmla="*/ 3056651 w 3130745"/>
              <a:gd name="connsiteY32" fmla="*/ 229944 h 323343"/>
              <a:gd name="connsiteX33" fmla="*/ 2902466 w 3130745"/>
              <a:gd name="connsiteY33" fmla="*/ 323343 h 323343"/>
              <a:gd name="connsiteX34" fmla="*/ 2851428 w 3130745"/>
              <a:gd name="connsiteY34" fmla="*/ 323343 h 323343"/>
              <a:gd name="connsiteX35" fmla="*/ 2504901 w 3130745"/>
              <a:gd name="connsiteY35" fmla="*/ 323343 h 323343"/>
              <a:gd name="connsiteX36" fmla="*/ 2453863 w 3130745"/>
              <a:gd name="connsiteY36" fmla="*/ 323343 h 323343"/>
              <a:gd name="connsiteX37" fmla="*/ 2418143 w 3130745"/>
              <a:gd name="connsiteY37" fmla="*/ 323343 h 323343"/>
              <a:gd name="connsiteX38" fmla="*/ 2273100 w 3130745"/>
              <a:gd name="connsiteY38" fmla="*/ 323343 h 323343"/>
              <a:gd name="connsiteX39" fmla="*/ 2242497 w 3130745"/>
              <a:gd name="connsiteY39" fmla="*/ 323343 h 323343"/>
              <a:gd name="connsiteX40" fmla="*/ 2097454 w 3130745"/>
              <a:gd name="connsiteY40" fmla="*/ 323343 h 323343"/>
              <a:gd name="connsiteX41" fmla="*/ 2020578 w 3130745"/>
              <a:gd name="connsiteY41" fmla="*/ 323343 h 323343"/>
              <a:gd name="connsiteX42" fmla="*/ 1915179 w 3130745"/>
              <a:gd name="connsiteY42" fmla="*/ 323343 h 323343"/>
              <a:gd name="connsiteX43" fmla="*/ 1875535 w 3130745"/>
              <a:gd name="connsiteY43" fmla="*/ 323343 h 323343"/>
              <a:gd name="connsiteX44" fmla="*/ 1864141 w 3130745"/>
              <a:gd name="connsiteY44" fmla="*/ 323343 h 323343"/>
              <a:gd name="connsiteX45" fmla="*/ 1844932 w 3130745"/>
              <a:gd name="connsiteY45" fmla="*/ 323343 h 323343"/>
              <a:gd name="connsiteX46" fmla="*/ 1699889 w 3130745"/>
              <a:gd name="connsiteY46" fmla="*/ 323343 h 323343"/>
              <a:gd name="connsiteX47" fmla="*/ 1664169 w 3130745"/>
              <a:gd name="connsiteY47" fmla="*/ 323343 h 323343"/>
              <a:gd name="connsiteX48" fmla="*/ 1613131 w 3130745"/>
              <a:gd name="connsiteY48" fmla="*/ 323343 h 323343"/>
              <a:gd name="connsiteX49" fmla="*/ 1517614 w 3130745"/>
              <a:gd name="connsiteY49" fmla="*/ 323343 h 323343"/>
              <a:gd name="connsiteX50" fmla="*/ 1466576 w 3130745"/>
              <a:gd name="connsiteY50" fmla="*/ 323343 h 323343"/>
              <a:gd name="connsiteX51" fmla="*/ 1430856 w 3130745"/>
              <a:gd name="connsiteY51" fmla="*/ 323343 h 323343"/>
              <a:gd name="connsiteX52" fmla="*/ 1285813 w 3130745"/>
              <a:gd name="connsiteY52" fmla="*/ 323343 h 323343"/>
              <a:gd name="connsiteX53" fmla="*/ 1266604 w 3130745"/>
              <a:gd name="connsiteY53" fmla="*/ 323343 h 323343"/>
              <a:gd name="connsiteX54" fmla="*/ 1255210 w 3130745"/>
              <a:gd name="connsiteY54" fmla="*/ 323343 h 323343"/>
              <a:gd name="connsiteX55" fmla="*/ 1215566 w 3130745"/>
              <a:gd name="connsiteY55" fmla="*/ 323343 h 323343"/>
              <a:gd name="connsiteX56" fmla="*/ 1110167 w 3130745"/>
              <a:gd name="connsiteY56" fmla="*/ 323343 h 323343"/>
              <a:gd name="connsiteX57" fmla="*/ 1033291 w 3130745"/>
              <a:gd name="connsiteY57" fmla="*/ 323343 h 323343"/>
              <a:gd name="connsiteX58" fmla="*/ 888248 w 3130745"/>
              <a:gd name="connsiteY58" fmla="*/ 323343 h 323343"/>
              <a:gd name="connsiteX59" fmla="*/ 857645 w 3130745"/>
              <a:gd name="connsiteY59" fmla="*/ 323343 h 323343"/>
              <a:gd name="connsiteX60" fmla="*/ 712602 w 3130745"/>
              <a:gd name="connsiteY60" fmla="*/ 323343 h 323343"/>
              <a:gd name="connsiteX61" fmla="*/ 676882 w 3130745"/>
              <a:gd name="connsiteY61" fmla="*/ 323343 h 323343"/>
              <a:gd name="connsiteX62" fmla="*/ 625844 w 3130745"/>
              <a:gd name="connsiteY62" fmla="*/ 323343 h 323343"/>
              <a:gd name="connsiteX63" fmla="*/ 279317 w 3130745"/>
              <a:gd name="connsiteY63" fmla="*/ 323343 h 323343"/>
              <a:gd name="connsiteX64" fmla="*/ 228279 w 3130745"/>
              <a:gd name="connsiteY64" fmla="*/ 323343 h 323343"/>
              <a:gd name="connsiteX65" fmla="*/ 74094 w 3130745"/>
              <a:gd name="connsiteY65" fmla="*/ 229944 h 32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130745" h="323343">
                <a:moveTo>
                  <a:pt x="0" y="0"/>
                </a:moveTo>
                <a:lnTo>
                  <a:pt x="175128" y="0"/>
                </a:lnTo>
                <a:lnTo>
                  <a:pt x="397565" y="0"/>
                </a:lnTo>
                <a:lnTo>
                  <a:pt x="572693" y="0"/>
                </a:lnTo>
                <a:lnTo>
                  <a:pt x="712602" y="0"/>
                </a:lnTo>
                <a:lnTo>
                  <a:pt x="857645" y="0"/>
                </a:lnTo>
                <a:lnTo>
                  <a:pt x="888248" y="0"/>
                </a:lnTo>
                <a:lnTo>
                  <a:pt x="987287" y="0"/>
                </a:lnTo>
                <a:lnTo>
                  <a:pt x="1033291" y="0"/>
                </a:lnTo>
                <a:lnTo>
                  <a:pt x="1110167" y="0"/>
                </a:lnTo>
                <a:lnTo>
                  <a:pt x="1162415" y="0"/>
                </a:lnTo>
                <a:lnTo>
                  <a:pt x="1255210" y="0"/>
                </a:lnTo>
                <a:lnTo>
                  <a:pt x="1285813" y="0"/>
                </a:lnTo>
                <a:lnTo>
                  <a:pt x="1384852" y="0"/>
                </a:lnTo>
                <a:lnTo>
                  <a:pt x="1430856" y="0"/>
                </a:lnTo>
                <a:lnTo>
                  <a:pt x="1559980" y="0"/>
                </a:lnTo>
                <a:lnTo>
                  <a:pt x="1570765" y="0"/>
                </a:lnTo>
                <a:lnTo>
                  <a:pt x="1699889" y="0"/>
                </a:lnTo>
                <a:lnTo>
                  <a:pt x="1745893" y="0"/>
                </a:lnTo>
                <a:lnTo>
                  <a:pt x="1844932" y="0"/>
                </a:lnTo>
                <a:lnTo>
                  <a:pt x="1875535" y="0"/>
                </a:lnTo>
                <a:lnTo>
                  <a:pt x="1968330" y="0"/>
                </a:lnTo>
                <a:lnTo>
                  <a:pt x="2020578" y="0"/>
                </a:lnTo>
                <a:lnTo>
                  <a:pt x="2097454" y="0"/>
                </a:lnTo>
                <a:lnTo>
                  <a:pt x="2143458" y="0"/>
                </a:lnTo>
                <a:lnTo>
                  <a:pt x="2242497" y="0"/>
                </a:lnTo>
                <a:lnTo>
                  <a:pt x="2273100" y="0"/>
                </a:lnTo>
                <a:lnTo>
                  <a:pt x="2418143" y="0"/>
                </a:lnTo>
                <a:lnTo>
                  <a:pt x="2558052" y="0"/>
                </a:lnTo>
                <a:lnTo>
                  <a:pt x="2733180" y="0"/>
                </a:lnTo>
                <a:lnTo>
                  <a:pt x="2955617" y="0"/>
                </a:lnTo>
                <a:lnTo>
                  <a:pt x="3130745" y="0"/>
                </a:lnTo>
                <a:lnTo>
                  <a:pt x="3056651" y="229944"/>
                </a:lnTo>
                <a:cubicBezTo>
                  <a:pt x="3038954" y="284863"/>
                  <a:pt x="2975431" y="323343"/>
                  <a:pt x="2902466" y="323343"/>
                </a:cubicBezTo>
                <a:lnTo>
                  <a:pt x="2851428" y="323343"/>
                </a:lnTo>
                <a:lnTo>
                  <a:pt x="2504901" y="323343"/>
                </a:lnTo>
                <a:lnTo>
                  <a:pt x="2453863" y="323343"/>
                </a:lnTo>
                <a:lnTo>
                  <a:pt x="2418143" y="323343"/>
                </a:lnTo>
                <a:lnTo>
                  <a:pt x="2273100" y="323343"/>
                </a:lnTo>
                <a:lnTo>
                  <a:pt x="2242497" y="323343"/>
                </a:lnTo>
                <a:lnTo>
                  <a:pt x="2097454" y="323343"/>
                </a:lnTo>
                <a:lnTo>
                  <a:pt x="2020578" y="323343"/>
                </a:lnTo>
                <a:lnTo>
                  <a:pt x="1915179" y="323343"/>
                </a:lnTo>
                <a:lnTo>
                  <a:pt x="1875535" y="323343"/>
                </a:lnTo>
                <a:lnTo>
                  <a:pt x="1864141" y="323343"/>
                </a:lnTo>
                <a:lnTo>
                  <a:pt x="1844932" y="323343"/>
                </a:lnTo>
                <a:lnTo>
                  <a:pt x="1699889" y="323343"/>
                </a:lnTo>
                <a:lnTo>
                  <a:pt x="1664169" y="323343"/>
                </a:lnTo>
                <a:lnTo>
                  <a:pt x="1613131" y="323343"/>
                </a:lnTo>
                <a:lnTo>
                  <a:pt x="1517614" y="323343"/>
                </a:lnTo>
                <a:lnTo>
                  <a:pt x="1466576" y="323343"/>
                </a:lnTo>
                <a:lnTo>
                  <a:pt x="1430856" y="323343"/>
                </a:lnTo>
                <a:lnTo>
                  <a:pt x="1285813" y="323343"/>
                </a:lnTo>
                <a:lnTo>
                  <a:pt x="1266604" y="323343"/>
                </a:lnTo>
                <a:lnTo>
                  <a:pt x="1255210" y="323343"/>
                </a:lnTo>
                <a:lnTo>
                  <a:pt x="1215566" y="323343"/>
                </a:lnTo>
                <a:lnTo>
                  <a:pt x="1110167" y="323343"/>
                </a:lnTo>
                <a:lnTo>
                  <a:pt x="1033291" y="323343"/>
                </a:lnTo>
                <a:lnTo>
                  <a:pt x="888248" y="323343"/>
                </a:lnTo>
                <a:lnTo>
                  <a:pt x="857645" y="323343"/>
                </a:lnTo>
                <a:lnTo>
                  <a:pt x="712602" y="323343"/>
                </a:lnTo>
                <a:lnTo>
                  <a:pt x="676882" y="323343"/>
                </a:lnTo>
                <a:lnTo>
                  <a:pt x="625844" y="323343"/>
                </a:lnTo>
                <a:lnTo>
                  <a:pt x="279317" y="323343"/>
                </a:lnTo>
                <a:lnTo>
                  <a:pt x="228279" y="323343"/>
                </a:lnTo>
                <a:cubicBezTo>
                  <a:pt x="155314" y="323343"/>
                  <a:pt x="91791" y="284863"/>
                  <a:pt x="74094" y="22994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9000">
                <a:srgbClr val="4174E2"/>
              </a:gs>
            </a:gsLst>
            <a:lin ang="7200000" scaled="0"/>
            <a:tileRect/>
          </a:gradFill>
          <a:ln w="412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949" tIns="46474" rIns="92949" bIns="46474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520">
              <a:solidFill>
                <a:schemeClr val="bg1"/>
              </a:solidFill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91" name="圆角矩形 5"/>
          <p:cNvSpPr/>
          <p:nvPr/>
        </p:nvSpPr>
        <p:spPr>
          <a:xfrm>
            <a:off x="3858240" y="1286720"/>
            <a:ext cx="2384770" cy="358886"/>
          </a:xfrm>
          <a:prstGeom prst="round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lvl="0" algn="ctr"/>
            <a:r>
              <a:rPr kumimoji="1" lang="zh-CN" altLang="en-US" sz="1400" b="1" kern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赛事生态体验经济萌发</a:t>
            </a:r>
            <a:endParaRPr kumimoji="1" lang="zh-CN" altLang="en-US" sz="1400" b="1" kern="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3655593" y="1905836"/>
            <a:ext cx="687625" cy="740024"/>
            <a:chOff x="3724248" y="2334556"/>
            <a:chExt cx="687625" cy="740024"/>
          </a:xfrm>
        </p:grpSpPr>
        <p:sp>
          <p:nvSpPr>
            <p:cNvPr id="92" name="圆: 空心 359"/>
            <p:cNvSpPr/>
            <p:nvPr>
              <p:custDataLst>
                <p:tags r:id="rId2"/>
              </p:custDataLst>
            </p:nvPr>
          </p:nvSpPr>
          <p:spPr>
            <a:xfrm>
              <a:off x="3724248" y="2334556"/>
              <a:ext cx="687625" cy="740024"/>
            </a:xfrm>
            <a:prstGeom prst="donut">
              <a:avLst>
                <a:gd name="adj" fmla="val 16038"/>
              </a:avLst>
            </a:prstGeom>
            <a:gradFill flip="none" rotWithShape="1">
              <a:gsLst>
                <a:gs pos="17000">
                  <a:srgbClr val="4174E2">
                    <a:alpha val="70000"/>
                  </a:srgbClr>
                </a:gs>
                <a:gs pos="86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perspectiveRelaxedModerately">
                <a:rot lat="16790628" lon="0" rev="0"/>
              </a:camera>
              <a:lightRig rig="glow" dir="t"/>
            </a:scene3d>
            <a:sp3d>
              <a:bevelT w="0" h="0"/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>
              <a:sp3d>
                <a:bevelT w="0" h="0"/>
                <a:bevelB w="0" h="0"/>
              </a:sp3d>
            </a:bodyPr>
            <a:lstStyle/>
            <a:p>
              <a:pPr algn="ctr"/>
              <a:endParaRPr lang="zh-CN" altLang="en-US" sz="1710">
                <a:solidFill>
                  <a:schemeClr val="tx1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3832987" y="2369042"/>
              <a:ext cx="442858" cy="2046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330" dirty="0">
                  <a:solidFill>
                    <a:srgbClr val="4174E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车手</a:t>
              </a:r>
              <a:endParaRPr lang="zh-CN" altLang="en-US" sz="1330" dirty="0">
                <a:solidFill>
                  <a:srgbClr val="4174E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4577348" y="1905836"/>
            <a:ext cx="687625" cy="740024"/>
            <a:chOff x="3724248" y="2334556"/>
            <a:chExt cx="687625" cy="740024"/>
          </a:xfrm>
        </p:grpSpPr>
        <p:sp>
          <p:nvSpPr>
            <p:cNvPr id="96" name="圆: 空心 359"/>
            <p:cNvSpPr/>
            <p:nvPr>
              <p:custDataLst>
                <p:tags r:id="rId3"/>
              </p:custDataLst>
            </p:nvPr>
          </p:nvSpPr>
          <p:spPr>
            <a:xfrm>
              <a:off x="3724248" y="2334556"/>
              <a:ext cx="687625" cy="740024"/>
            </a:xfrm>
            <a:prstGeom prst="donut">
              <a:avLst>
                <a:gd name="adj" fmla="val 16038"/>
              </a:avLst>
            </a:prstGeom>
            <a:gradFill flip="none" rotWithShape="1">
              <a:gsLst>
                <a:gs pos="17000">
                  <a:srgbClr val="4174E2">
                    <a:alpha val="70000"/>
                  </a:srgbClr>
                </a:gs>
                <a:gs pos="86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perspectiveRelaxedModerately">
                <a:rot lat="16790628" lon="0" rev="0"/>
              </a:camera>
              <a:lightRig rig="glow" dir="t"/>
            </a:scene3d>
            <a:sp3d>
              <a:bevelT w="0" h="0"/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>
              <a:sp3d>
                <a:bevelT w="0" h="0"/>
                <a:bevelB w="0" h="0"/>
              </a:sp3d>
            </a:bodyPr>
            <a:lstStyle/>
            <a:p>
              <a:pPr algn="ctr"/>
              <a:endParaRPr lang="zh-CN" altLang="en-US" sz="1710">
                <a:solidFill>
                  <a:schemeClr val="tx1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3774767" y="2369043"/>
              <a:ext cx="593112" cy="2046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330" dirty="0">
                  <a:solidFill>
                    <a:srgbClr val="4174E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工程师</a:t>
              </a:r>
              <a:endParaRPr lang="zh-CN" altLang="en-US" sz="1330" dirty="0">
                <a:solidFill>
                  <a:srgbClr val="4174E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5555385" y="1905836"/>
            <a:ext cx="695787" cy="740024"/>
            <a:chOff x="3724248" y="2334556"/>
            <a:chExt cx="695787" cy="740024"/>
          </a:xfrm>
        </p:grpSpPr>
        <p:sp>
          <p:nvSpPr>
            <p:cNvPr id="99" name="圆: 空心 359"/>
            <p:cNvSpPr/>
            <p:nvPr>
              <p:custDataLst>
                <p:tags r:id="rId4"/>
              </p:custDataLst>
            </p:nvPr>
          </p:nvSpPr>
          <p:spPr>
            <a:xfrm>
              <a:off x="3724248" y="2334556"/>
              <a:ext cx="687625" cy="740024"/>
            </a:xfrm>
            <a:prstGeom prst="donut">
              <a:avLst>
                <a:gd name="adj" fmla="val 16038"/>
              </a:avLst>
            </a:prstGeom>
            <a:gradFill flip="none" rotWithShape="1">
              <a:gsLst>
                <a:gs pos="17000">
                  <a:srgbClr val="4174E2">
                    <a:alpha val="70000"/>
                  </a:srgbClr>
                </a:gs>
                <a:gs pos="86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perspectiveRelaxedModerately">
                <a:rot lat="16790628" lon="0" rev="0"/>
              </a:camera>
              <a:lightRig rig="glow" dir="t"/>
            </a:scene3d>
            <a:sp3d>
              <a:bevelT w="0" h="0"/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>
              <a:sp3d>
                <a:bevelT w="0" h="0"/>
                <a:bevelB w="0" h="0"/>
              </a:sp3d>
            </a:bodyPr>
            <a:lstStyle/>
            <a:p>
              <a:pPr algn="ctr"/>
              <a:endParaRPr lang="zh-CN" altLang="en-US" sz="1710">
                <a:solidFill>
                  <a:schemeClr val="tx1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3794723" y="2369043"/>
              <a:ext cx="625312" cy="2046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330" dirty="0">
                  <a:solidFill>
                    <a:srgbClr val="4174E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策略师</a:t>
              </a:r>
              <a:endParaRPr lang="zh-CN" altLang="en-US" sz="1330" dirty="0">
                <a:solidFill>
                  <a:srgbClr val="4174E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4580611" y="2402723"/>
            <a:ext cx="687625" cy="740024"/>
            <a:chOff x="3724248" y="2334556"/>
            <a:chExt cx="687625" cy="740024"/>
          </a:xfrm>
        </p:grpSpPr>
        <p:sp>
          <p:nvSpPr>
            <p:cNvPr id="102" name="圆: 空心 359"/>
            <p:cNvSpPr/>
            <p:nvPr>
              <p:custDataLst>
                <p:tags r:id="rId5"/>
              </p:custDataLst>
            </p:nvPr>
          </p:nvSpPr>
          <p:spPr>
            <a:xfrm>
              <a:off x="3724248" y="2334556"/>
              <a:ext cx="687625" cy="740024"/>
            </a:xfrm>
            <a:prstGeom prst="donut">
              <a:avLst>
                <a:gd name="adj" fmla="val 16038"/>
              </a:avLst>
            </a:prstGeom>
            <a:gradFill flip="none" rotWithShape="1">
              <a:gsLst>
                <a:gs pos="17000">
                  <a:srgbClr val="4174E2">
                    <a:alpha val="70000"/>
                  </a:srgbClr>
                </a:gs>
                <a:gs pos="86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perspectiveRelaxedModerately">
                <a:rot lat="16790628" lon="0" rev="0"/>
              </a:camera>
              <a:lightRig rig="glow" dir="t"/>
            </a:scene3d>
            <a:sp3d>
              <a:bevelT w="0" h="0"/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>
              <a:sp3d>
                <a:bevelT w="0" h="0"/>
                <a:bevelB w="0" h="0"/>
              </a:sp3d>
            </a:bodyPr>
            <a:lstStyle/>
            <a:p>
              <a:pPr algn="ctr"/>
              <a:endParaRPr lang="zh-CN" altLang="en-US" sz="1710">
                <a:solidFill>
                  <a:schemeClr val="tx1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3846632" y="2448273"/>
              <a:ext cx="442858" cy="2046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330" dirty="0">
                  <a:solidFill>
                    <a:srgbClr val="4174E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……</a:t>
              </a:r>
              <a:endParaRPr lang="zh-CN" altLang="en-US" sz="1330" dirty="0">
                <a:solidFill>
                  <a:srgbClr val="4174E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4602998" y="3082802"/>
            <a:ext cx="687625" cy="740024"/>
            <a:chOff x="3724248" y="2334556"/>
            <a:chExt cx="687625" cy="740024"/>
          </a:xfrm>
        </p:grpSpPr>
        <p:sp>
          <p:nvSpPr>
            <p:cNvPr id="105" name="圆: 空心 359"/>
            <p:cNvSpPr/>
            <p:nvPr>
              <p:custDataLst>
                <p:tags r:id="rId6"/>
              </p:custDataLst>
            </p:nvPr>
          </p:nvSpPr>
          <p:spPr>
            <a:xfrm>
              <a:off x="3724248" y="2334556"/>
              <a:ext cx="687625" cy="740024"/>
            </a:xfrm>
            <a:prstGeom prst="donut">
              <a:avLst>
                <a:gd name="adj" fmla="val 16038"/>
              </a:avLst>
            </a:prstGeom>
            <a:gradFill flip="none" rotWithShape="1">
              <a:gsLst>
                <a:gs pos="17000">
                  <a:srgbClr val="4174E2">
                    <a:alpha val="70000"/>
                  </a:srgbClr>
                </a:gs>
                <a:gs pos="86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scene3d>
              <a:camera prst="perspectiveRelaxedModerately">
                <a:rot lat="16790628" lon="0" rev="0"/>
              </a:camera>
              <a:lightRig rig="glow" dir="t"/>
            </a:scene3d>
            <a:sp3d>
              <a:bevelT w="0" h="0"/>
              <a:bevelB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6868" tIns="43434" rIns="86868" bIns="43434" rtlCol="0" anchor="ctr">
              <a:sp3d>
                <a:bevelT w="0" h="0"/>
                <a:bevelB w="0" h="0"/>
              </a:sp3d>
            </a:bodyPr>
            <a:lstStyle/>
            <a:p>
              <a:pPr algn="ctr"/>
              <a:endParaRPr lang="zh-CN" altLang="en-US" sz="1710">
                <a:solidFill>
                  <a:schemeClr val="tx1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3849994" y="2377728"/>
              <a:ext cx="442858" cy="204671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1330" dirty="0">
                  <a:solidFill>
                    <a:srgbClr val="4174E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用户</a:t>
              </a:r>
              <a:endParaRPr lang="zh-CN" altLang="en-US" sz="1330" dirty="0">
                <a:solidFill>
                  <a:srgbClr val="4174E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矩形: 圆角 331"/>
          <p:cNvSpPr/>
          <p:nvPr>
            <p:custDataLst>
              <p:tags r:id="rId7"/>
            </p:custDataLst>
          </p:nvPr>
        </p:nvSpPr>
        <p:spPr>
          <a:xfrm>
            <a:off x="7699943" y="1293085"/>
            <a:ext cx="3925093" cy="2592505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33" name="矩形: 圆角 240"/>
          <p:cNvSpPr/>
          <p:nvPr/>
        </p:nvSpPr>
        <p:spPr>
          <a:xfrm>
            <a:off x="7938753" y="1555275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3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沉浸感不足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245"/>
          <p:cNvSpPr/>
          <p:nvPr/>
        </p:nvSpPr>
        <p:spPr>
          <a:xfrm>
            <a:off x="7938753" y="1791604"/>
            <a:ext cx="1418840" cy="543403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缺乏动态交互设计，</a:t>
            </a:r>
            <a:endParaRPr lang="en-US" altLang="zh-CN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用户视角单一</a:t>
            </a:r>
            <a:endParaRPr lang="en-US" altLang="zh-CN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（仅车手或车队视角）</a:t>
            </a:r>
            <a:endParaRPr lang="zh-CN" altLang="en-US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240"/>
          <p:cNvSpPr/>
          <p:nvPr/>
        </p:nvSpPr>
        <p:spPr>
          <a:xfrm>
            <a:off x="7938753" y="2385428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2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数据滞后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245"/>
          <p:cNvSpPr/>
          <p:nvPr/>
        </p:nvSpPr>
        <p:spPr>
          <a:xfrm>
            <a:off x="7938753" y="2621757"/>
            <a:ext cx="1434200" cy="497747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0"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无法实时同步真实环境</a:t>
            </a:r>
            <a:endParaRPr lang="en-US" altLang="zh-CN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参数（天气、轮胎磨损等）</a:t>
            </a:r>
            <a:endParaRPr lang="zh-CN" altLang="en-US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240"/>
          <p:cNvSpPr/>
          <p:nvPr/>
        </p:nvSpPr>
        <p:spPr>
          <a:xfrm>
            <a:off x="7938753" y="3266938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2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策略深度缺失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245"/>
          <p:cNvSpPr/>
          <p:nvPr/>
        </p:nvSpPr>
        <p:spPr>
          <a:xfrm>
            <a:off x="7938753" y="3503267"/>
            <a:ext cx="1434200" cy="589034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0"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传统游戏（如</a:t>
            </a:r>
            <a:r>
              <a:rPr lang="en-US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EA F1</a:t>
            </a:r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系列）</a:t>
            </a:r>
            <a:endParaRPr lang="en-US" altLang="zh-CN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聚焦驾驶，忽略团队协作</a:t>
            </a:r>
            <a:endParaRPr lang="en-US" altLang="zh-CN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/>
            <a:r>
              <a:rPr lang="zh-CN" altLang="zh-CN" sz="9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与动态博弈</a:t>
            </a:r>
            <a:endParaRPr lang="zh-CN" altLang="en-US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0056114" y="1800482"/>
            <a:ext cx="1418840" cy="280433"/>
          </a:xfrm>
          <a:prstGeom prst="ellipse">
            <a:avLst/>
          </a:prstGeom>
          <a:gradFill>
            <a:gsLst>
              <a:gs pos="0">
                <a:srgbClr val="1F92EE">
                  <a:lumMod val="66000"/>
                  <a:lumOff val="34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</a:gradFill>
          <a:ln w="6350" cap="flat" cmpd="sng" algn="ctr">
            <a:gradFill>
              <a:gsLst>
                <a:gs pos="30000">
                  <a:srgbClr val="1F92EE"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306708" y="1681515"/>
            <a:ext cx="12432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en-US" sz="1600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角色孤岛</a:t>
            </a:r>
            <a:endParaRPr lang="zh-CN" altLang="en-US" sz="1600" b="1" dirty="0">
              <a:solidFill>
                <a:srgbClr val="4174E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42" name="任意多边形: 形状 35"/>
          <p:cNvSpPr/>
          <p:nvPr/>
        </p:nvSpPr>
        <p:spPr>
          <a:xfrm>
            <a:off x="9501166" y="1905836"/>
            <a:ext cx="368300" cy="75189"/>
          </a:xfrm>
          <a:custGeom>
            <a:avLst/>
            <a:gdLst>
              <a:gd name="connsiteX0" fmla="*/ 1319154 w 1589473"/>
              <a:gd name="connsiteY0" fmla="*/ 0 h 63831"/>
              <a:gd name="connsiteX1" fmla="*/ 1586481 w 1589473"/>
              <a:gd name="connsiteY1" fmla="*/ 45213 h 63831"/>
              <a:gd name="connsiteX2" fmla="*/ 1589473 w 1589473"/>
              <a:gd name="connsiteY2" fmla="*/ 45213 h 63831"/>
              <a:gd name="connsiteX3" fmla="*/ 1589473 w 1589473"/>
              <a:gd name="connsiteY3" fmla="*/ 45719 h 63831"/>
              <a:gd name="connsiteX4" fmla="*/ 1589473 w 1589473"/>
              <a:gd name="connsiteY4" fmla="*/ 63831 h 63831"/>
              <a:gd name="connsiteX5" fmla="*/ 0 w 1589473"/>
              <a:gd name="connsiteY5" fmla="*/ 63831 h 63831"/>
              <a:gd name="connsiteX6" fmla="*/ 0 w 1589473"/>
              <a:gd name="connsiteY6" fmla="*/ 45213 h 63831"/>
              <a:gd name="connsiteX7" fmla="*/ 1319154 w 1589473"/>
              <a:gd name="connsiteY7" fmla="*/ 45213 h 63831"/>
              <a:gd name="connsiteX0-1" fmla="*/ 1319154 w 1589473"/>
              <a:gd name="connsiteY0-2" fmla="*/ 0 h 63831"/>
              <a:gd name="connsiteX1-3" fmla="*/ 1586481 w 1589473"/>
              <a:gd name="connsiteY1-4" fmla="*/ 45213 h 63831"/>
              <a:gd name="connsiteX2-5" fmla="*/ 1589473 w 1589473"/>
              <a:gd name="connsiteY2-6" fmla="*/ 45213 h 63831"/>
              <a:gd name="connsiteX3-7" fmla="*/ 1589473 w 1589473"/>
              <a:gd name="connsiteY3-8" fmla="*/ 63831 h 63831"/>
              <a:gd name="connsiteX4-9" fmla="*/ 0 w 1589473"/>
              <a:gd name="connsiteY4-10" fmla="*/ 63831 h 63831"/>
              <a:gd name="connsiteX5-11" fmla="*/ 0 w 1589473"/>
              <a:gd name="connsiteY5-12" fmla="*/ 45213 h 63831"/>
              <a:gd name="connsiteX6-13" fmla="*/ 1319154 w 1589473"/>
              <a:gd name="connsiteY6-14" fmla="*/ 45213 h 63831"/>
              <a:gd name="connsiteX7-15" fmla="*/ 1319154 w 1589473"/>
              <a:gd name="connsiteY7-16" fmla="*/ 0 h 63831"/>
              <a:gd name="connsiteX0-17" fmla="*/ 1319154 w 1589473"/>
              <a:gd name="connsiteY0-18" fmla="*/ 0 h 63831"/>
              <a:gd name="connsiteX1-19" fmla="*/ 1586481 w 1589473"/>
              <a:gd name="connsiteY1-20" fmla="*/ 45213 h 63831"/>
              <a:gd name="connsiteX2-21" fmla="*/ 1589473 w 1589473"/>
              <a:gd name="connsiteY2-22" fmla="*/ 63831 h 63831"/>
              <a:gd name="connsiteX3-23" fmla="*/ 0 w 1589473"/>
              <a:gd name="connsiteY3-24" fmla="*/ 63831 h 63831"/>
              <a:gd name="connsiteX4-25" fmla="*/ 0 w 1589473"/>
              <a:gd name="connsiteY4-26" fmla="*/ 45213 h 63831"/>
              <a:gd name="connsiteX5-27" fmla="*/ 1319154 w 1589473"/>
              <a:gd name="connsiteY5-28" fmla="*/ 45213 h 63831"/>
              <a:gd name="connsiteX6-29" fmla="*/ 1319154 w 1589473"/>
              <a:gd name="connsiteY6-30" fmla="*/ 0 h 63831"/>
              <a:gd name="connsiteX0-31" fmla="*/ 1319154 w 1589473"/>
              <a:gd name="connsiteY0-32" fmla="*/ 0 h 63831"/>
              <a:gd name="connsiteX1-33" fmla="*/ 1589473 w 1589473"/>
              <a:gd name="connsiteY1-34" fmla="*/ 63831 h 63831"/>
              <a:gd name="connsiteX2-35" fmla="*/ 0 w 1589473"/>
              <a:gd name="connsiteY2-36" fmla="*/ 63831 h 63831"/>
              <a:gd name="connsiteX3-37" fmla="*/ 0 w 1589473"/>
              <a:gd name="connsiteY3-38" fmla="*/ 45213 h 63831"/>
              <a:gd name="connsiteX4-39" fmla="*/ 1319154 w 1589473"/>
              <a:gd name="connsiteY4-40" fmla="*/ 45213 h 63831"/>
              <a:gd name="connsiteX5-41" fmla="*/ 1319154 w 1589473"/>
              <a:gd name="connsiteY5-42" fmla="*/ 0 h 63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589473" h="63831">
                <a:moveTo>
                  <a:pt x="1319154" y="0"/>
                </a:moveTo>
                <a:lnTo>
                  <a:pt x="1589473" y="63831"/>
                </a:lnTo>
                <a:lnTo>
                  <a:pt x="0" y="63831"/>
                </a:lnTo>
                <a:lnTo>
                  <a:pt x="0" y="45213"/>
                </a:lnTo>
                <a:lnTo>
                  <a:pt x="1319154" y="45213"/>
                </a:lnTo>
                <a:lnTo>
                  <a:pt x="1319154" y="0"/>
                </a:lnTo>
                <a:close/>
              </a:path>
            </a:pathLst>
          </a:custGeom>
          <a:gradFill flip="none" rotWithShape="1">
            <a:gsLst>
              <a:gs pos="100000">
                <a:srgbClr val="4174E2"/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0050225" y="2671197"/>
            <a:ext cx="1418840" cy="280433"/>
          </a:xfrm>
          <a:prstGeom prst="ellipse">
            <a:avLst/>
          </a:prstGeom>
          <a:gradFill>
            <a:gsLst>
              <a:gs pos="0">
                <a:srgbClr val="1F92EE">
                  <a:lumMod val="66000"/>
                  <a:lumOff val="34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</a:gradFill>
          <a:ln w="6350" cap="flat" cmpd="sng" algn="ctr">
            <a:gradFill>
              <a:gsLst>
                <a:gs pos="30000">
                  <a:srgbClr val="1F92EE"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303763" y="2547484"/>
            <a:ext cx="12432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zh-CN" sz="1600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r>
              <a:rPr lang="zh-CN" altLang="en-US" sz="1600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迟缓</a:t>
            </a:r>
            <a:r>
              <a:rPr lang="zh-CN" altLang="zh-CN" sz="1600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b="1" dirty="0">
              <a:solidFill>
                <a:srgbClr val="4174E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: 形状 35"/>
          <p:cNvSpPr/>
          <p:nvPr/>
        </p:nvSpPr>
        <p:spPr>
          <a:xfrm>
            <a:off x="9501166" y="2759155"/>
            <a:ext cx="368300" cy="75189"/>
          </a:xfrm>
          <a:custGeom>
            <a:avLst/>
            <a:gdLst>
              <a:gd name="connsiteX0" fmla="*/ 1319154 w 1589473"/>
              <a:gd name="connsiteY0" fmla="*/ 0 h 63831"/>
              <a:gd name="connsiteX1" fmla="*/ 1586481 w 1589473"/>
              <a:gd name="connsiteY1" fmla="*/ 45213 h 63831"/>
              <a:gd name="connsiteX2" fmla="*/ 1589473 w 1589473"/>
              <a:gd name="connsiteY2" fmla="*/ 45213 h 63831"/>
              <a:gd name="connsiteX3" fmla="*/ 1589473 w 1589473"/>
              <a:gd name="connsiteY3" fmla="*/ 45719 h 63831"/>
              <a:gd name="connsiteX4" fmla="*/ 1589473 w 1589473"/>
              <a:gd name="connsiteY4" fmla="*/ 63831 h 63831"/>
              <a:gd name="connsiteX5" fmla="*/ 0 w 1589473"/>
              <a:gd name="connsiteY5" fmla="*/ 63831 h 63831"/>
              <a:gd name="connsiteX6" fmla="*/ 0 w 1589473"/>
              <a:gd name="connsiteY6" fmla="*/ 45213 h 63831"/>
              <a:gd name="connsiteX7" fmla="*/ 1319154 w 1589473"/>
              <a:gd name="connsiteY7" fmla="*/ 45213 h 63831"/>
              <a:gd name="connsiteX0-1" fmla="*/ 1319154 w 1589473"/>
              <a:gd name="connsiteY0-2" fmla="*/ 0 h 63831"/>
              <a:gd name="connsiteX1-3" fmla="*/ 1586481 w 1589473"/>
              <a:gd name="connsiteY1-4" fmla="*/ 45213 h 63831"/>
              <a:gd name="connsiteX2-5" fmla="*/ 1589473 w 1589473"/>
              <a:gd name="connsiteY2-6" fmla="*/ 45213 h 63831"/>
              <a:gd name="connsiteX3-7" fmla="*/ 1589473 w 1589473"/>
              <a:gd name="connsiteY3-8" fmla="*/ 63831 h 63831"/>
              <a:gd name="connsiteX4-9" fmla="*/ 0 w 1589473"/>
              <a:gd name="connsiteY4-10" fmla="*/ 63831 h 63831"/>
              <a:gd name="connsiteX5-11" fmla="*/ 0 w 1589473"/>
              <a:gd name="connsiteY5-12" fmla="*/ 45213 h 63831"/>
              <a:gd name="connsiteX6-13" fmla="*/ 1319154 w 1589473"/>
              <a:gd name="connsiteY6-14" fmla="*/ 45213 h 63831"/>
              <a:gd name="connsiteX7-15" fmla="*/ 1319154 w 1589473"/>
              <a:gd name="connsiteY7-16" fmla="*/ 0 h 63831"/>
              <a:gd name="connsiteX0-17" fmla="*/ 1319154 w 1589473"/>
              <a:gd name="connsiteY0-18" fmla="*/ 0 h 63831"/>
              <a:gd name="connsiteX1-19" fmla="*/ 1586481 w 1589473"/>
              <a:gd name="connsiteY1-20" fmla="*/ 45213 h 63831"/>
              <a:gd name="connsiteX2-21" fmla="*/ 1589473 w 1589473"/>
              <a:gd name="connsiteY2-22" fmla="*/ 63831 h 63831"/>
              <a:gd name="connsiteX3-23" fmla="*/ 0 w 1589473"/>
              <a:gd name="connsiteY3-24" fmla="*/ 63831 h 63831"/>
              <a:gd name="connsiteX4-25" fmla="*/ 0 w 1589473"/>
              <a:gd name="connsiteY4-26" fmla="*/ 45213 h 63831"/>
              <a:gd name="connsiteX5-27" fmla="*/ 1319154 w 1589473"/>
              <a:gd name="connsiteY5-28" fmla="*/ 45213 h 63831"/>
              <a:gd name="connsiteX6-29" fmla="*/ 1319154 w 1589473"/>
              <a:gd name="connsiteY6-30" fmla="*/ 0 h 63831"/>
              <a:gd name="connsiteX0-31" fmla="*/ 1319154 w 1589473"/>
              <a:gd name="connsiteY0-32" fmla="*/ 0 h 63831"/>
              <a:gd name="connsiteX1-33" fmla="*/ 1589473 w 1589473"/>
              <a:gd name="connsiteY1-34" fmla="*/ 63831 h 63831"/>
              <a:gd name="connsiteX2-35" fmla="*/ 0 w 1589473"/>
              <a:gd name="connsiteY2-36" fmla="*/ 63831 h 63831"/>
              <a:gd name="connsiteX3-37" fmla="*/ 0 w 1589473"/>
              <a:gd name="connsiteY3-38" fmla="*/ 45213 h 63831"/>
              <a:gd name="connsiteX4-39" fmla="*/ 1319154 w 1589473"/>
              <a:gd name="connsiteY4-40" fmla="*/ 45213 h 63831"/>
              <a:gd name="connsiteX5-41" fmla="*/ 1319154 w 1589473"/>
              <a:gd name="connsiteY5-42" fmla="*/ 0 h 63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589473" h="63831">
                <a:moveTo>
                  <a:pt x="1319154" y="0"/>
                </a:moveTo>
                <a:lnTo>
                  <a:pt x="1589473" y="63831"/>
                </a:lnTo>
                <a:lnTo>
                  <a:pt x="0" y="63831"/>
                </a:lnTo>
                <a:lnTo>
                  <a:pt x="0" y="45213"/>
                </a:lnTo>
                <a:lnTo>
                  <a:pt x="1319154" y="45213"/>
                </a:lnTo>
                <a:lnTo>
                  <a:pt x="1319154" y="0"/>
                </a:lnTo>
                <a:close/>
              </a:path>
            </a:pathLst>
          </a:custGeom>
          <a:gradFill flip="none" rotWithShape="1">
            <a:gsLst>
              <a:gs pos="100000">
                <a:srgbClr val="4174E2"/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050225" y="3527269"/>
            <a:ext cx="1418840" cy="280433"/>
          </a:xfrm>
          <a:prstGeom prst="ellipse">
            <a:avLst/>
          </a:prstGeom>
          <a:gradFill>
            <a:gsLst>
              <a:gs pos="0">
                <a:srgbClr val="1F92EE">
                  <a:lumMod val="66000"/>
                  <a:lumOff val="34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</a:gradFill>
          <a:ln w="6350" cap="flat" cmpd="sng" algn="ctr">
            <a:gradFill>
              <a:gsLst>
                <a:gs pos="30000">
                  <a:srgbClr val="1F92EE"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303762" y="3399561"/>
            <a:ext cx="12432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zh-CN" sz="1600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博弈失真 </a:t>
            </a:r>
            <a:endParaRPr lang="zh-CN" altLang="en-US" sz="1600" b="1" dirty="0">
              <a:solidFill>
                <a:srgbClr val="4174E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: 形状 35"/>
          <p:cNvSpPr/>
          <p:nvPr/>
        </p:nvSpPr>
        <p:spPr>
          <a:xfrm>
            <a:off x="9501166" y="3615227"/>
            <a:ext cx="368300" cy="75189"/>
          </a:xfrm>
          <a:custGeom>
            <a:avLst/>
            <a:gdLst>
              <a:gd name="connsiteX0" fmla="*/ 1319154 w 1589473"/>
              <a:gd name="connsiteY0" fmla="*/ 0 h 63831"/>
              <a:gd name="connsiteX1" fmla="*/ 1586481 w 1589473"/>
              <a:gd name="connsiteY1" fmla="*/ 45213 h 63831"/>
              <a:gd name="connsiteX2" fmla="*/ 1589473 w 1589473"/>
              <a:gd name="connsiteY2" fmla="*/ 45213 h 63831"/>
              <a:gd name="connsiteX3" fmla="*/ 1589473 w 1589473"/>
              <a:gd name="connsiteY3" fmla="*/ 45719 h 63831"/>
              <a:gd name="connsiteX4" fmla="*/ 1589473 w 1589473"/>
              <a:gd name="connsiteY4" fmla="*/ 63831 h 63831"/>
              <a:gd name="connsiteX5" fmla="*/ 0 w 1589473"/>
              <a:gd name="connsiteY5" fmla="*/ 63831 h 63831"/>
              <a:gd name="connsiteX6" fmla="*/ 0 w 1589473"/>
              <a:gd name="connsiteY6" fmla="*/ 45213 h 63831"/>
              <a:gd name="connsiteX7" fmla="*/ 1319154 w 1589473"/>
              <a:gd name="connsiteY7" fmla="*/ 45213 h 63831"/>
              <a:gd name="connsiteX0-1" fmla="*/ 1319154 w 1589473"/>
              <a:gd name="connsiteY0-2" fmla="*/ 0 h 63831"/>
              <a:gd name="connsiteX1-3" fmla="*/ 1586481 w 1589473"/>
              <a:gd name="connsiteY1-4" fmla="*/ 45213 h 63831"/>
              <a:gd name="connsiteX2-5" fmla="*/ 1589473 w 1589473"/>
              <a:gd name="connsiteY2-6" fmla="*/ 45213 h 63831"/>
              <a:gd name="connsiteX3-7" fmla="*/ 1589473 w 1589473"/>
              <a:gd name="connsiteY3-8" fmla="*/ 63831 h 63831"/>
              <a:gd name="connsiteX4-9" fmla="*/ 0 w 1589473"/>
              <a:gd name="connsiteY4-10" fmla="*/ 63831 h 63831"/>
              <a:gd name="connsiteX5-11" fmla="*/ 0 w 1589473"/>
              <a:gd name="connsiteY5-12" fmla="*/ 45213 h 63831"/>
              <a:gd name="connsiteX6-13" fmla="*/ 1319154 w 1589473"/>
              <a:gd name="connsiteY6-14" fmla="*/ 45213 h 63831"/>
              <a:gd name="connsiteX7-15" fmla="*/ 1319154 w 1589473"/>
              <a:gd name="connsiteY7-16" fmla="*/ 0 h 63831"/>
              <a:gd name="connsiteX0-17" fmla="*/ 1319154 w 1589473"/>
              <a:gd name="connsiteY0-18" fmla="*/ 0 h 63831"/>
              <a:gd name="connsiteX1-19" fmla="*/ 1586481 w 1589473"/>
              <a:gd name="connsiteY1-20" fmla="*/ 45213 h 63831"/>
              <a:gd name="connsiteX2-21" fmla="*/ 1589473 w 1589473"/>
              <a:gd name="connsiteY2-22" fmla="*/ 63831 h 63831"/>
              <a:gd name="connsiteX3-23" fmla="*/ 0 w 1589473"/>
              <a:gd name="connsiteY3-24" fmla="*/ 63831 h 63831"/>
              <a:gd name="connsiteX4-25" fmla="*/ 0 w 1589473"/>
              <a:gd name="connsiteY4-26" fmla="*/ 45213 h 63831"/>
              <a:gd name="connsiteX5-27" fmla="*/ 1319154 w 1589473"/>
              <a:gd name="connsiteY5-28" fmla="*/ 45213 h 63831"/>
              <a:gd name="connsiteX6-29" fmla="*/ 1319154 w 1589473"/>
              <a:gd name="connsiteY6-30" fmla="*/ 0 h 63831"/>
              <a:gd name="connsiteX0-31" fmla="*/ 1319154 w 1589473"/>
              <a:gd name="connsiteY0-32" fmla="*/ 0 h 63831"/>
              <a:gd name="connsiteX1-33" fmla="*/ 1589473 w 1589473"/>
              <a:gd name="connsiteY1-34" fmla="*/ 63831 h 63831"/>
              <a:gd name="connsiteX2-35" fmla="*/ 0 w 1589473"/>
              <a:gd name="connsiteY2-36" fmla="*/ 63831 h 63831"/>
              <a:gd name="connsiteX3-37" fmla="*/ 0 w 1589473"/>
              <a:gd name="connsiteY3-38" fmla="*/ 45213 h 63831"/>
              <a:gd name="connsiteX4-39" fmla="*/ 1319154 w 1589473"/>
              <a:gd name="connsiteY4-40" fmla="*/ 45213 h 63831"/>
              <a:gd name="connsiteX5-41" fmla="*/ 1319154 w 1589473"/>
              <a:gd name="connsiteY5-42" fmla="*/ 0 h 638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589473" h="63831">
                <a:moveTo>
                  <a:pt x="1319154" y="0"/>
                </a:moveTo>
                <a:lnTo>
                  <a:pt x="1589473" y="63831"/>
                </a:lnTo>
                <a:lnTo>
                  <a:pt x="0" y="63831"/>
                </a:lnTo>
                <a:lnTo>
                  <a:pt x="0" y="45213"/>
                </a:lnTo>
                <a:lnTo>
                  <a:pt x="1319154" y="45213"/>
                </a:lnTo>
                <a:lnTo>
                  <a:pt x="1319154" y="0"/>
                </a:lnTo>
                <a:close/>
              </a:path>
            </a:pathLst>
          </a:custGeom>
          <a:gradFill flip="none" rotWithShape="1">
            <a:gsLst>
              <a:gs pos="100000">
                <a:srgbClr val="4174E2"/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矩形: 圆角 240"/>
          <p:cNvSpPr/>
          <p:nvPr/>
        </p:nvSpPr>
        <p:spPr>
          <a:xfrm>
            <a:off x="445852" y="1268660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3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全球影响力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45"/>
          <p:cNvSpPr/>
          <p:nvPr/>
        </p:nvSpPr>
        <p:spPr>
          <a:xfrm>
            <a:off x="445852" y="1985765"/>
            <a:ext cx="1434200" cy="398343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1" algn="l">
              <a:buSzPts val="1000"/>
              <a:tabLst>
                <a:tab pos="914400" algn="l"/>
              </a:tabLst>
            </a:pPr>
            <a:endParaRPr lang="zh-CN" altLang="zh-CN" sz="800" kern="10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: 圆角 240"/>
          <p:cNvSpPr/>
          <p:nvPr/>
        </p:nvSpPr>
        <p:spPr>
          <a:xfrm>
            <a:off x="439256" y="2506617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2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高门槛痛点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245"/>
          <p:cNvSpPr/>
          <p:nvPr/>
        </p:nvSpPr>
        <p:spPr>
          <a:xfrm>
            <a:off x="764251" y="2786279"/>
            <a:ext cx="1064368" cy="659240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0" algn="ctr"/>
            <a:endParaRPr lang="zh-CN" altLang="en-US" sz="8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8665" y="1616578"/>
            <a:ext cx="13921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SzPts val="1000"/>
              <a:tabLst>
                <a:tab pos="914400" algn="l"/>
              </a:tabLst>
            </a:pPr>
            <a:r>
              <a:rPr lang="en-US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作为全球三大顶级体育赛事之一，</a:t>
            </a:r>
            <a:r>
              <a:rPr lang="en-US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年总收入达</a:t>
            </a:r>
            <a:r>
              <a:rPr lang="en-US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36.5</a:t>
            </a:r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亿美元（约</a:t>
            </a:r>
            <a:r>
              <a:rPr lang="en-US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265</a:t>
            </a:r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亿元），远超其他赛事，吸引高净值人群与品牌合作。</a:t>
            </a:r>
            <a:endParaRPr lang="zh-CN" altLang="zh-CN" sz="8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8830" y="2807609"/>
            <a:ext cx="13282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r>
              <a:rPr lang="en-US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zh-CN" sz="800" kern="0" dirty="0">
                <a:solidFill>
                  <a:srgbClr val="130C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体验门槛高（赛车造价、复杂规则、团队协作），普通观众难以深度参与。</a:t>
            </a:r>
            <a:endParaRPr lang="zh-CN" altLang="en-US" sz="8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8"/>
          <p:cNvSpPr/>
          <p:nvPr/>
        </p:nvSpPr>
        <p:spPr>
          <a:xfrm rot="8469015">
            <a:off x="4140891" y="2647383"/>
            <a:ext cx="162406" cy="234791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5" name="箭头: 下 8"/>
          <p:cNvSpPr/>
          <p:nvPr/>
        </p:nvSpPr>
        <p:spPr>
          <a:xfrm rot="13001660">
            <a:off x="5548258" y="2655339"/>
            <a:ext cx="162406" cy="234791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6" name="箭头: 下 8"/>
          <p:cNvSpPr/>
          <p:nvPr/>
        </p:nvSpPr>
        <p:spPr>
          <a:xfrm rot="10800000">
            <a:off x="4841433" y="2387406"/>
            <a:ext cx="162406" cy="234791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7" name="箭头: 下 8"/>
          <p:cNvSpPr/>
          <p:nvPr/>
        </p:nvSpPr>
        <p:spPr>
          <a:xfrm rot="10800000">
            <a:off x="4847875" y="2888272"/>
            <a:ext cx="162406" cy="234791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8" name="矩形: 圆角 240"/>
          <p:cNvSpPr/>
          <p:nvPr/>
        </p:nvSpPr>
        <p:spPr>
          <a:xfrm>
            <a:off x="3406180" y="3622996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3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玩家需求升级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245"/>
          <p:cNvSpPr/>
          <p:nvPr/>
        </p:nvSpPr>
        <p:spPr>
          <a:xfrm>
            <a:off x="3406180" y="3859325"/>
            <a:ext cx="1434200" cy="439197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1" algn="l">
              <a:buSzPts val="1000"/>
              <a:tabLst>
                <a:tab pos="914400" algn="l"/>
              </a:tabLst>
            </a:pPr>
            <a:endParaRPr lang="zh-CN" altLang="zh-CN" sz="800" kern="10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: 圆角 240"/>
          <p:cNvSpPr/>
          <p:nvPr/>
        </p:nvSpPr>
        <p:spPr>
          <a:xfrm>
            <a:off x="5147533" y="3629669"/>
            <a:ext cx="1434200" cy="26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C73C5">
                  <a:lumMod val="60000"/>
                  <a:lumOff val="40000"/>
                  <a:alpha val="33000"/>
                </a:srgbClr>
              </a:gs>
              <a:gs pos="100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none" lIns="466963" tIns="53340" rIns="413623" bIns="53340" numCol="1" spcCol="1270" anchor="ctr" anchorCtr="0">
            <a:noAutofit/>
          </a:bodyPr>
          <a:lstStyle/>
          <a:p>
            <a:pPr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1050" b="1" kern="0" spc="3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端潜力</a:t>
            </a:r>
            <a:endParaRPr lang="zh-CN" altLang="en-US" sz="1050" b="1" kern="0" spc="3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45"/>
          <p:cNvSpPr/>
          <p:nvPr/>
        </p:nvSpPr>
        <p:spPr>
          <a:xfrm>
            <a:off x="5147533" y="3865998"/>
            <a:ext cx="1434200" cy="432524"/>
          </a:xfrm>
          <a:prstGeom prst="roundRect">
            <a:avLst>
              <a:gd name="adj" fmla="val 6225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4000">
                <a:srgbClr val="FFFFFF"/>
              </a:gs>
            </a:gsLst>
            <a:lin ang="5400000" scaled="1"/>
            <a:tileRect/>
          </a:gradFill>
          <a:ln w="6350" cap="flat" cmpd="sng" algn="ctr">
            <a:gradFill flip="none" rotWithShape="1">
              <a:gsLst>
                <a:gs pos="0">
                  <a:srgbClr val="0C73C5">
                    <a:lumMod val="60000"/>
                    <a:lumOff val="40000"/>
                  </a:srgbClr>
                </a:gs>
                <a:gs pos="33000">
                  <a:srgbClr val="0C73C5">
                    <a:lumMod val="60000"/>
                    <a:lumOff val="40000"/>
                    <a:alpha val="0"/>
                  </a:srgbClr>
                </a:gs>
              </a:gsLst>
              <a:lin ang="13500000" scaled="1"/>
              <a:tileRect/>
            </a:gradFill>
            <a:prstDash val="solid"/>
            <a:miter lim="800000"/>
          </a:ln>
          <a:effectLst/>
        </p:spPr>
        <p:txBody>
          <a:bodyPr wrap="none" tIns="108000" rtlCol="0" anchor="ctr"/>
          <a:lstStyle/>
          <a:p>
            <a:pPr lvl="0" algn="ctr"/>
            <a:endParaRPr lang="zh-CN" altLang="en-US" sz="900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810575" y="3926066"/>
            <a:ext cx="21033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buSzPts val="1000"/>
              <a:tabLst>
                <a:tab pos="914400" algn="l"/>
              </a:tabLst>
            </a:pPr>
            <a:r>
              <a:rPr lang="zh-CN" altLang="zh-CN" sz="800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用户追求深度策略体验与多角色协作（车手、工程师、策略师）</a:t>
            </a:r>
            <a:endParaRPr lang="zh-CN" altLang="zh-CN" sz="800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7099" y="3932554"/>
            <a:ext cx="2065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buSzPts val="1000"/>
              <a:tabLst>
                <a:tab pos="914400" algn="l"/>
              </a:tabLst>
            </a:pPr>
            <a:r>
              <a:rPr lang="zh-CN" altLang="zh-CN" sz="800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职业车队需战术推演工具，科研</a:t>
            </a:r>
            <a:r>
              <a:rPr lang="en-US" altLang="zh-CN" sz="800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800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教育领域需复杂系统研究平台</a:t>
            </a:r>
            <a:endParaRPr lang="zh-CN" altLang="zh-CN" sz="800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圆角矩形 5"/>
          <p:cNvSpPr/>
          <p:nvPr/>
        </p:nvSpPr>
        <p:spPr>
          <a:xfrm>
            <a:off x="6623404" y="2541668"/>
            <a:ext cx="1224970" cy="358886"/>
          </a:xfrm>
          <a:prstGeom prst="round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174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模拟工具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4174E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174E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局限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4174E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任意多边形: 形状 341"/>
          <p:cNvSpPr/>
          <p:nvPr/>
        </p:nvSpPr>
        <p:spPr>
          <a:xfrm>
            <a:off x="460366" y="4514057"/>
            <a:ext cx="11023213" cy="1936558"/>
          </a:xfrm>
          <a:custGeom>
            <a:avLst/>
            <a:gdLst>
              <a:gd name="connsiteX0" fmla="*/ 4713073 w 11522075"/>
              <a:gd name="connsiteY0" fmla="*/ 0 h 3474800"/>
              <a:gd name="connsiteX1" fmla="*/ 4798627 w 11522075"/>
              <a:gd name="connsiteY1" fmla="*/ 147507 h 3474800"/>
              <a:gd name="connsiteX2" fmla="*/ 11427780 w 11522075"/>
              <a:gd name="connsiteY2" fmla="*/ 147507 h 3474800"/>
              <a:gd name="connsiteX3" fmla="*/ 11522075 w 11522075"/>
              <a:gd name="connsiteY3" fmla="*/ 241802 h 3474800"/>
              <a:gd name="connsiteX4" fmla="*/ 11522075 w 11522075"/>
              <a:gd name="connsiteY4" fmla="*/ 3380505 h 3474800"/>
              <a:gd name="connsiteX5" fmla="*/ 11427780 w 11522075"/>
              <a:gd name="connsiteY5" fmla="*/ 3474800 h 3474800"/>
              <a:gd name="connsiteX6" fmla="*/ 94295 w 11522075"/>
              <a:gd name="connsiteY6" fmla="*/ 3474800 h 3474800"/>
              <a:gd name="connsiteX7" fmla="*/ 0 w 11522075"/>
              <a:gd name="connsiteY7" fmla="*/ 3380505 h 3474800"/>
              <a:gd name="connsiteX8" fmla="*/ 0 w 11522075"/>
              <a:gd name="connsiteY8" fmla="*/ 241802 h 3474800"/>
              <a:gd name="connsiteX9" fmla="*/ 94295 w 11522075"/>
              <a:gd name="connsiteY9" fmla="*/ 147507 h 3474800"/>
              <a:gd name="connsiteX10" fmla="*/ 4627519 w 11522075"/>
              <a:gd name="connsiteY10" fmla="*/ 147507 h 3474800"/>
              <a:gd name="connsiteX0-1" fmla="*/ 4713073 w 11522075"/>
              <a:gd name="connsiteY0-2" fmla="*/ 0 h 3474800"/>
              <a:gd name="connsiteX1-3" fmla="*/ 9266268 w 11522075"/>
              <a:gd name="connsiteY1-4" fmla="*/ 173788 h 3474800"/>
              <a:gd name="connsiteX2-5" fmla="*/ 11427780 w 11522075"/>
              <a:gd name="connsiteY2-6" fmla="*/ 147507 h 3474800"/>
              <a:gd name="connsiteX3-7" fmla="*/ 11522075 w 11522075"/>
              <a:gd name="connsiteY3-8" fmla="*/ 241802 h 3474800"/>
              <a:gd name="connsiteX4-9" fmla="*/ 11522075 w 11522075"/>
              <a:gd name="connsiteY4-10" fmla="*/ 3380505 h 3474800"/>
              <a:gd name="connsiteX5-11" fmla="*/ 11427780 w 11522075"/>
              <a:gd name="connsiteY5-12" fmla="*/ 3474800 h 3474800"/>
              <a:gd name="connsiteX6-13" fmla="*/ 94295 w 11522075"/>
              <a:gd name="connsiteY6-14" fmla="*/ 3474800 h 3474800"/>
              <a:gd name="connsiteX7-15" fmla="*/ 0 w 11522075"/>
              <a:gd name="connsiteY7-16" fmla="*/ 3380505 h 3474800"/>
              <a:gd name="connsiteX8-17" fmla="*/ 0 w 11522075"/>
              <a:gd name="connsiteY8-18" fmla="*/ 241802 h 3474800"/>
              <a:gd name="connsiteX9-19" fmla="*/ 94295 w 11522075"/>
              <a:gd name="connsiteY9-20" fmla="*/ 147507 h 3474800"/>
              <a:gd name="connsiteX10-21" fmla="*/ 4627519 w 11522075"/>
              <a:gd name="connsiteY10-22" fmla="*/ 147507 h 3474800"/>
              <a:gd name="connsiteX11" fmla="*/ 4713073 w 11522075"/>
              <a:gd name="connsiteY11" fmla="*/ 0 h 3474800"/>
              <a:gd name="connsiteX0-23" fmla="*/ 4713073 w 11522075"/>
              <a:gd name="connsiteY0-24" fmla="*/ 0 h 3474800"/>
              <a:gd name="connsiteX1-25" fmla="*/ 9266268 w 11522075"/>
              <a:gd name="connsiteY1-26" fmla="*/ 173788 h 3474800"/>
              <a:gd name="connsiteX2-27" fmla="*/ 11427780 w 11522075"/>
              <a:gd name="connsiteY2-28" fmla="*/ 147507 h 3474800"/>
              <a:gd name="connsiteX3-29" fmla="*/ 11522075 w 11522075"/>
              <a:gd name="connsiteY3-30" fmla="*/ 241802 h 3474800"/>
              <a:gd name="connsiteX4-31" fmla="*/ 11522075 w 11522075"/>
              <a:gd name="connsiteY4-32" fmla="*/ 3380505 h 3474800"/>
              <a:gd name="connsiteX5-33" fmla="*/ 11427780 w 11522075"/>
              <a:gd name="connsiteY5-34" fmla="*/ 3474800 h 3474800"/>
              <a:gd name="connsiteX6-35" fmla="*/ 94295 w 11522075"/>
              <a:gd name="connsiteY6-36" fmla="*/ 3474800 h 3474800"/>
              <a:gd name="connsiteX7-37" fmla="*/ 0 w 11522075"/>
              <a:gd name="connsiteY7-38" fmla="*/ 3380505 h 3474800"/>
              <a:gd name="connsiteX8-39" fmla="*/ 0 w 11522075"/>
              <a:gd name="connsiteY8-40" fmla="*/ 241802 h 3474800"/>
              <a:gd name="connsiteX9-41" fmla="*/ 94295 w 11522075"/>
              <a:gd name="connsiteY9-42" fmla="*/ 147507 h 3474800"/>
              <a:gd name="connsiteX10-43" fmla="*/ 4640658 w 11522075"/>
              <a:gd name="connsiteY10-44" fmla="*/ 147507 h 3474800"/>
              <a:gd name="connsiteX11-45" fmla="*/ 4713073 w 11522075"/>
              <a:gd name="connsiteY11-46" fmla="*/ 0 h 3474800"/>
              <a:gd name="connsiteX0-47" fmla="*/ 10113662 w 11522075"/>
              <a:gd name="connsiteY0-48" fmla="*/ 0 h 3645622"/>
              <a:gd name="connsiteX1-49" fmla="*/ 9266268 w 11522075"/>
              <a:gd name="connsiteY1-50" fmla="*/ 344610 h 3645622"/>
              <a:gd name="connsiteX2-51" fmla="*/ 11427780 w 11522075"/>
              <a:gd name="connsiteY2-52" fmla="*/ 318329 h 3645622"/>
              <a:gd name="connsiteX3-53" fmla="*/ 11522075 w 11522075"/>
              <a:gd name="connsiteY3-54" fmla="*/ 412624 h 3645622"/>
              <a:gd name="connsiteX4-55" fmla="*/ 11522075 w 11522075"/>
              <a:gd name="connsiteY4-56" fmla="*/ 3551327 h 3645622"/>
              <a:gd name="connsiteX5-57" fmla="*/ 11427780 w 11522075"/>
              <a:gd name="connsiteY5-58" fmla="*/ 3645622 h 3645622"/>
              <a:gd name="connsiteX6-59" fmla="*/ 94295 w 11522075"/>
              <a:gd name="connsiteY6-60" fmla="*/ 3645622 h 3645622"/>
              <a:gd name="connsiteX7-61" fmla="*/ 0 w 11522075"/>
              <a:gd name="connsiteY7-62" fmla="*/ 3551327 h 3645622"/>
              <a:gd name="connsiteX8-63" fmla="*/ 0 w 11522075"/>
              <a:gd name="connsiteY8-64" fmla="*/ 412624 h 3645622"/>
              <a:gd name="connsiteX9-65" fmla="*/ 94295 w 11522075"/>
              <a:gd name="connsiteY9-66" fmla="*/ 318329 h 3645622"/>
              <a:gd name="connsiteX10-67" fmla="*/ 4640658 w 11522075"/>
              <a:gd name="connsiteY10-68" fmla="*/ 318329 h 3645622"/>
              <a:gd name="connsiteX11-69" fmla="*/ 10113662 w 11522075"/>
              <a:gd name="connsiteY11-70" fmla="*/ 0 h 3645622"/>
              <a:gd name="connsiteX0-71" fmla="*/ 10113662 w 11522075"/>
              <a:gd name="connsiteY0-72" fmla="*/ 0 h 3645622"/>
              <a:gd name="connsiteX1-73" fmla="*/ 9266268 w 11522075"/>
              <a:gd name="connsiteY1-74" fmla="*/ 344610 h 3645622"/>
              <a:gd name="connsiteX2-75" fmla="*/ 11427780 w 11522075"/>
              <a:gd name="connsiteY2-76" fmla="*/ 318329 h 3645622"/>
              <a:gd name="connsiteX3-77" fmla="*/ 11522075 w 11522075"/>
              <a:gd name="connsiteY3-78" fmla="*/ 412624 h 3645622"/>
              <a:gd name="connsiteX4-79" fmla="*/ 11522075 w 11522075"/>
              <a:gd name="connsiteY4-80" fmla="*/ 3551327 h 3645622"/>
              <a:gd name="connsiteX5-81" fmla="*/ 11427780 w 11522075"/>
              <a:gd name="connsiteY5-82" fmla="*/ 3645622 h 3645622"/>
              <a:gd name="connsiteX6-83" fmla="*/ 94295 w 11522075"/>
              <a:gd name="connsiteY6-84" fmla="*/ 3645622 h 3645622"/>
              <a:gd name="connsiteX7-85" fmla="*/ 0 w 11522075"/>
              <a:gd name="connsiteY7-86" fmla="*/ 3551327 h 3645622"/>
              <a:gd name="connsiteX8-87" fmla="*/ 0 w 11522075"/>
              <a:gd name="connsiteY8-88" fmla="*/ 412624 h 3645622"/>
              <a:gd name="connsiteX9-89" fmla="*/ 94295 w 11522075"/>
              <a:gd name="connsiteY9-90" fmla="*/ 318329 h 3645622"/>
              <a:gd name="connsiteX10-91" fmla="*/ 8267330 w 11522075"/>
              <a:gd name="connsiteY10-92" fmla="*/ 318329 h 3645622"/>
              <a:gd name="connsiteX11-93" fmla="*/ 10113662 w 11522075"/>
              <a:gd name="connsiteY11-94" fmla="*/ 0 h 3645622"/>
              <a:gd name="connsiteX0-95" fmla="*/ 10113662 w 11522075"/>
              <a:gd name="connsiteY0-96" fmla="*/ 0 h 3645622"/>
              <a:gd name="connsiteX1-97" fmla="*/ 9266268 w 11522075"/>
              <a:gd name="connsiteY1-98" fmla="*/ 331471 h 3645622"/>
              <a:gd name="connsiteX2-99" fmla="*/ 11427780 w 11522075"/>
              <a:gd name="connsiteY2-100" fmla="*/ 318329 h 3645622"/>
              <a:gd name="connsiteX3-101" fmla="*/ 11522075 w 11522075"/>
              <a:gd name="connsiteY3-102" fmla="*/ 412624 h 3645622"/>
              <a:gd name="connsiteX4-103" fmla="*/ 11522075 w 11522075"/>
              <a:gd name="connsiteY4-104" fmla="*/ 3551327 h 3645622"/>
              <a:gd name="connsiteX5-105" fmla="*/ 11427780 w 11522075"/>
              <a:gd name="connsiteY5-106" fmla="*/ 3645622 h 3645622"/>
              <a:gd name="connsiteX6-107" fmla="*/ 94295 w 11522075"/>
              <a:gd name="connsiteY6-108" fmla="*/ 3645622 h 3645622"/>
              <a:gd name="connsiteX7-109" fmla="*/ 0 w 11522075"/>
              <a:gd name="connsiteY7-110" fmla="*/ 3551327 h 3645622"/>
              <a:gd name="connsiteX8-111" fmla="*/ 0 w 11522075"/>
              <a:gd name="connsiteY8-112" fmla="*/ 412624 h 3645622"/>
              <a:gd name="connsiteX9-113" fmla="*/ 94295 w 11522075"/>
              <a:gd name="connsiteY9-114" fmla="*/ 318329 h 3645622"/>
              <a:gd name="connsiteX10-115" fmla="*/ 8267330 w 11522075"/>
              <a:gd name="connsiteY10-116" fmla="*/ 318329 h 3645622"/>
              <a:gd name="connsiteX11-117" fmla="*/ 10113662 w 11522075"/>
              <a:gd name="connsiteY11-118" fmla="*/ 0 h 3645622"/>
              <a:gd name="connsiteX0-119" fmla="*/ 10104128 w 11522075"/>
              <a:gd name="connsiteY0-120" fmla="*/ 0 h 3882144"/>
              <a:gd name="connsiteX1-121" fmla="*/ 9266268 w 11522075"/>
              <a:gd name="connsiteY1-122" fmla="*/ 567993 h 3882144"/>
              <a:gd name="connsiteX2-123" fmla="*/ 11427780 w 11522075"/>
              <a:gd name="connsiteY2-124" fmla="*/ 554851 h 3882144"/>
              <a:gd name="connsiteX3-125" fmla="*/ 11522075 w 11522075"/>
              <a:gd name="connsiteY3-126" fmla="*/ 649146 h 3882144"/>
              <a:gd name="connsiteX4-127" fmla="*/ 11522075 w 11522075"/>
              <a:gd name="connsiteY4-128" fmla="*/ 3787849 h 3882144"/>
              <a:gd name="connsiteX5-129" fmla="*/ 11427780 w 11522075"/>
              <a:gd name="connsiteY5-130" fmla="*/ 3882144 h 3882144"/>
              <a:gd name="connsiteX6-131" fmla="*/ 94295 w 11522075"/>
              <a:gd name="connsiteY6-132" fmla="*/ 3882144 h 3882144"/>
              <a:gd name="connsiteX7-133" fmla="*/ 0 w 11522075"/>
              <a:gd name="connsiteY7-134" fmla="*/ 3787849 h 3882144"/>
              <a:gd name="connsiteX8-135" fmla="*/ 0 w 11522075"/>
              <a:gd name="connsiteY8-136" fmla="*/ 649146 h 3882144"/>
              <a:gd name="connsiteX9-137" fmla="*/ 94295 w 11522075"/>
              <a:gd name="connsiteY9-138" fmla="*/ 554851 h 3882144"/>
              <a:gd name="connsiteX10-139" fmla="*/ 8267330 w 11522075"/>
              <a:gd name="connsiteY10-140" fmla="*/ 554851 h 3882144"/>
              <a:gd name="connsiteX11-141" fmla="*/ 10104128 w 11522075"/>
              <a:gd name="connsiteY11-142" fmla="*/ 0 h 3882144"/>
              <a:gd name="connsiteX0-143" fmla="*/ 10104128 w 11522075"/>
              <a:gd name="connsiteY0-144" fmla="*/ 0 h 3882144"/>
              <a:gd name="connsiteX1-145" fmla="*/ 9180464 w 11522075"/>
              <a:gd name="connsiteY1-146" fmla="*/ 567993 h 3882144"/>
              <a:gd name="connsiteX2-147" fmla="*/ 11427780 w 11522075"/>
              <a:gd name="connsiteY2-148" fmla="*/ 554851 h 3882144"/>
              <a:gd name="connsiteX3-149" fmla="*/ 11522075 w 11522075"/>
              <a:gd name="connsiteY3-150" fmla="*/ 649146 h 3882144"/>
              <a:gd name="connsiteX4-151" fmla="*/ 11522075 w 11522075"/>
              <a:gd name="connsiteY4-152" fmla="*/ 3787849 h 3882144"/>
              <a:gd name="connsiteX5-153" fmla="*/ 11427780 w 11522075"/>
              <a:gd name="connsiteY5-154" fmla="*/ 3882144 h 3882144"/>
              <a:gd name="connsiteX6-155" fmla="*/ 94295 w 11522075"/>
              <a:gd name="connsiteY6-156" fmla="*/ 3882144 h 3882144"/>
              <a:gd name="connsiteX7-157" fmla="*/ 0 w 11522075"/>
              <a:gd name="connsiteY7-158" fmla="*/ 3787849 h 3882144"/>
              <a:gd name="connsiteX8-159" fmla="*/ 0 w 11522075"/>
              <a:gd name="connsiteY8-160" fmla="*/ 649146 h 3882144"/>
              <a:gd name="connsiteX9-161" fmla="*/ 94295 w 11522075"/>
              <a:gd name="connsiteY9-162" fmla="*/ 554851 h 3882144"/>
              <a:gd name="connsiteX10-163" fmla="*/ 8267330 w 11522075"/>
              <a:gd name="connsiteY10-164" fmla="*/ 554851 h 3882144"/>
              <a:gd name="connsiteX11-165" fmla="*/ 10104128 w 11522075"/>
              <a:gd name="connsiteY11-166" fmla="*/ 0 h 3882144"/>
              <a:gd name="connsiteX0-167" fmla="*/ 10104128 w 11522075"/>
              <a:gd name="connsiteY0-168" fmla="*/ 0 h 3882144"/>
              <a:gd name="connsiteX1-169" fmla="*/ 10200587 w 11522075"/>
              <a:gd name="connsiteY1-170" fmla="*/ 541714 h 3882144"/>
              <a:gd name="connsiteX2-171" fmla="*/ 11427780 w 11522075"/>
              <a:gd name="connsiteY2-172" fmla="*/ 554851 h 3882144"/>
              <a:gd name="connsiteX3-173" fmla="*/ 11522075 w 11522075"/>
              <a:gd name="connsiteY3-174" fmla="*/ 649146 h 3882144"/>
              <a:gd name="connsiteX4-175" fmla="*/ 11522075 w 11522075"/>
              <a:gd name="connsiteY4-176" fmla="*/ 3787849 h 3882144"/>
              <a:gd name="connsiteX5-177" fmla="*/ 11427780 w 11522075"/>
              <a:gd name="connsiteY5-178" fmla="*/ 3882144 h 3882144"/>
              <a:gd name="connsiteX6-179" fmla="*/ 94295 w 11522075"/>
              <a:gd name="connsiteY6-180" fmla="*/ 3882144 h 3882144"/>
              <a:gd name="connsiteX7-181" fmla="*/ 0 w 11522075"/>
              <a:gd name="connsiteY7-182" fmla="*/ 3787849 h 3882144"/>
              <a:gd name="connsiteX8-183" fmla="*/ 0 w 11522075"/>
              <a:gd name="connsiteY8-184" fmla="*/ 649146 h 3882144"/>
              <a:gd name="connsiteX9-185" fmla="*/ 94295 w 11522075"/>
              <a:gd name="connsiteY9-186" fmla="*/ 554851 h 3882144"/>
              <a:gd name="connsiteX10-187" fmla="*/ 8267330 w 11522075"/>
              <a:gd name="connsiteY10-188" fmla="*/ 554851 h 3882144"/>
              <a:gd name="connsiteX11-189" fmla="*/ 10104128 w 11522075"/>
              <a:gd name="connsiteY11-190" fmla="*/ 0 h 3882144"/>
              <a:gd name="connsiteX0-191" fmla="*/ 10104128 w 11522075"/>
              <a:gd name="connsiteY0-192" fmla="*/ 0 h 3882144"/>
              <a:gd name="connsiteX1-193" fmla="*/ 10200587 w 11522075"/>
              <a:gd name="connsiteY1-194" fmla="*/ 541714 h 3882144"/>
              <a:gd name="connsiteX2-195" fmla="*/ 11427780 w 11522075"/>
              <a:gd name="connsiteY2-196" fmla="*/ 554851 h 3882144"/>
              <a:gd name="connsiteX3-197" fmla="*/ 11522075 w 11522075"/>
              <a:gd name="connsiteY3-198" fmla="*/ 649146 h 3882144"/>
              <a:gd name="connsiteX4-199" fmla="*/ 11522075 w 11522075"/>
              <a:gd name="connsiteY4-200" fmla="*/ 3787849 h 3882144"/>
              <a:gd name="connsiteX5-201" fmla="*/ 11427780 w 11522075"/>
              <a:gd name="connsiteY5-202" fmla="*/ 3882144 h 3882144"/>
              <a:gd name="connsiteX6-203" fmla="*/ 94295 w 11522075"/>
              <a:gd name="connsiteY6-204" fmla="*/ 3882144 h 3882144"/>
              <a:gd name="connsiteX7-205" fmla="*/ 0 w 11522075"/>
              <a:gd name="connsiteY7-206" fmla="*/ 3787849 h 3882144"/>
              <a:gd name="connsiteX8-207" fmla="*/ 0 w 11522075"/>
              <a:gd name="connsiteY8-208" fmla="*/ 649146 h 3882144"/>
              <a:gd name="connsiteX9-209" fmla="*/ 94295 w 11522075"/>
              <a:gd name="connsiteY9-210" fmla="*/ 554851 h 3882144"/>
              <a:gd name="connsiteX10-211" fmla="*/ 8267330 w 11522075"/>
              <a:gd name="connsiteY10-212" fmla="*/ 554851 h 3882144"/>
              <a:gd name="connsiteX11-213" fmla="*/ 10104128 w 11522075"/>
              <a:gd name="connsiteY11-214" fmla="*/ 0 h 3882144"/>
              <a:gd name="connsiteX0-215" fmla="*/ 10104128 w 11522075"/>
              <a:gd name="connsiteY0-216" fmla="*/ 0 h 3882144"/>
              <a:gd name="connsiteX1-217" fmla="*/ 10200587 w 11522075"/>
              <a:gd name="connsiteY1-218" fmla="*/ 541714 h 3882144"/>
              <a:gd name="connsiteX2-219" fmla="*/ 11427780 w 11522075"/>
              <a:gd name="connsiteY2-220" fmla="*/ 554851 h 3882144"/>
              <a:gd name="connsiteX3-221" fmla="*/ 11522075 w 11522075"/>
              <a:gd name="connsiteY3-222" fmla="*/ 649146 h 3882144"/>
              <a:gd name="connsiteX4-223" fmla="*/ 11522075 w 11522075"/>
              <a:gd name="connsiteY4-224" fmla="*/ 3787849 h 3882144"/>
              <a:gd name="connsiteX5-225" fmla="*/ 11427780 w 11522075"/>
              <a:gd name="connsiteY5-226" fmla="*/ 3882144 h 3882144"/>
              <a:gd name="connsiteX6-227" fmla="*/ 94295 w 11522075"/>
              <a:gd name="connsiteY6-228" fmla="*/ 3882144 h 3882144"/>
              <a:gd name="connsiteX7-229" fmla="*/ 0 w 11522075"/>
              <a:gd name="connsiteY7-230" fmla="*/ 3787849 h 3882144"/>
              <a:gd name="connsiteX8-231" fmla="*/ 0 w 11522075"/>
              <a:gd name="connsiteY8-232" fmla="*/ 649146 h 3882144"/>
              <a:gd name="connsiteX9-233" fmla="*/ 94295 w 11522075"/>
              <a:gd name="connsiteY9-234" fmla="*/ 554851 h 3882144"/>
              <a:gd name="connsiteX10-235" fmla="*/ 8267330 w 11522075"/>
              <a:gd name="connsiteY10-236" fmla="*/ 554851 h 3882144"/>
              <a:gd name="connsiteX11-237" fmla="*/ 10104128 w 11522075"/>
              <a:gd name="connsiteY11-238" fmla="*/ 0 h 3882144"/>
              <a:gd name="connsiteX0-239" fmla="*/ 10104128 w 11522075"/>
              <a:gd name="connsiteY0-240" fmla="*/ 0 h 3882144"/>
              <a:gd name="connsiteX1-241" fmla="*/ 10200587 w 11522075"/>
              <a:gd name="connsiteY1-242" fmla="*/ 541714 h 3882144"/>
              <a:gd name="connsiteX2-243" fmla="*/ 11427780 w 11522075"/>
              <a:gd name="connsiteY2-244" fmla="*/ 554851 h 3882144"/>
              <a:gd name="connsiteX3-245" fmla="*/ 11522075 w 11522075"/>
              <a:gd name="connsiteY3-246" fmla="*/ 649146 h 3882144"/>
              <a:gd name="connsiteX4-247" fmla="*/ 11522075 w 11522075"/>
              <a:gd name="connsiteY4-248" fmla="*/ 3787849 h 3882144"/>
              <a:gd name="connsiteX5-249" fmla="*/ 11427780 w 11522075"/>
              <a:gd name="connsiteY5-250" fmla="*/ 3882144 h 3882144"/>
              <a:gd name="connsiteX6-251" fmla="*/ 94295 w 11522075"/>
              <a:gd name="connsiteY6-252" fmla="*/ 3882144 h 3882144"/>
              <a:gd name="connsiteX7-253" fmla="*/ 0 w 11522075"/>
              <a:gd name="connsiteY7-254" fmla="*/ 3787849 h 3882144"/>
              <a:gd name="connsiteX8-255" fmla="*/ 0 w 11522075"/>
              <a:gd name="connsiteY8-256" fmla="*/ 649146 h 3882144"/>
              <a:gd name="connsiteX9-257" fmla="*/ 94295 w 11522075"/>
              <a:gd name="connsiteY9-258" fmla="*/ 554851 h 3882144"/>
              <a:gd name="connsiteX10-259" fmla="*/ 10012025 w 11522075"/>
              <a:gd name="connsiteY10-260" fmla="*/ 554851 h 3882144"/>
              <a:gd name="connsiteX11-261" fmla="*/ 10104128 w 11522075"/>
              <a:gd name="connsiteY11-262" fmla="*/ 0 h 3882144"/>
              <a:gd name="connsiteX0-263" fmla="*/ 10113662 w 11522075"/>
              <a:gd name="connsiteY0-264" fmla="*/ 0 h 3645622"/>
              <a:gd name="connsiteX1-265" fmla="*/ 10200587 w 11522075"/>
              <a:gd name="connsiteY1-266" fmla="*/ 305192 h 3645622"/>
              <a:gd name="connsiteX2-267" fmla="*/ 11427780 w 11522075"/>
              <a:gd name="connsiteY2-268" fmla="*/ 318329 h 3645622"/>
              <a:gd name="connsiteX3-269" fmla="*/ 11522075 w 11522075"/>
              <a:gd name="connsiteY3-270" fmla="*/ 412624 h 3645622"/>
              <a:gd name="connsiteX4-271" fmla="*/ 11522075 w 11522075"/>
              <a:gd name="connsiteY4-272" fmla="*/ 3551327 h 3645622"/>
              <a:gd name="connsiteX5-273" fmla="*/ 11427780 w 11522075"/>
              <a:gd name="connsiteY5-274" fmla="*/ 3645622 h 3645622"/>
              <a:gd name="connsiteX6-275" fmla="*/ 94295 w 11522075"/>
              <a:gd name="connsiteY6-276" fmla="*/ 3645622 h 3645622"/>
              <a:gd name="connsiteX7-277" fmla="*/ 0 w 11522075"/>
              <a:gd name="connsiteY7-278" fmla="*/ 3551327 h 3645622"/>
              <a:gd name="connsiteX8-279" fmla="*/ 0 w 11522075"/>
              <a:gd name="connsiteY8-280" fmla="*/ 412624 h 3645622"/>
              <a:gd name="connsiteX9-281" fmla="*/ 94295 w 11522075"/>
              <a:gd name="connsiteY9-282" fmla="*/ 318329 h 3645622"/>
              <a:gd name="connsiteX10-283" fmla="*/ 10012025 w 11522075"/>
              <a:gd name="connsiteY10-284" fmla="*/ 318329 h 3645622"/>
              <a:gd name="connsiteX11-285" fmla="*/ 10113662 w 11522075"/>
              <a:gd name="connsiteY11-286" fmla="*/ 0 h 3645622"/>
              <a:gd name="connsiteX0-287" fmla="*/ 10113662 w 11522075"/>
              <a:gd name="connsiteY0-288" fmla="*/ 0 h 3645622"/>
              <a:gd name="connsiteX1-289" fmla="*/ 10162451 w 11522075"/>
              <a:gd name="connsiteY1-290" fmla="*/ 305192 h 3645622"/>
              <a:gd name="connsiteX2-291" fmla="*/ 11427780 w 11522075"/>
              <a:gd name="connsiteY2-292" fmla="*/ 318329 h 3645622"/>
              <a:gd name="connsiteX3-293" fmla="*/ 11522075 w 11522075"/>
              <a:gd name="connsiteY3-294" fmla="*/ 412624 h 3645622"/>
              <a:gd name="connsiteX4-295" fmla="*/ 11522075 w 11522075"/>
              <a:gd name="connsiteY4-296" fmla="*/ 3551327 h 3645622"/>
              <a:gd name="connsiteX5-297" fmla="*/ 11427780 w 11522075"/>
              <a:gd name="connsiteY5-298" fmla="*/ 3645622 h 3645622"/>
              <a:gd name="connsiteX6-299" fmla="*/ 94295 w 11522075"/>
              <a:gd name="connsiteY6-300" fmla="*/ 3645622 h 3645622"/>
              <a:gd name="connsiteX7-301" fmla="*/ 0 w 11522075"/>
              <a:gd name="connsiteY7-302" fmla="*/ 3551327 h 3645622"/>
              <a:gd name="connsiteX8-303" fmla="*/ 0 w 11522075"/>
              <a:gd name="connsiteY8-304" fmla="*/ 412624 h 3645622"/>
              <a:gd name="connsiteX9-305" fmla="*/ 94295 w 11522075"/>
              <a:gd name="connsiteY9-306" fmla="*/ 318329 h 3645622"/>
              <a:gd name="connsiteX10-307" fmla="*/ 10012025 w 11522075"/>
              <a:gd name="connsiteY10-308" fmla="*/ 318329 h 3645622"/>
              <a:gd name="connsiteX11-309" fmla="*/ 10113662 w 11522075"/>
              <a:gd name="connsiteY11-310" fmla="*/ 0 h 36456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45" y="connsiteY11-46"/>
              </a:cxn>
            </a:cxnLst>
            <a:rect l="l" t="t" r="r" b="b"/>
            <a:pathLst>
              <a:path w="11522075" h="3645622">
                <a:moveTo>
                  <a:pt x="10113662" y="0"/>
                </a:moveTo>
                <a:cubicBezTo>
                  <a:pt x="10145815" y="180571"/>
                  <a:pt x="10111230" y="58920"/>
                  <a:pt x="10162451" y="305192"/>
                </a:cubicBezTo>
                <a:lnTo>
                  <a:pt x="11427780" y="318329"/>
                </a:lnTo>
                <a:cubicBezTo>
                  <a:pt x="11479858" y="318329"/>
                  <a:pt x="11522075" y="360546"/>
                  <a:pt x="11522075" y="412624"/>
                </a:cubicBezTo>
                <a:lnTo>
                  <a:pt x="11522075" y="3551327"/>
                </a:lnTo>
                <a:cubicBezTo>
                  <a:pt x="11522075" y="3603405"/>
                  <a:pt x="11479858" y="3645622"/>
                  <a:pt x="11427780" y="3645622"/>
                </a:cubicBezTo>
                <a:lnTo>
                  <a:pt x="94295" y="3645622"/>
                </a:lnTo>
                <a:cubicBezTo>
                  <a:pt x="42217" y="3645622"/>
                  <a:pt x="0" y="3603405"/>
                  <a:pt x="0" y="3551327"/>
                </a:cubicBezTo>
                <a:lnTo>
                  <a:pt x="0" y="412624"/>
                </a:lnTo>
                <a:cubicBezTo>
                  <a:pt x="0" y="360546"/>
                  <a:pt x="42217" y="318329"/>
                  <a:pt x="94295" y="318329"/>
                </a:cubicBezTo>
                <a:lnTo>
                  <a:pt x="10012025" y="318329"/>
                </a:lnTo>
                <a:lnTo>
                  <a:pt x="10113662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39700" dist="38100" dir="16200000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05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30" name="内容占位符 1"/>
          <p:cNvSpPr txBox="1"/>
          <p:nvPr/>
        </p:nvSpPr>
        <p:spPr>
          <a:xfrm>
            <a:off x="805057" y="4665051"/>
            <a:ext cx="10333829" cy="1735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rgbClr val="004098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lang="en-GB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作为全球顶级赛事，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年总收入突破</a:t>
            </a:r>
            <a:r>
              <a:rPr lang="en-US" altLang="zh-CN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36.5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亿美元，但其</a:t>
            </a:r>
            <a:r>
              <a:rPr lang="zh-CN" altLang="en-US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高昂门槛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复杂策略体系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令普通用户难以深度参与。当前模拟工具普遍存在</a:t>
            </a:r>
            <a:r>
              <a:rPr lang="zh-CN" altLang="en-US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沉浸感不足、数据滞后、策略单</a:t>
            </a:r>
            <a:r>
              <a:rPr lang="zh-CN" altLang="en-US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等痛点，难以满足玩家对</a:t>
            </a:r>
            <a:r>
              <a:rPr lang="zh-CN" altLang="en-US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多角色协作与动态决策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的需求，更无法支撑职业车队与科研机构的专业化场景需求，亟需通过技术创新突破传统框架。</a:t>
            </a:r>
            <a:endParaRPr lang="zh-CN" altLang="en-US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64857" y="4066710"/>
            <a:ext cx="11870760" cy="1699318"/>
            <a:chOff x="327254" y="6063000"/>
            <a:chExt cx="2849503" cy="751479"/>
          </a:xfrm>
        </p:grpSpPr>
        <p:sp>
          <p:nvSpPr>
            <p:cNvPr id="23" name="矩形 22"/>
            <p:cNvSpPr/>
            <p:nvPr/>
          </p:nvSpPr>
          <p:spPr>
            <a:xfrm>
              <a:off x="327254" y="6194781"/>
              <a:ext cx="2849503" cy="619698"/>
            </a:xfrm>
            <a:prstGeom prst="rect">
              <a:avLst/>
            </a:prstGeom>
            <a:gradFill>
              <a:gsLst>
                <a:gs pos="0">
                  <a:srgbClr val="1F92EE">
                    <a:lumMod val="81000"/>
                    <a:lumOff val="19000"/>
                    <a:alpha val="57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24" name="梯形 23"/>
            <p:cNvSpPr/>
            <p:nvPr/>
          </p:nvSpPr>
          <p:spPr>
            <a:xfrm>
              <a:off x="327254" y="6063000"/>
              <a:ext cx="2849503" cy="134965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" name="文本框 120"/>
          <p:cNvSpPr txBox="1"/>
          <p:nvPr/>
        </p:nvSpPr>
        <p:spPr>
          <a:xfrm>
            <a:off x="1285450" y="254466"/>
            <a:ext cx="11081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现存挑战与解决架构：赛事生态模拟平台关键挑战及应对模块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628" y="992705"/>
            <a:ext cx="10156627" cy="3693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  <a:scene3d>
              <a:camera prst="orthographicFront"/>
              <a:lightRig rig="glow" dir="t"/>
            </a:scene3d>
            <a:sp3d>
              <a:bevelT w="0" h="0"/>
              <a:bevelB w="39624" h="13208"/>
            </a:sp3d>
          </a:bodyPr>
          <a:lstStyle>
            <a:defPPr>
              <a:defRPr lang="en-US"/>
            </a:defPPr>
            <a:lvl1pPr>
              <a:defRPr sz="32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8000">
                      <a:schemeClr val="accent1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400" b="1" dirty="0">
                <a:solidFill>
                  <a:srgbClr val="133988"/>
                </a:solidFill>
                <a:effectLst>
                  <a:reflection blurRad="177800" stA="55000" endA="300" endPos="455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rPr>
              <a:t>根据行业调研与案例分析，当前的赛事生态模拟平台普遍存在以下挑战：</a:t>
            </a:r>
            <a:endParaRPr lang="en-US" altLang="zh-CN" sz="2400" b="1" dirty="0">
              <a:solidFill>
                <a:srgbClr val="133988"/>
              </a:solidFill>
              <a:effectLst>
                <a:reflection blurRad="177800" stA="55000" endA="300" endPos="455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569" y="1474384"/>
            <a:ext cx="2880248" cy="2941968"/>
            <a:chOff x="361746" y="1464658"/>
            <a:chExt cx="2425989" cy="2941968"/>
          </a:xfrm>
        </p:grpSpPr>
        <p:sp>
          <p:nvSpPr>
            <p:cNvPr id="29" name="矩形: 圆角 39"/>
            <p:cNvSpPr/>
            <p:nvPr/>
          </p:nvSpPr>
          <p:spPr>
            <a:xfrm>
              <a:off x="366890" y="1465403"/>
              <a:ext cx="2420845" cy="2941223"/>
            </a:xfrm>
            <a:prstGeom prst="rect">
              <a:avLst/>
            </a:prstGeom>
            <a:gradFill>
              <a:gsLst>
                <a:gs pos="58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15875" cap="flat" cmpd="sng" algn="ctr">
              <a:gradFill>
                <a:gsLst>
                  <a:gs pos="0">
                    <a:srgbClr val="1F92EE">
                      <a:lumMod val="60000"/>
                      <a:lumOff val="40000"/>
                    </a:srgbClr>
                  </a:gs>
                  <a:gs pos="100000">
                    <a:srgbClr val="1F92EE">
                      <a:lumMod val="60000"/>
                      <a:lumOff val="4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61746" y="1464658"/>
              <a:ext cx="2425989" cy="491364"/>
            </a:xfrm>
            <a:prstGeom prst="rect">
              <a:avLst/>
            </a:prstGeom>
            <a:gradFill flip="none" rotWithShape="1">
              <a:gsLst>
                <a:gs pos="0">
                  <a:srgbClr val="1F92EE">
                    <a:lumMod val="64000"/>
                    <a:lumOff val="36000"/>
                  </a:srgbClr>
                </a:gs>
                <a:gs pos="92000">
                  <a:srgbClr val="4174E2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b="1" kern="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响应滞后</a:t>
              </a:r>
              <a:endParaRPr lang="zh-CN" altLang="en-US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flipV="1">
            <a:off x="960753" y="3998678"/>
            <a:ext cx="10270494" cy="280896"/>
            <a:chOff x="1760842" y="5586460"/>
            <a:chExt cx="9055441" cy="234791"/>
          </a:xfrm>
        </p:grpSpPr>
        <p:sp>
          <p:nvSpPr>
            <p:cNvPr id="40" name="箭头: 下 140"/>
            <p:cNvSpPr/>
            <p:nvPr/>
          </p:nvSpPr>
          <p:spPr>
            <a:xfrm flipV="1">
              <a:off x="4725187" y="5586460"/>
              <a:ext cx="162406" cy="234791"/>
            </a:xfrm>
            <a:prstGeom prst="downArrow">
              <a:avLst/>
            </a:prstGeom>
            <a:gradFill flip="none" rotWithShape="1">
              <a:gsLst>
                <a:gs pos="0">
                  <a:srgbClr val="1F92EE">
                    <a:lumMod val="60000"/>
                    <a:lumOff val="40000"/>
                  </a:srgbClr>
                </a:gs>
                <a:gs pos="100000">
                  <a:srgbClr val="1F92EE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gradFill>
                <a:gsLst>
                  <a:gs pos="0">
                    <a:srgbClr val="1F92EE">
                      <a:lumMod val="60000"/>
                      <a:lumOff val="40000"/>
                      <a:alpha val="0"/>
                    </a:srgbClr>
                  </a:gs>
                  <a:gs pos="100000">
                    <a:srgbClr val="1F92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3" name="箭头: 下 143"/>
            <p:cNvSpPr/>
            <p:nvPr/>
          </p:nvSpPr>
          <p:spPr>
            <a:xfrm flipV="1">
              <a:off x="7689532" y="5586460"/>
              <a:ext cx="162406" cy="234791"/>
            </a:xfrm>
            <a:prstGeom prst="downArrow">
              <a:avLst/>
            </a:prstGeom>
            <a:gradFill flip="none" rotWithShape="1">
              <a:gsLst>
                <a:gs pos="0">
                  <a:srgbClr val="1F92EE">
                    <a:lumMod val="60000"/>
                    <a:lumOff val="40000"/>
                  </a:srgbClr>
                </a:gs>
                <a:gs pos="100000">
                  <a:srgbClr val="1F92EE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gradFill>
                <a:gsLst>
                  <a:gs pos="0">
                    <a:srgbClr val="1F92EE">
                      <a:lumMod val="60000"/>
                      <a:lumOff val="40000"/>
                      <a:alpha val="0"/>
                    </a:srgbClr>
                  </a:gs>
                  <a:gs pos="100000">
                    <a:srgbClr val="1F92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4" name="箭头: 下 8"/>
            <p:cNvSpPr/>
            <p:nvPr/>
          </p:nvSpPr>
          <p:spPr>
            <a:xfrm flipV="1">
              <a:off x="1760842" y="5586460"/>
              <a:ext cx="162406" cy="234791"/>
            </a:xfrm>
            <a:prstGeom prst="downArrow">
              <a:avLst/>
            </a:prstGeom>
            <a:gradFill flip="none" rotWithShape="1">
              <a:gsLst>
                <a:gs pos="0">
                  <a:srgbClr val="1F92EE">
                    <a:lumMod val="60000"/>
                    <a:lumOff val="40000"/>
                  </a:srgbClr>
                </a:gs>
                <a:gs pos="100000">
                  <a:srgbClr val="1F92EE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gradFill>
                <a:gsLst>
                  <a:gs pos="0">
                    <a:srgbClr val="1F92EE">
                      <a:lumMod val="60000"/>
                      <a:lumOff val="40000"/>
                      <a:alpha val="0"/>
                    </a:srgbClr>
                  </a:gs>
                  <a:gs pos="100000">
                    <a:srgbClr val="1F92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5" name="箭头: 下 15"/>
            <p:cNvSpPr/>
            <p:nvPr/>
          </p:nvSpPr>
          <p:spPr>
            <a:xfrm flipV="1">
              <a:off x="10653877" y="5586460"/>
              <a:ext cx="162406" cy="234791"/>
            </a:xfrm>
            <a:prstGeom prst="downArrow">
              <a:avLst/>
            </a:prstGeom>
            <a:gradFill flip="none" rotWithShape="1">
              <a:gsLst>
                <a:gs pos="0">
                  <a:srgbClr val="1F92EE">
                    <a:lumMod val="60000"/>
                    <a:lumOff val="40000"/>
                  </a:srgbClr>
                </a:gs>
                <a:gs pos="100000">
                  <a:srgbClr val="1F92EE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12700" cap="flat" cmpd="sng" algn="ctr">
              <a:gradFill>
                <a:gsLst>
                  <a:gs pos="0">
                    <a:srgbClr val="1F92EE">
                      <a:lumMod val="60000"/>
                      <a:lumOff val="40000"/>
                      <a:alpha val="0"/>
                    </a:srgbClr>
                  </a:gs>
                  <a:gs pos="100000">
                    <a:srgbClr val="1F92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209569" y="3336935"/>
            <a:ext cx="2880248" cy="634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220"/>
              </a:lnSpc>
            </a:pPr>
            <a:r>
              <a:rPr lang="zh-CN" altLang="en-US" sz="1500" u="none" strike="noStrike" dirty="0">
                <a:solidFill>
                  <a:srgbClr val="1339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环境突变时多角色响应割裂，数据未触发协作策略同步调整</a:t>
            </a:r>
            <a:endParaRPr kumimoji="1" lang="zh-CN" altLang="en-US" sz="1500" dirty="0">
              <a:solidFill>
                <a:srgbClr val="1339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174013" y="1462652"/>
            <a:ext cx="2880248" cy="2804420"/>
            <a:chOff x="361746" y="1464658"/>
            <a:chExt cx="2425989" cy="2804420"/>
          </a:xfrm>
        </p:grpSpPr>
        <p:sp>
          <p:nvSpPr>
            <p:cNvPr id="16" name="矩形: 圆角 39"/>
            <p:cNvSpPr/>
            <p:nvPr/>
          </p:nvSpPr>
          <p:spPr>
            <a:xfrm>
              <a:off x="366890" y="1465403"/>
              <a:ext cx="2420845" cy="2803675"/>
            </a:xfrm>
            <a:prstGeom prst="rect">
              <a:avLst/>
            </a:prstGeom>
            <a:gradFill>
              <a:gsLst>
                <a:gs pos="58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15875" cap="flat" cmpd="sng" algn="ctr">
              <a:gradFill>
                <a:gsLst>
                  <a:gs pos="0">
                    <a:srgbClr val="1F92EE">
                      <a:lumMod val="60000"/>
                      <a:lumOff val="40000"/>
                    </a:srgbClr>
                  </a:gs>
                  <a:gs pos="100000">
                    <a:srgbClr val="1F92EE">
                      <a:lumMod val="60000"/>
                      <a:lumOff val="4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61746" y="1464658"/>
              <a:ext cx="2425989" cy="491364"/>
            </a:xfrm>
            <a:prstGeom prst="rect">
              <a:avLst/>
            </a:prstGeom>
            <a:gradFill flip="none" rotWithShape="1">
              <a:gsLst>
                <a:gs pos="0">
                  <a:srgbClr val="1F92EE">
                    <a:lumMod val="64000"/>
                    <a:lumOff val="36000"/>
                  </a:srgbClr>
                </a:gs>
                <a:gs pos="92000">
                  <a:srgbClr val="4174E2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角色孤岛</a:t>
              </a:r>
              <a:endParaRPr lang="zh-CN" altLang="en-US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131347" y="1474382"/>
            <a:ext cx="2880248" cy="2804420"/>
            <a:chOff x="361746" y="1464658"/>
            <a:chExt cx="2425989" cy="2804420"/>
          </a:xfrm>
        </p:grpSpPr>
        <p:sp>
          <p:nvSpPr>
            <p:cNvPr id="20" name="矩形: 圆角 39"/>
            <p:cNvSpPr/>
            <p:nvPr/>
          </p:nvSpPr>
          <p:spPr>
            <a:xfrm>
              <a:off x="366890" y="1465403"/>
              <a:ext cx="2420845" cy="2803675"/>
            </a:xfrm>
            <a:prstGeom prst="rect">
              <a:avLst/>
            </a:prstGeom>
            <a:gradFill>
              <a:gsLst>
                <a:gs pos="58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15875" cap="flat" cmpd="sng" algn="ctr">
              <a:gradFill>
                <a:gsLst>
                  <a:gs pos="0">
                    <a:srgbClr val="1F92EE">
                      <a:lumMod val="60000"/>
                      <a:lumOff val="40000"/>
                    </a:srgbClr>
                  </a:gs>
                  <a:gs pos="100000">
                    <a:srgbClr val="1F92EE">
                      <a:lumMod val="60000"/>
                      <a:lumOff val="4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61746" y="1464658"/>
              <a:ext cx="2425989" cy="491364"/>
            </a:xfrm>
            <a:prstGeom prst="rect">
              <a:avLst/>
            </a:prstGeom>
            <a:gradFill flip="none" rotWithShape="1">
              <a:gsLst>
                <a:gs pos="0">
                  <a:srgbClr val="1F92EE">
                    <a:lumMod val="64000"/>
                    <a:lumOff val="36000"/>
                  </a:srgbClr>
                </a:gs>
                <a:gs pos="92000">
                  <a:srgbClr val="4174E2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博弈失真</a:t>
              </a:r>
              <a:endParaRPr lang="zh-CN" altLang="en-US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200082" y="1463024"/>
            <a:ext cx="2880248" cy="2804048"/>
            <a:chOff x="361746" y="1464658"/>
            <a:chExt cx="2425989" cy="2804048"/>
          </a:xfrm>
        </p:grpSpPr>
        <p:sp>
          <p:nvSpPr>
            <p:cNvPr id="26" name="矩形: 圆角 39"/>
            <p:cNvSpPr/>
            <p:nvPr/>
          </p:nvSpPr>
          <p:spPr>
            <a:xfrm>
              <a:off x="366890" y="1465403"/>
              <a:ext cx="2420845" cy="2803303"/>
            </a:xfrm>
            <a:prstGeom prst="rect">
              <a:avLst/>
            </a:prstGeom>
            <a:gradFill>
              <a:gsLst>
                <a:gs pos="58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15875" cap="flat" cmpd="sng" algn="ctr">
              <a:gradFill>
                <a:gsLst>
                  <a:gs pos="0">
                    <a:srgbClr val="1F92EE">
                      <a:lumMod val="60000"/>
                      <a:lumOff val="40000"/>
                    </a:srgbClr>
                  </a:gs>
                  <a:gs pos="100000">
                    <a:srgbClr val="1F92EE">
                      <a:lumMod val="60000"/>
                      <a:lumOff val="40000"/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50" b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61746" y="1464658"/>
              <a:ext cx="2425989" cy="491364"/>
            </a:xfrm>
            <a:prstGeom prst="rect">
              <a:avLst/>
            </a:prstGeom>
            <a:gradFill flip="none" rotWithShape="1">
              <a:gsLst>
                <a:gs pos="0">
                  <a:srgbClr val="1F92EE">
                    <a:lumMod val="64000"/>
                    <a:lumOff val="36000"/>
                  </a:srgbClr>
                </a:gs>
                <a:gs pos="92000">
                  <a:srgbClr val="4174E2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视角局限</a:t>
              </a:r>
              <a:endParaRPr lang="zh-CN" altLang="en-US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圆角矩形 29"/>
          <p:cNvSpPr/>
          <p:nvPr/>
        </p:nvSpPr>
        <p:spPr>
          <a:xfrm>
            <a:off x="374095" y="2040269"/>
            <a:ext cx="2543276" cy="1319164"/>
          </a:xfrm>
          <a:prstGeom prst="roundRect">
            <a:avLst>
              <a:gd name="adj" fmla="val 709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9253268" y="3362029"/>
            <a:ext cx="2773875" cy="913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220"/>
              </a:lnSpc>
            </a:pPr>
            <a:r>
              <a:rPr lang="zh-CN" altLang="en-US" sz="1500" u="none" strike="noStrike" dirty="0">
                <a:solidFill>
                  <a:srgbClr val="1339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聚焦单一角色，忽视车队、工程师等多主体协作中的博弈与冲突演化</a:t>
            </a:r>
            <a:endParaRPr lang="zh-CN" altLang="en-US" sz="1500" u="none" strike="noStrike" dirty="0">
              <a:solidFill>
                <a:srgbClr val="133988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58" y="2143240"/>
            <a:ext cx="495356" cy="495356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0259" y="2560485"/>
            <a:ext cx="650260" cy="704589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6" b="18610"/>
          <a:stretch>
            <a:fillRect/>
          </a:stretch>
        </p:blipFill>
        <p:spPr>
          <a:xfrm>
            <a:off x="2118588" y="2638596"/>
            <a:ext cx="704589" cy="495356"/>
          </a:xfrm>
          <a:prstGeom prst="rect">
            <a:avLst/>
          </a:prstGeom>
        </p:spPr>
      </p:pic>
      <p:cxnSp>
        <p:nvCxnSpPr>
          <p:cNvPr id="35" name="曲线连接符 34"/>
          <p:cNvCxnSpPr>
            <a:stCxn id="32" idx="0"/>
            <a:endCxn id="31" idx="1"/>
          </p:cNvCxnSpPr>
          <p:nvPr/>
        </p:nvCxnSpPr>
        <p:spPr>
          <a:xfrm rot="5400000" flipH="1" flipV="1">
            <a:off x="1013390" y="2222918"/>
            <a:ext cx="169567" cy="505569"/>
          </a:xfrm>
          <a:prstGeom prst="curvedConnector2">
            <a:avLst/>
          </a:prstGeom>
          <a:ln w="31750">
            <a:solidFill>
              <a:schemeClr val="bg2">
                <a:lumMod val="1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曲线连接符 40"/>
          <p:cNvCxnSpPr>
            <a:stCxn id="31" idx="3"/>
            <a:endCxn id="34" idx="0"/>
          </p:cNvCxnSpPr>
          <p:nvPr/>
        </p:nvCxnSpPr>
        <p:spPr>
          <a:xfrm>
            <a:off x="1846314" y="2390918"/>
            <a:ext cx="624569" cy="247678"/>
          </a:xfrm>
          <a:prstGeom prst="curvedConnector2">
            <a:avLst/>
          </a:prstGeom>
          <a:ln w="317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3362092" y="2040268"/>
            <a:ext cx="2538124" cy="1319165"/>
          </a:xfrm>
          <a:prstGeom prst="roundRect">
            <a:avLst>
              <a:gd name="adj" fmla="val 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3544701" y="2102109"/>
            <a:ext cx="2138871" cy="1195481"/>
            <a:chOff x="3591830" y="2281557"/>
            <a:chExt cx="2069653" cy="1373556"/>
          </a:xfrm>
        </p:grpSpPr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1830" y="2376494"/>
              <a:ext cx="476368" cy="476368"/>
            </a:xfrm>
            <a:prstGeom prst="rect">
              <a:avLst/>
            </a:prstGeom>
          </p:spPr>
        </p:pic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2950" y="3187299"/>
              <a:ext cx="395156" cy="395156"/>
            </a:xfrm>
            <a:prstGeom prst="rect">
              <a:avLst/>
            </a:prstGeom>
          </p:spPr>
        </p:pic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1010" y="3114639"/>
              <a:ext cx="540473" cy="540474"/>
            </a:xfrm>
            <a:prstGeom prst="rect">
              <a:avLst/>
            </a:prstGeom>
          </p:spPr>
        </p:pic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3956" y="2281557"/>
              <a:ext cx="540473" cy="540474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231" y="2734020"/>
              <a:ext cx="710725" cy="525937"/>
            </a:xfrm>
            <a:prstGeom prst="rect">
              <a:avLst/>
            </a:prstGeom>
          </p:spPr>
        </p:pic>
        <p:cxnSp>
          <p:nvCxnSpPr>
            <p:cNvPr id="74" name="曲线连接符 73"/>
            <p:cNvCxnSpPr>
              <a:stCxn id="69" idx="3"/>
              <a:endCxn id="73" idx="1"/>
            </p:cNvCxnSpPr>
            <p:nvPr/>
          </p:nvCxnSpPr>
          <p:spPr>
            <a:xfrm>
              <a:off x="4068198" y="2614678"/>
              <a:ext cx="215033" cy="382311"/>
            </a:xfrm>
            <a:prstGeom prst="curvedConnector3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曲线连接符 74"/>
            <p:cNvCxnSpPr>
              <a:stCxn id="70" idx="3"/>
              <a:endCxn id="73" idx="2"/>
            </p:cNvCxnSpPr>
            <p:nvPr/>
          </p:nvCxnSpPr>
          <p:spPr>
            <a:xfrm flipV="1">
              <a:off x="4218106" y="3259957"/>
              <a:ext cx="420487" cy="124920"/>
            </a:xfrm>
            <a:prstGeom prst="curvedConnector2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曲线连接符 75"/>
            <p:cNvCxnSpPr>
              <a:stCxn id="71" idx="1"/>
              <a:endCxn id="73" idx="3"/>
            </p:cNvCxnSpPr>
            <p:nvPr/>
          </p:nvCxnSpPr>
          <p:spPr>
            <a:xfrm rot="10800000">
              <a:off x="4993957" y="2996990"/>
              <a:ext cx="127054" cy="387887"/>
            </a:xfrm>
            <a:prstGeom prst="curvedConnector3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曲线连接符 76"/>
            <p:cNvCxnSpPr>
              <a:stCxn id="72" idx="1"/>
              <a:endCxn id="73" idx="0"/>
            </p:cNvCxnSpPr>
            <p:nvPr/>
          </p:nvCxnSpPr>
          <p:spPr>
            <a:xfrm rot="10800000" flipV="1">
              <a:off x="4638593" y="2551793"/>
              <a:ext cx="355363" cy="182226"/>
            </a:xfrm>
            <a:prstGeom prst="curvedConnector2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矩形 78"/>
          <p:cNvSpPr/>
          <p:nvPr/>
        </p:nvSpPr>
        <p:spPr>
          <a:xfrm>
            <a:off x="3224971" y="3335712"/>
            <a:ext cx="2773875" cy="913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220"/>
              </a:lnSpc>
            </a:pPr>
            <a:r>
              <a:rPr lang="zh-CN" altLang="en-US" sz="1500" u="none" strike="noStrike" dirty="0">
                <a:solidFill>
                  <a:srgbClr val="1339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车手、工程师、车队决策孤立，多角色协作链断裂，策略执行断层</a:t>
            </a:r>
            <a:endParaRPr lang="zh-CN" altLang="en-US" sz="1500" u="none" strike="noStrike" dirty="0">
              <a:solidFill>
                <a:srgbClr val="133988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354067" y="2041419"/>
            <a:ext cx="2549610" cy="1326952"/>
          </a:xfrm>
          <a:prstGeom prst="roundRect">
            <a:avLst>
              <a:gd name="adj" fmla="val 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6616672" y="2121909"/>
            <a:ext cx="2138790" cy="1174695"/>
            <a:chOff x="6608238" y="2361619"/>
            <a:chExt cx="2138790" cy="1181804"/>
          </a:xfrm>
        </p:grpSpPr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8451" y="2521904"/>
              <a:ext cx="476368" cy="476368"/>
            </a:xfrm>
            <a:prstGeom prst="rect">
              <a:avLst/>
            </a:prstGeom>
          </p:spPr>
        </p:pic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8356" y="3121641"/>
              <a:ext cx="395156" cy="395156"/>
            </a:xfrm>
            <a:prstGeom prst="rect">
              <a:avLst/>
            </a:prstGeom>
          </p:spPr>
        </p:pic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0456" y="3100581"/>
              <a:ext cx="442842" cy="442842"/>
            </a:xfrm>
            <a:prstGeom prst="rect">
              <a:avLst/>
            </a:prstGeom>
          </p:spPr>
        </p:pic>
        <p:sp>
          <p:nvSpPr>
            <p:cNvPr id="84" name="圆角矩形标注 83"/>
            <p:cNvSpPr/>
            <p:nvPr/>
          </p:nvSpPr>
          <p:spPr>
            <a:xfrm>
              <a:off x="6608238" y="2672236"/>
              <a:ext cx="345151" cy="263939"/>
            </a:xfrm>
            <a:prstGeom prst="wedgeRoundRectCallout">
              <a:avLst>
                <a:gd name="adj1" fmla="val 26225"/>
                <a:gd name="adj2" fmla="val 80448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🤯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圆角矩形标注 84"/>
            <p:cNvSpPr/>
            <p:nvPr/>
          </p:nvSpPr>
          <p:spPr>
            <a:xfrm>
              <a:off x="8401877" y="2700860"/>
              <a:ext cx="345151" cy="263939"/>
            </a:xfrm>
            <a:prstGeom prst="wedgeRoundRectCallout">
              <a:avLst>
                <a:gd name="adj1" fmla="val -32598"/>
                <a:gd name="adj2" fmla="val 88141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CN" dirty="0">
                  <a:solidFill>
                    <a:schemeClr val="tx1"/>
                  </a:solidFill>
                </a:rPr>
                <a:t>🤔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6" name="圆角矩形标注 85"/>
            <p:cNvSpPr/>
            <p:nvPr/>
          </p:nvSpPr>
          <p:spPr>
            <a:xfrm>
              <a:off x="7845720" y="2361619"/>
              <a:ext cx="345151" cy="263939"/>
            </a:xfrm>
            <a:prstGeom prst="wedgeRoundRectCallout">
              <a:avLst>
                <a:gd name="adj1" fmla="val -38481"/>
                <a:gd name="adj2" fmla="val 72756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😨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直线箭头连接符 86"/>
            <p:cNvCxnSpPr/>
            <p:nvPr/>
          </p:nvCxnSpPr>
          <p:spPr>
            <a:xfrm>
              <a:off x="7103512" y="3317399"/>
              <a:ext cx="1106246" cy="0"/>
            </a:xfrm>
            <a:prstGeom prst="straightConnector1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箭头连接符 87"/>
            <p:cNvCxnSpPr>
              <a:stCxn id="81" idx="1"/>
            </p:cNvCxnSpPr>
            <p:nvPr/>
          </p:nvCxnSpPr>
          <p:spPr>
            <a:xfrm flipH="1">
              <a:off x="6997562" y="2760088"/>
              <a:ext cx="420889" cy="352175"/>
            </a:xfrm>
            <a:prstGeom prst="straightConnector1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箭头连接符 88"/>
            <p:cNvCxnSpPr>
              <a:endCxn id="81" idx="3"/>
            </p:cNvCxnSpPr>
            <p:nvPr/>
          </p:nvCxnSpPr>
          <p:spPr>
            <a:xfrm flipH="1" flipV="1">
              <a:off x="7894819" y="2760088"/>
              <a:ext cx="462628" cy="332868"/>
            </a:xfrm>
            <a:prstGeom prst="straightConnector1">
              <a:avLst/>
            </a:prstGeom>
            <a:ln w="3175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/>
            <p:cNvSpPr txBox="1"/>
            <p:nvPr/>
          </p:nvSpPr>
          <p:spPr>
            <a:xfrm>
              <a:off x="7149500" y="3007342"/>
              <a:ext cx="990811" cy="3143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dirty="0"/>
                <a:t>N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×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turns</a:t>
              </a:r>
              <a:endParaRPr kumimoji="1" lang="zh-CN" altLang="en-US" dirty="0"/>
            </a:p>
          </p:txBody>
        </p:sp>
      </p:grpSp>
      <p:sp>
        <p:nvSpPr>
          <p:cNvPr id="95" name="矩形 94"/>
          <p:cNvSpPr/>
          <p:nvPr/>
        </p:nvSpPr>
        <p:spPr>
          <a:xfrm>
            <a:off x="6248982" y="3353287"/>
            <a:ext cx="2773875" cy="913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220"/>
              </a:lnSpc>
            </a:pPr>
            <a:r>
              <a:rPr lang="zh-CN" altLang="en-US" sz="1500" u="none" strike="noStrike" dirty="0">
                <a:solidFill>
                  <a:srgbClr val="1339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多角色策略依赖预设逻辑，动态博弈僵化，无法模拟真实经验迭代</a:t>
            </a:r>
            <a:endParaRPr lang="zh-CN" altLang="en-US" sz="1500" u="none" strike="noStrike" dirty="0">
              <a:solidFill>
                <a:srgbClr val="133988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9491865" y="2043379"/>
            <a:ext cx="2390112" cy="1324992"/>
          </a:xfrm>
          <a:prstGeom prst="roundRect">
            <a:avLst>
              <a:gd name="adj" fmla="val 565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9514620" y="2002630"/>
            <a:ext cx="2320611" cy="1345402"/>
            <a:chOff x="9455469" y="2163714"/>
            <a:chExt cx="2320611" cy="1345402"/>
          </a:xfrm>
        </p:grpSpPr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5469" y="2792800"/>
              <a:ext cx="715701" cy="716316"/>
            </a:xfrm>
            <a:prstGeom prst="rect">
              <a:avLst/>
            </a:prstGeom>
          </p:spPr>
        </p:pic>
        <p:pic>
          <p:nvPicPr>
            <p:cNvPr id="98" name="图片 97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4613" y="2163714"/>
              <a:ext cx="1012563" cy="1013433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036164" y="2442743"/>
              <a:ext cx="999445" cy="999445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3143" y="2434783"/>
              <a:ext cx="402703" cy="403049"/>
            </a:xfrm>
            <a:prstGeom prst="rect">
              <a:avLst/>
            </a:prstGeom>
          </p:spPr>
        </p:pic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7176" y="2408032"/>
              <a:ext cx="173443" cy="173592"/>
            </a:xfrm>
            <a:prstGeom prst="rect">
              <a:avLst/>
            </a:prstGeom>
          </p:spPr>
        </p:pic>
        <p:pic>
          <p:nvPicPr>
            <p:cNvPr id="102" name="图片 101"/>
            <p:cNvPicPr>
              <a:picLocks noChangeAspect="1"/>
            </p:cNvPicPr>
            <p:nvPr/>
          </p:nvPicPr>
          <p:blipFill>
            <a:blip r:embed="rId1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7702" y="2562865"/>
              <a:ext cx="408378" cy="408728"/>
            </a:xfrm>
            <a:prstGeom prst="rect">
              <a:avLst/>
            </a:prstGeom>
          </p:spPr>
        </p:pic>
        <p:pic>
          <p:nvPicPr>
            <p:cNvPr id="103" name="图片 102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3766" y="2508566"/>
              <a:ext cx="248192" cy="248405"/>
            </a:xfrm>
            <a:prstGeom prst="rect">
              <a:avLst/>
            </a:prstGeom>
          </p:spPr>
        </p:pic>
      </p:grpSp>
      <p:grpSp>
        <p:nvGrpSpPr>
          <p:cNvPr id="63" name="组合 62"/>
          <p:cNvGrpSpPr/>
          <p:nvPr/>
        </p:nvGrpSpPr>
        <p:grpSpPr>
          <a:xfrm>
            <a:off x="442461" y="4417141"/>
            <a:ext cx="2117063" cy="1269690"/>
            <a:chOff x="1878401" y="4369694"/>
            <a:chExt cx="3768222" cy="1826350"/>
          </a:xfrm>
        </p:grpSpPr>
        <p:sp>
          <p:nvSpPr>
            <p:cNvPr id="64" name="矩形: 圆角 331"/>
            <p:cNvSpPr/>
            <p:nvPr>
              <p:custDataLst>
                <p:tags r:id="rId17"/>
              </p:custDataLst>
            </p:nvPr>
          </p:nvSpPr>
          <p:spPr>
            <a:xfrm>
              <a:off x="1878401" y="4369696"/>
              <a:ext cx="3768222" cy="1826348"/>
            </a:xfrm>
            <a:prstGeom prst="roundRect">
              <a:avLst>
                <a:gd name="adj" fmla="val 5785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  <a:alpha val="9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5081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6868" tIns="43434" rIns="86868" bIns="43434" rtlCol="0" anchor="ctr"/>
            <a:lstStyle/>
            <a:p>
              <a:pPr algn="ctr"/>
              <a:endParaRPr lang="zh-CN" altLang="en-US" sz="1000" dirty="0"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65" name="任意多边形: 形状 346"/>
            <p:cNvSpPr/>
            <p:nvPr/>
          </p:nvSpPr>
          <p:spPr>
            <a:xfrm>
              <a:off x="2160880" y="4369694"/>
              <a:ext cx="3121469" cy="457007"/>
            </a:xfrm>
            <a:custGeom>
              <a:avLst/>
              <a:gdLst>
                <a:gd name="connsiteX0" fmla="*/ 0 w 3130745"/>
                <a:gd name="connsiteY0" fmla="*/ 0 h 323343"/>
                <a:gd name="connsiteX1" fmla="*/ 175128 w 3130745"/>
                <a:gd name="connsiteY1" fmla="*/ 0 h 323343"/>
                <a:gd name="connsiteX2" fmla="*/ 397565 w 3130745"/>
                <a:gd name="connsiteY2" fmla="*/ 0 h 323343"/>
                <a:gd name="connsiteX3" fmla="*/ 572693 w 3130745"/>
                <a:gd name="connsiteY3" fmla="*/ 0 h 323343"/>
                <a:gd name="connsiteX4" fmla="*/ 712602 w 3130745"/>
                <a:gd name="connsiteY4" fmla="*/ 0 h 323343"/>
                <a:gd name="connsiteX5" fmla="*/ 857645 w 3130745"/>
                <a:gd name="connsiteY5" fmla="*/ 0 h 323343"/>
                <a:gd name="connsiteX6" fmla="*/ 888248 w 3130745"/>
                <a:gd name="connsiteY6" fmla="*/ 0 h 323343"/>
                <a:gd name="connsiteX7" fmla="*/ 987287 w 3130745"/>
                <a:gd name="connsiteY7" fmla="*/ 0 h 323343"/>
                <a:gd name="connsiteX8" fmla="*/ 1033291 w 3130745"/>
                <a:gd name="connsiteY8" fmla="*/ 0 h 323343"/>
                <a:gd name="connsiteX9" fmla="*/ 1110167 w 3130745"/>
                <a:gd name="connsiteY9" fmla="*/ 0 h 323343"/>
                <a:gd name="connsiteX10" fmla="*/ 1162415 w 3130745"/>
                <a:gd name="connsiteY10" fmla="*/ 0 h 323343"/>
                <a:gd name="connsiteX11" fmla="*/ 1255210 w 3130745"/>
                <a:gd name="connsiteY11" fmla="*/ 0 h 323343"/>
                <a:gd name="connsiteX12" fmla="*/ 1285813 w 3130745"/>
                <a:gd name="connsiteY12" fmla="*/ 0 h 323343"/>
                <a:gd name="connsiteX13" fmla="*/ 1384852 w 3130745"/>
                <a:gd name="connsiteY13" fmla="*/ 0 h 323343"/>
                <a:gd name="connsiteX14" fmla="*/ 1430856 w 3130745"/>
                <a:gd name="connsiteY14" fmla="*/ 0 h 323343"/>
                <a:gd name="connsiteX15" fmla="*/ 1559980 w 3130745"/>
                <a:gd name="connsiteY15" fmla="*/ 0 h 323343"/>
                <a:gd name="connsiteX16" fmla="*/ 1570765 w 3130745"/>
                <a:gd name="connsiteY16" fmla="*/ 0 h 323343"/>
                <a:gd name="connsiteX17" fmla="*/ 1699889 w 3130745"/>
                <a:gd name="connsiteY17" fmla="*/ 0 h 323343"/>
                <a:gd name="connsiteX18" fmla="*/ 1745893 w 3130745"/>
                <a:gd name="connsiteY18" fmla="*/ 0 h 323343"/>
                <a:gd name="connsiteX19" fmla="*/ 1844932 w 3130745"/>
                <a:gd name="connsiteY19" fmla="*/ 0 h 323343"/>
                <a:gd name="connsiteX20" fmla="*/ 1875535 w 3130745"/>
                <a:gd name="connsiteY20" fmla="*/ 0 h 323343"/>
                <a:gd name="connsiteX21" fmla="*/ 1968330 w 3130745"/>
                <a:gd name="connsiteY21" fmla="*/ 0 h 323343"/>
                <a:gd name="connsiteX22" fmla="*/ 2020578 w 3130745"/>
                <a:gd name="connsiteY22" fmla="*/ 0 h 323343"/>
                <a:gd name="connsiteX23" fmla="*/ 2097454 w 3130745"/>
                <a:gd name="connsiteY23" fmla="*/ 0 h 323343"/>
                <a:gd name="connsiteX24" fmla="*/ 2143458 w 3130745"/>
                <a:gd name="connsiteY24" fmla="*/ 0 h 323343"/>
                <a:gd name="connsiteX25" fmla="*/ 2242497 w 3130745"/>
                <a:gd name="connsiteY25" fmla="*/ 0 h 323343"/>
                <a:gd name="connsiteX26" fmla="*/ 2273100 w 3130745"/>
                <a:gd name="connsiteY26" fmla="*/ 0 h 323343"/>
                <a:gd name="connsiteX27" fmla="*/ 2418143 w 3130745"/>
                <a:gd name="connsiteY27" fmla="*/ 0 h 323343"/>
                <a:gd name="connsiteX28" fmla="*/ 2558052 w 3130745"/>
                <a:gd name="connsiteY28" fmla="*/ 0 h 323343"/>
                <a:gd name="connsiteX29" fmla="*/ 2733180 w 3130745"/>
                <a:gd name="connsiteY29" fmla="*/ 0 h 323343"/>
                <a:gd name="connsiteX30" fmla="*/ 2955617 w 3130745"/>
                <a:gd name="connsiteY30" fmla="*/ 0 h 323343"/>
                <a:gd name="connsiteX31" fmla="*/ 3130745 w 3130745"/>
                <a:gd name="connsiteY31" fmla="*/ 0 h 323343"/>
                <a:gd name="connsiteX32" fmla="*/ 3056651 w 3130745"/>
                <a:gd name="connsiteY32" fmla="*/ 229944 h 323343"/>
                <a:gd name="connsiteX33" fmla="*/ 2902466 w 3130745"/>
                <a:gd name="connsiteY33" fmla="*/ 323343 h 323343"/>
                <a:gd name="connsiteX34" fmla="*/ 2851428 w 3130745"/>
                <a:gd name="connsiteY34" fmla="*/ 323343 h 323343"/>
                <a:gd name="connsiteX35" fmla="*/ 2504901 w 3130745"/>
                <a:gd name="connsiteY35" fmla="*/ 323343 h 323343"/>
                <a:gd name="connsiteX36" fmla="*/ 2453863 w 3130745"/>
                <a:gd name="connsiteY36" fmla="*/ 323343 h 323343"/>
                <a:gd name="connsiteX37" fmla="*/ 2418143 w 3130745"/>
                <a:gd name="connsiteY37" fmla="*/ 323343 h 323343"/>
                <a:gd name="connsiteX38" fmla="*/ 2273100 w 3130745"/>
                <a:gd name="connsiteY38" fmla="*/ 323343 h 323343"/>
                <a:gd name="connsiteX39" fmla="*/ 2242497 w 3130745"/>
                <a:gd name="connsiteY39" fmla="*/ 323343 h 323343"/>
                <a:gd name="connsiteX40" fmla="*/ 2097454 w 3130745"/>
                <a:gd name="connsiteY40" fmla="*/ 323343 h 323343"/>
                <a:gd name="connsiteX41" fmla="*/ 2020578 w 3130745"/>
                <a:gd name="connsiteY41" fmla="*/ 323343 h 323343"/>
                <a:gd name="connsiteX42" fmla="*/ 1915179 w 3130745"/>
                <a:gd name="connsiteY42" fmla="*/ 323343 h 323343"/>
                <a:gd name="connsiteX43" fmla="*/ 1875535 w 3130745"/>
                <a:gd name="connsiteY43" fmla="*/ 323343 h 323343"/>
                <a:gd name="connsiteX44" fmla="*/ 1864141 w 3130745"/>
                <a:gd name="connsiteY44" fmla="*/ 323343 h 323343"/>
                <a:gd name="connsiteX45" fmla="*/ 1844932 w 3130745"/>
                <a:gd name="connsiteY45" fmla="*/ 323343 h 323343"/>
                <a:gd name="connsiteX46" fmla="*/ 1699889 w 3130745"/>
                <a:gd name="connsiteY46" fmla="*/ 323343 h 323343"/>
                <a:gd name="connsiteX47" fmla="*/ 1664169 w 3130745"/>
                <a:gd name="connsiteY47" fmla="*/ 323343 h 323343"/>
                <a:gd name="connsiteX48" fmla="*/ 1613131 w 3130745"/>
                <a:gd name="connsiteY48" fmla="*/ 323343 h 323343"/>
                <a:gd name="connsiteX49" fmla="*/ 1517614 w 3130745"/>
                <a:gd name="connsiteY49" fmla="*/ 323343 h 323343"/>
                <a:gd name="connsiteX50" fmla="*/ 1466576 w 3130745"/>
                <a:gd name="connsiteY50" fmla="*/ 323343 h 323343"/>
                <a:gd name="connsiteX51" fmla="*/ 1430856 w 3130745"/>
                <a:gd name="connsiteY51" fmla="*/ 323343 h 323343"/>
                <a:gd name="connsiteX52" fmla="*/ 1285813 w 3130745"/>
                <a:gd name="connsiteY52" fmla="*/ 323343 h 323343"/>
                <a:gd name="connsiteX53" fmla="*/ 1266604 w 3130745"/>
                <a:gd name="connsiteY53" fmla="*/ 323343 h 323343"/>
                <a:gd name="connsiteX54" fmla="*/ 1255210 w 3130745"/>
                <a:gd name="connsiteY54" fmla="*/ 323343 h 323343"/>
                <a:gd name="connsiteX55" fmla="*/ 1215566 w 3130745"/>
                <a:gd name="connsiteY55" fmla="*/ 323343 h 323343"/>
                <a:gd name="connsiteX56" fmla="*/ 1110167 w 3130745"/>
                <a:gd name="connsiteY56" fmla="*/ 323343 h 323343"/>
                <a:gd name="connsiteX57" fmla="*/ 1033291 w 3130745"/>
                <a:gd name="connsiteY57" fmla="*/ 323343 h 323343"/>
                <a:gd name="connsiteX58" fmla="*/ 888248 w 3130745"/>
                <a:gd name="connsiteY58" fmla="*/ 323343 h 323343"/>
                <a:gd name="connsiteX59" fmla="*/ 857645 w 3130745"/>
                <a:gd name="connsiteY59" fmla="*/ 323343 h 323343"/>
                <a:gd name="connsiteX60" fmla="*/ 712602 w 3130745"/>
                <a:gd name="connsiteY60" fmla="*/ 323343 h 323343"/>
                <a:gd name="connsiteX61" fmla="*/ 676882 w 3130745"/>
                <a:gd name="connsiteY61" fmla="*/ 323343 h 323343"/>
                <a:gd name="connsiteX62" fmla="*/ 625844 w 3130745"/>
                <a:gd name="connsiteY62" fmla="*/ 323343 h 323343"/>
                <a:gd name="connsiteX63" fmla="*/ 279317 w 3130745"/>
                <a:gd name="connsiteY63" fmla="*/ 323343 h 323343"/>
                <a:gd name="connsiteX64" fmla="*/ 228279 w 3130745"/>
                <a:gd name="connsiteY64" fmla="*/ 323343 h 323343"/>
                <a:gd name="connsiteX65" fmla="*/ 74094 w 3130745"/>
                <a:gd name="connsiteY65" fmla="*/ 229944 h 32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130745" h="323343">
                  <a:moveTo>
                    <a:pt x="0" y="0"/>
                  </a:moveTo>
                  <a:lnTo>
                    <a:pt x="175128" y="0"/>
                  </a:lnTo>
                  <a:lnTo>
                    <a:pt x="397565" y="0"/>
                  </a:lnTo>
                  <a:lnTo>
                    <a:pt x="572693" y="0"/>
                  </a:lnTo>
                  <a:lnTo>
                    <a:pt x="712602" y="0"/>
                  </a:lnTo>
                  <a:lnTo>
                    <a:pt x="857645" y="0"/>
                  </a:lnTo>
                  <a:lnTo>
                    <a:pt x="888248" y="0"/>
                  </a:lnTo>
                  <a:lnTo>
                    <a:pt x="987287" y="0"/>
                  </a:lnTo>
                  <a:lnTo>
                    <a:pt x="1033291" y="0"/>
                  </a:lnTo>
                  <a:lnTo>
                    <a:pt x="1110167" y="0"/>
                  </a:lnTo>
                  <a:lnTo>
                    <a:pt x="1162415" y="0"/>
                  </a:lnTo>
                  <a:lnTo>
                    <a:pt x="1255210" y="0"/>
                  </a:lnTo>
                  <a:lnTo>
                    <a:pt x="1285813" y="0"/>
                  </a:lnTo>
                  <a:lnTo>
                    <a:pt x="1384852" y="0"/>
                  </a:lnTo>
                  <a:lnTo>
                    <a:pt x="1430856" y="0"/>
                  </a:lnTo>
                  <a:lnTo>
                    <a:pt x="1559980" y="0"/>
                  </a:lnTo>
                  <a:lnTo>
                    <a:pt x="1570765" y="0"/>
                  </a:lnTo>
                  <a:lnTo>
                    <a:pt x="1699889" y="0"/>
                  </a:lnTo>
                  <a:lnTo>
                    <a:pt x="1745893" y="0"/>
                  </a:lnTo>
                  <a:lnTo>
                    <a:pt x="1844932" y="0"/>
                  </a:lnTo>
                  <a:lnTo>
                    <a:pt x="1875535" y="0"/>
                  </a:lnTo>
                  <a:lnTo>
                    <a:pt x="1968330" y="0"/>
                  </a:lnTo>
                  <a:lnTo>
                    <a:pt x="2020578" y="0"/>
                  </a:lnTo>
                  <a:lnTo>
                    <a:pt x="2097454" y="0"/>
                  </a:lnTo>
                  <a:lnTo>
                    <a:pt x="2143458" y="0"/>
                  </a:lnTo>
                  <a:lnTo>
                    <a:pt x="2242497" y="0"/>
                  </a:lnTo>
                  <a:lnTo>
                    <a:pt x="2273100" y="0"/>
                  </a:lnTo>
                  <a:lnTo>
                    <a:pt x="2418143" y="0"/>
                  </a:lnTo>
                  <a:lnTo>
                    <a:pt x="2558052" y="0"/>
                  </a:lnTo>
                  <a:lnTo>
                    <a:pt x="2733180" y="0"/>
                  </a:lnTo>
                  <a:lnTo>
                    <a:pt x="2955617" y="0"/>
                  </a:lnTo>
                  <a:lnTo>
                    <a:pt x="3130745" y="0"/>
                  </a:lnTo>
                  <a:lnTo>
                    <a:pt x="3056651" y="229944"/>
                  </a:lnTo>
                  <a:cubicBezTo>
                    <a:pt x="3038954" y="284863"/>
                    <a:pt x="2975431" y="323343"/>
                    <a:pt x="2902466" y="323343"/>
                  </a:cubicBezTo>
                  <a:lnTo>
                    <a:pt x="2851428" y="323343"/>
                  </a:lnTo>
                  <a:lnTo>
                    <a:pt x="2504901" y="323343"/>
                  </a:lnTo>
                  <a:lnTo>
                    <a:pt x="2453863" y="323343"/>
                  </a:lnTo>
                  <a:lnTo>
                    <a:pt x="2418143" y="323343"/>
                  </a:lnTo>
                  <a:lnTo>
                    <a:pt x="2273100" y="323343"/>
                  </a:lnTo>
                  <a:lnTo>
                    <a:pt x="2242497" y="323343"/>
                  </a:lnTo>
                  <a:lnTo>
                    <a:pt x="2097454" y="323343"/>
                  </a:lnTo>
                  <a:lnTo>
                    <a:pt x="2020578" y="323343"/>
                  </a:lnTo>
                  <a:lnTo>
                    <a:pt x="1915179" y="323343"/>
                  </a:lnTo>
                  <a:lnTo>
                    <a:pt x="1875535" y="323343"/>
                  </a:lnTo>
                  <a:lnTo>
                    <a:pt x="1864141" y="323343"/>
                  </a:lnTo>
                  <a:lnTo>
                    <a:pt x="1844932" y="323343"/>
                  </a:lnTo>
                  <a:lnTo>
                    <a:pt x="1699889" y="323343"/>
                  </a:lnTo>
                  <a:lnTo>
                    <a:pt x="1664169" y="323343"/>
                  </a:lnTo>
                  <a:lnTo>
                    <a:pt x="1613131" y="323343"/>
                  </a:lnTo>
                  <a:lnTo>
                    <a:pt x="1517614" y="323343"/>
                  </a:lnTo>
                  <a:lnTo>
                    <a:pt x="1466576" y="323343"/>
                  </a:lnTo>
                  <a:lnTo>
                    <a:pt x="1430856" y="323343"/>
                  </a:lnTo>
                  <a:lnTo>
                    <a:pt x="1285813" y="323343"/>
                  </a:lnTo>
                  <a:lnTo>
                    <a:pt x="1266604" y="323343"/>
                  </a:lnTo>
                  <a:lnTo>
                    <a:pt x="1255210" y="323343"/>
                  </a:lnTo>
                  <a:lnTo>
                    <a:pt x="1215566" y="323343"/>
                  </a:lnTo>
                  <a:lnTo>
                    <a:pt x="1110167" y="323343"/>
                  </a:lnTo>
                  <a:lnTo>
                    <a:pt x="1033291" y="323343"/>
                  </a:lnTo>
                  <a:lnTo>
                    <a:pt x="888248" y="323343"/>
                  </a:lnTo>
                  <a:lnTo>
                    <a:pt x="857645" y="323343"/>
                  </a:lnTo>
                  <a:lnTo>
                    <a:pt x="712602" y="323343"/>
                  </a:lnTo>
                  <a:lnTo>
                    <a:pt x="676882" y="323343"/>
                  </a:lnTo>
                  <a:lnTo>
                    <a:pt x="625844" y="323343"/>
                  </a:lnTo>
                  <a:lnTo>
                    <a:pt x="279317" y="323343"/>
                  </a:lnTo>
                  <a:lnTo>
                    <a:pt x="228279" y="323343"/>
                  </a:lnTo>
                  <a:cubicBezTo>
                    <a:pt x="155314" y="323343"/>
                    <a:pt x="91791" y="284863"/>
                    <a:pt x="74094" y="22994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92000"/>
                    <a:lumOff val="8000"/>
                  </a:schemeClr>
                </a:gs>
                <a:gs pos="49000">
                  <a:srgbClr val="4174E2"/>
                </a:gs>
              </a:gsLst>
              <a:lin ang="7200000" scaled="0"/>
              <a:tileRect/>
            </a:gradFill>
            <a:ln w="412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2949" tIns="46474" rIns="92949" bIns="4647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52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66" name="圆角矩形 5"/>
            <p:cNvSpPr/>
            <p:nvPr/>
          </p:nvSpPr>
          <p:spPr>
            <a:xfrm>
              <a:off x="2202373" y="4399427"/>
              <a:ext cx="3075063" cy="358886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世界建模</a:t>
              </a:r>
              <a:endParaRPr lang="zh-CN" altLang="en-US" sz="1600" b="1" kern="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2160879" y="5005661"/>
              <a:ext cx="3280190" cy="839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规则动态更新</a:t>
              </a:r>
              <a:endPara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场景三维重建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3505800" y="4417141"/>
            <a:ext cx="2117063" cy="1269690"/>
            <a:chOff x="1878401" y="4369694"/>
            <a:chExt cx="3768222" cy="1826350"/>
          </a:xfrm>
        </p:grpSpPr>
        <p:sp>
          <p:nvSpPr>
            <p:cNvPr id="108" name="矩形: 圆角 331"/>
            <p:cNvSpPr/>
            <p:nvPr>
              <p:custDataLst>
                <p:tags r:id="rId18"/>
              </p:custDataLst>
            </p:nvPr>
          </p:nvSpPr>
          <p:spPr>
            <a:xfrm>
              <a:off x="1878401" y="4369696"/>
              <a:ext cx="3768222" cy="1826348"/>
            </a:xfrm>
            <a:prstGeom prst="roundRect">
              <a:avLst>
                <a:gd name="adj" fmla="val 5785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  <a:alpha val="9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5081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6868" tIns="43434" rIns="86868" bIns="43434" rtlCol="0" anchor="ctr"/>
            <a:lstStyle/>
            <a:p>
              <a:pPr algn="ctr"/>
              <a:endParaRPr lang="zh-CN" altLang="en-US" sz="1000" dirty="0"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09" name="任意多边形: 形状 346"/>
            <p:cNvSpPr/>
            <p:nvPr/>
          </p:nvSpPr>
          <p:spPr>
            <a:xfrm>
              <a:off x="2160880" y="4369694"/>
              <a:ext cx="3121469" cy="457007"/>
            </a:xfrm>
            <a:custGeom>
              <a:avLst/>
              <a:gdLst>
                <a:gd name="connsiteX0" fmla="*/ 0 w 3130745"/>
                <a:gd name="connsiteY0" fmla="*/ 0 h 323343"/>
                <a:gd name="connsiteX1" fmla="*/ 175128 w 3130745"/>
                <a:gd name="connsiteY1" fmla="*/ 0 h 323343"/>
                <a:gd name="connsiteX2" fmla="*/ 397565 w 3130745"/>
                <a:gd name="connsiteY2" fmla="*/ 0 h 323343"/>
                <a:gd name="connsiteX3" fmla="*/ 572693 w 3130745"/>
                <a:gd name="connsiteY3" fmla="*/ 0 h 323343"/>
                <a:gd name="connsiteX4" fmla="*/ 712602 w 3130745"/>
                <a:gd name="connsiteY4" fmla="*/ 0 h 323343"/>
                <a:gd name="connsiteX5" fmla="*/ 857645 w 3130745"/>
                <a:gd name="connsiteY5" fmla="*/ 0 h 323343"/>
                <a:gd name="connsiteX6" fmla="*/ 888248 w 3130745"/>
                <a:gd name="connsiteY6" fmla="*/ 0 h 323343"/>
                <a:gd name="connsiteX7" fmla="*/ 987287 w 3130745"/>
                <a:gd name="connsiteY7" fmla="*/ 0 h 323343"/>
                <a:gd name="connsiteX8" fmla="*/ 1033291 w 3130745"/>
                <a:gd name="connsiteY8" fmla="*/ 0 h 323343"/>
                <a:gd name="connsiteX9" fmla="*/ 1110167 w 3130745"/>
                <a:gd name="connsiteY9" fmla="*/ 0 h 323343"/>
                <a:gd name="connsiteX10" fmla="*/ 1162415 w 3130745"/>
                <a:gd name="connsiteY10" fmla="*/ 0 h 323343"/>
                <a:gd name="connsiteX11" fmla="*/ 1255210 w 3130745"/>
                <a:gd name="connsiteY11" fmla="*/ 0 h 323343"/>
                <a:gd name="connsiteX12" fmla="*/ 1285813 w 3130745"/>
                <a:gd name="connsiteY12" fmla="*/ 0 h 323343"/>
                <a:gd name="connsiteX13" fmla="*/ 1384852 w 3130745"/>
                <a:gd name="connsiteY13" fmla="*/ 0 h 323343"/>
                <a:gd name="connsiteX14" fmla="*/ 1430856 w 3130745"/>
                <a:gd name="connsiteY14" fmla="*/ 0 h 323343"/>
                <a:gd name="connsiteX15" fmla="*/ 1559980 w 3130745"/>
                <a:gd name="connsiteY15" fmla="*/ 0 h 323343"/>
                <a:gd name="connsiteX16" fmla="*/ 1570765 w 3130745"/>
                <a:gd name="connsiteY16" fmla="*/ 0 h 323343"/>
                <a:gd name="connsiteX17" fmla="*/ 1699889 w 3130745"/>
                <a:gd name="connsiteY17" fmla="*/ 0 h 323343"/>
                <a:gd name="connsiteX18" fmla="*/ 1745893 w 3130745"/>
                <a:gd name="connsiteY18" fmla="*/ 0 h 323343"/>
                <a:gd name="connsiteX19" fmla="*/ 1844932 w 3130745"/>
                <a:gd name="connsiteY19" fmla="*/ 0 h 323343"/>
                <a:gd name="connsiteX20" fmla="*/ 1875535 w 3130745"/>
                <a:gd name="connsiteY20" fmla="*/ 0 h 323343"/>
                <a:gd name="connsiteX21" fmla="*/ 1968330 w 3130745"/>
                <a:gd name="connsiteY21" fmla="*/ 0 h 323343"/>
                <a:gd name="connsiteX22" fmla="*/ 2020578 w 3130745"/>
                <a:gd name="connsiteY22" fmla="*/ 0 h 323343"/>
                <a:gd name="connsiteX23" fmla="*/ 2097454 w 3130745"/>
                <a:gd name="connsiteY23" fmla="*/ 0 h 323343"/>
                <a:gd name="connsiteX24" fmla="*/ 2143458 w 3130745"/>
                <a:gd name="connsiteY24" fmla="*/ 0 h 323343"/>
                <a:gd name="connsiteX25" fmla="*/ 2242497 w 3130745"/>
                <a:gd name="connsiteY25" fmla="*/ 0 h 323343"/>
                <a:gd name="connsiteX26" fmla="*/ 2273100 w 3130745"/>
                <a:gd name="connsiteY26" fmla="*/ 0 h 323343"/>
                <a:gd name="connsiteX27" fmla="*/ 2418143 w 3130745"/>
                <a:gd name="connsiteY27" fmla="*/ 0 h 323343"/>
                <a:gd name="connsiteX28" fmla="*/ 2558052 w 3130745"/>
                <a:gd name="connsiteY28" fmla="*/ 0 h 323343"/>
                <a:gd name="connsiteX29" fmla="*/ 2733180 w 3130745"/>
                <a:gd name="connsiteY29" fmla="*/ 0 h 323343"/>
                <a:gd name="connsiteX30" fmla="*/ 2955617 w 3130745"/>
                <a:gd name="connsiteY30" fmla="*/ 0 h 323343"/>
                <a:gd name="connsiteX31" fmla="*/ 3130745 w 3130745"/>
                <a:gd name="connsiteY31" fmla="*/ 0 h 323343"/>
                <a:gd name="connsiteX32" fmla="*/ 3056651 w 3130745"/>
                <a:gd name="connsiteY32" fmla="*/ 229944 h 323343"/>
                <a:gd name="connsiteX33" fmla="*/ 2902466 w 3130745"/>
                <a:gd name="connsiteY33" fmla="*/ 323343 h 323343"/>
                <a:gd name="connsiteX34" fmla="*/ 2851428 w 3130745"/>
                <a:gd name="connsiteY34" fmla="*/ 323343 h 323343"/>
                <a:gd name="connsiteX35" fmla="*/ 2504901 w 3130745"/>
                <a:gd name="connsiteY35" fmla="*/ 323343 h 323343"/>
                <a:gd name="connsiteX36" fmla="*/ 2453863 w 3130745"/>
                <a:gd name="connsiteY36" fmla="*/ 323343 h 323343"/>
                <a:gd name="connsiteX37" fmla="*/ 2418143 w 3130745"/>
                <a:gd name="connsiteY37" fmla="*/ 323343 h 323343"/>
                <a:gd name="connsiteX38" fmla="*/ 2273100 w 3130745"/>
                <a:gd name="connsiteY38" fmla="*/ 323343 h 323343"/>
                <a:gd name="connsiteX39" fmla="*/ 2242497 w 3130745"/>
                <a:gd name="connsiteY39" fmla="*/ 323343 h 323343"/>
                <a:gd name="connsiteX40" fmla="*/ 2097454 w 3130745"/>
                <a:gd name="connsiteY40" fmla="*/ 323343 h 323343"/>
                <a:gd name="connsiteX41" fmla="*/ 2020578 w 3130745"/>
                <a:gd name="connsiteY41" fmla="*/ 323343 h 323343"/>
                <a:gd name="connsiteX42" fmla="*/ 1915179 w 3130745"/>
                <a:gd name="connsiteY42" fmla="*/ 323343 h 323343"/>
                <a:gd name="connsiteX43" fmla="*/ 1875535 w 3130745"/>
                <a:gd name="connsiteY43" fmla="*/ 323343 h 323343"/>
                <a:gd name="connsiteX44" fmla="*/ 1864141 w 3130745"/>
                <a:gd name="connsiteY44" fmla="*/ 323343 h 323343"/>
                <a:gd name="connsiteX45" fmla="*/ 1844932 w 3130745"/>
                <a:gd name="connsiteY45" fmla="*/ 323343 h 323343"/>
                <a:gd name="connsiteX46" fmla="*/ 1699889 w 3130745"/>
                <a:gd name="connsiteY46" fmla="*/ 323343 h 323343"/>
                <a:gd name="connsiteX47" fmla="*/ 1664169 w 3130745"/>
                <a:gd name="connsiteY47" fmla="*/ 323343 h 323343"/>
                <a:gd name="connsiteX48" fmla="*/ 1613131 w 3130745"/>
                <a:gd name="connsiteY48" fmla="*/ 323343 h 323343"/>
                <a:gd name="connsiteX49" fmla="*/ 1517614 w 3130745"/>
                <a:gd name="connsiteY49" fmla="*/ 323343 h 323343"/>
                <a:gd name="connsiteX50" fmla="*/ 1466576 w 3130745"/>
                <a:gd name="connsiteY50" fmla="*/ 323343 h 323343"/>
                <a:gd name="connsiteX51" fmla="*/ 1430856 w 3130745"/>
                <a:gd name="connsiteY51" fmla="*/ 323343 h 323343"/>
                <a:gd name="connsiteX52" fmla="*/ 1285813 w 3130745"/>
                <a:gd name="connsiteY52" fmla="*/ 323343 h 323343"/>
                <a:gd name="connsiteX53" fmla="*/ 1266604 w 3130745"/>
                <a:gd name="connsiteY53" fmla="*/ 323343 h 323343"/>
                <a:gd name="connsiteX54" fmla="*/ 1255210 w 3130745"/>
                <a:gd name="connsiteY54" fmla="*/ 323343 h 323343"/>
                <a:gd name="connsiteX55" fmla="*/ 1215566 w 3130745"/>
                <a:gd name="connsiteY55" fmla="*/ 323343 h 323343"/>
                <a:gd name="connsiteX56" fmla="*/ 1110167 w 3130745"/>
                <a:gd name="connsiteY56" fmla="*/ 323343 h 323343"/>
                <a:gd name="connsiteX57" fmla="*/ 1033291 w 3130745"/>
                <a:gd name="connsiteY57" fmla="*/ 323343 h 323343"/>
                <a:gd name="connsiteX58" fmla="*/ 888248 w 3130745"/>
                <a:gd name="connsiteY58" fmla="*/ 323343 h 323343"/>
                <a:gd name="connsiteX59" fmla="*/ 857645 w 3130745"/>
                <a:gd name="connsiteY59" fmla="*/ 323343 h 323343"/>
                <a:gd name="connsiteX60" fmla="*/ 712602 w 3130745"/>
                <a:gd name="connsiteY60" fmla="*/ 323343 h 323343"/>
                <a:gd name="connsiteX61" fmla="*/ 676882 w 3130745"/>
                <a:gd name="connsiteY61" fmla="*/ 323343 h 323343"/>
                <a:gd name="connsiteX62" fmla="*/ 625844 w 3130745"/>
                <a:gd name="connsiteY62" fmla="*/ 323343 h 323343"/>
                <a:gd name="connsiteX63" fmla="*/ 279317 w 3130745"/>
                <a:gd name="connsiteY63" fmla="*/ 323343 h 323343"/>
                <a:gd name="connsiteX64" fmla="*/ 228279 w 3130745"/>
                <a:gd name="connsiteY64" fmla="*/ 323343 h 323343"/>
                <a:gd name="connsiteX65" fmla="*/ 74094 w 3130745"/>
                <a:gd name="connsiteY65" fmla="*/ 229944 h 32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130745" h="323343">
                  <a:moveTo>
                    <a:pt x="0" y="0"/>
                  </a:moveTo>
                  <a:lnTo>
                    <a:pt x="175128" y="0"/>
                  </a:lnTo>
                  <a:lnTo>
                    <a:pt x="397565" y="0"/>
                  </a:lnTo>
                  <a:lnTo>
                    <a:pt x="572693" y="0"/>
                  </a:lnTo>
                  <a:lnTo>
                    <a:pt x="712602" y="0"/>
                  </a:lnTo>
                  <a:lnTo>
                    <a:pt x="857645" y="0"/>
                  </a:lnTo>
                  <a:lnTo>
                    <a:pt x="888248" y="0"/>
                  </a:lnTo>
                  <a:lnTo>
                    <a:pt x="987287" y="0"/>
                  </a:lnTo>
                  <a:lnTo>
                    <a:pt x="1033291" y="0"/>
                  </a:lnTo>
                  <a:lnTo>
                    <a:pt x="1110167" y="0"/>
                  </a:lnTo>
                  <a:lnTo>
                    <a:pt x="1162415" y="0"/>
                  </a:lnTo>
                  <a:lnTo>
                    <a:pt x="1255210" y="0"/>
                  </a:lnTo>
                  <a:lnTo>
                    <a:pt x="1285813" y="0"/>
                  </a:lnTo>
                  <a:lnTo>
                    <a:pt x="1384852" y="0"/>
                  </a:lnTo>
                  <a:lnTo>
                    <a:pt x="1430856" y="0"/>
                  </a:lnTo>
                  <a:lnTo>
                    <a:pt x="1559980" y="0"/>
                  </a:lnTo>
                  <a:lnTo>
                    <a:pt x="1570765" y="0"/>
                  </a:lnTo>
                  <a:lnTo>
                    <a:pt x="1699889" y="0"/>
                  </a:lnTo>
                  <a:lnTo>
                    <a:pt x="1745893" y="0"/>
                  </a:lnTo>
                  <a:lnTo>
                    <a:pt x="1844932" y="0"/>
                  </a:lnTo>
                  <a:lnTo>
                    <a:pt x="1875535" y="0"/>
                  </a:lnTo>
                  <a:lnTo>
                    <a:pt x="1968330" y="0"/>
                  </a:lnTo>
                  <a:lnTo>
                    <a:pt x="2020578" y="0"/>
                  </a:lnTo>
                  <a:lnTo>
                    <a:pt x="2097454" y="0"/>
                  </a:lnTo>
                  <a:lnTo>
                    <a:pt x="2143458" y="0"/>
                  </a:lnTo>
                  <a:lnTo>
                    <a:pt x="2242497" y="0"/>
                  </a:lnTo>
                  <a:lnTo>
                    <a:pt x="2273100" y="0"/>
                  </a:lnTo>
                  <a:lnTo>
                    <a:pt x="2418143" y="0"/>
                  </a:lnTo>
                  <a:lnTo>
                    <a:pt x="2558052" y="0"/>
                  </a:lnTo>
                  <a:lnTo>
                    <a:pt x="2733180" y="0"/>
                  </a:lnTo>
                  <a:lnTo>
                    <a:pt x="2955617" y="0"/>
                  </a:lnTo>
                  <a:lnTo>
                    <a:pt x="3130745" y="0"/>
                  </a:lnTo>
                  <a:lnTo>
                    <a:pt x="3056651" y="229944"/>
                  </a:lnTo>
                  <a:cubicBezTo>
                    <a:pt x="3038954" y="284863"/>
                    <a:pt x="2975431" y="323343"/>
                    <a:pt x="2902466" y="323343"/>
                  </a:cubicBezTo>
                  <a:lnTo>
                    <a:pt x="2851428" y="323343"/>
                  </a:lnTo>
                  <a:lnTo>
                    <a:pt x="2504901" y="323343"/>
                  </a:lnTo>
                  <a:lnTo>
                    <a:pt x="2453863" y="323343"/>
                  </a:lnTo>
                  <a:lnTo>
                    <a:pt x="2418143" y="323343"/>
                  </a:lnTo>
                  <a:lnTo>
                    <a:pt x="2273100" y="323343"/>
                  </a:lnTo>
                  <a:lnTo>
                    <a:pt x="2242497" y="323343"/>
                  </a:lnTo>
                  <a:lnTo>
                    <a:pt x="2097454" y="323343"/>
                  </a:lnTo>
                  <a:lnTo>
                    <a:pt x="2020578" y="323343"/>
                  </a:lnTo>
                  <a:lnTo>
                    <a:pt x="1915179" y="323343"/>
                  </a:lnTo>
                  <a:lnTo>
                    <a:pt x="1875535" y="323343"/>
                  </a:lnTo>
                  <a:lnTo>
                    <a:pt x="1864141" y="323343"/>
                  </a:lnTo>
                  <a:lnTo>
                    <a:pt x="1844932" y="323343"/>
                  </a:lnTo>
                  <a:lnTo>
                    <a:pt x="1699889" y="323343"/>
                  </a:lnTo>
                  <a:lnTo>
                    <a:pt x="1664169" y="323343"/>
                  </a:lnTo>
                  <a:lnTo>
                    <a:pt x="1613131" y="323343"/>
                  </a:lnTo>
                  <a:lnTo>
                    <a:pt x="1517614" y="323343"/>
                  </a:lnTo>
                  <a:lnTo>
                    <a:pt x="1466576" y="323343"/>
                  </a:lnTo>
                  <a:lnTo>
                    <a:pt x="1430856" y="323343"/>
                  </a:lnTo>
                  <a:lnTo>
                    <a:pt x="1285813" y="323343"/>
                  </a:lnTo>
                  <a:lnTo>
                    <a:pt x="1266604" y="323343"/>
                  </a:lnTo>
                  <a:lnTo>
                    <a:pt x="1255210" y="323343"/>
                  </a:lnTo>
                  <a:lnTo>
                    <a:pt x="1215566" y="323343"/>
                  </a:lnTo>
                  <a:lnTo>
                    <a:pt x="1110167" y="323343"/>
                  </a:lnTo>
                  <a:lnTo>
                    <a:pt x="1033291" y="323343"/>
                  </a:lnTo>
                  <a:lnTo>
                    <a:pt x="888248" y="323343"/>
                  </a:lnTo>
                  <a:lnTo>
                    <a:pt x="857645" y="323343"/>
                  </a:lnTo>
                  <a:lnTo>
                    <a:pt x="712602" y="323343"/>
                  </a:lnTo>
                  <a:lnTo>
                    <a:pt x="676882" y="323343"/>
                  </a:lnTo>
                  <a:lnTo>
                    <a:pt x="625844" y="323343"/>
                  </a:lnTo>
                  <a:lnTo>
                    <a:pt x="279317" y="323343"/>
                  </a:lnTo>
                  <a:lnTo>
                    <a:pt x="228279" y="323343"/>
                  </a:lnTo>
                  <a:cubicBezTo>
                    <a:pt x="155314" y="323343"/>
                    <a:pt x="91791" y="284863"/>
                    <a:pt x="74094" y="22994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92000"/>
                    <a:lumOff val="8000"/>
                  </a:schemeClr>
                </a:gs>
                <a:gs pos="49000">
                  <a:srgbClr val="4174E2"/>
                </a:gs>
              </a:gsLst>
              <a:lin ang="7200000" scaled="0"/>
              <a:tileRect/>
            </a:gradFill>
            <a:ln w="412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2949" tIns="46474" rIns="92949" bIns="4647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52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10" name="圆角矩形 5"/>
            <p:cNvSpPr/>
            <p:nvPr/>
          </p:nvSpPr>
          <p:spPr>
            <a:xfrm>
              <a:off x="2202373" y="4399427"/>
              <a:ext cx="3075063" cy="358886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1600" b="1" kern="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数据注入</a:t>
              </a:r>
              <a:endParaRPr lang="zh-CN" altLang="en-US" sz="1600" b="1" kern="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2160879" y="5005661"/>
              <a:ext cx="3280190" cy="839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环境参数同步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历史数据加载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6569139" y="4417141"/>
            <a:ext cx="2117063" cy="1269690"/>
            <a:chOff x="1878401" y="4369694"/>
            <a:chExt cx="3768222" cy="1826350"/>
          </a:xfrm>
        </p:grpSpPr>
        <p:sp>
          <p:nvSpPr>
            <p:cNvPr id="113" name="矩形: 圆角 331"/>
            <p:cNvSpPr/>
            <p:nvPr>
              <p:custDataLst>
                <p:tags r:id="rId19"/>
              </p:custDataLst>
            </p:nvPr>
          </p:nvSpPr>
          <p:spPr>
            <a:xfrm>
              <a:off x="1878401" y="4369696"/>
              <a:ext cx="3768222" cy="1826348"/>
            </a:xfrm>
            <a:prstGeom prst="roundRect">
              <a:avLst>
                <a:gd name="adj" fmla="val 5785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  <a:alpha val="9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5081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6868" tIns="43434" rIns="86868" bIns="43434" rtlCol="0" anchor="ctr"/>
            <a:lstStyle/>
            <a:p>
              <a:pPr algn="ctr"/>
              <a:endParaRPr lang="zh-CN" altLang="en-US" sz="1000" dirty="0"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14" name="任意多边形: 形状 346"/>
            <p:cNvSpPr/>
            <p:nvPr/>
          </p:nvSpPr>
          <p:spPr>
            <a:xfrm>
              <a:off x="2160880" y="4369694"/>
              <a:ext cx="3121469" cy="457007"/>
            </a:xfrm>
            <a:custGeom>
              <a:avLst/>
              <a:gdLst>
                <a:gd name="connsiteX0" fmla="*/ 0 w 3130745"/>
                <a:gd name="connsiteY0" fmla="*/ 0 h 323343"/>
                <a:gd name="connsiteX1" fmla="*/ 175128 w 3130745"/>
                <a:gd name="connsiteY1" fmla="*/ 0 h 323343"/>
                <a:gd name="connsiteX2" fmla="*/ 397565 w 3130745"/>
                <a:gd name="connsiteY2" fmla="*/ 0 h 323343"/>
                <a:gd name="connsiteX3" fmla="*/ 572693 w 3130745"/>
                <a:gd name="connsiteY3" fmla="*/ 0 h 323343"/>
                <a:gd name="connsiteX4" fmla="*/ 712602 w 3130745"/>
                <a:gd name="connsiteY4" fmla="*/ 0 h 323343"/>
                <a:gd name="connsiteX5" fmla="*/ 857645 w 3130745"/>
                <a:gd name="connsiteY5" fmla="*/ 0 h 323343"/>
                <a:gd name="connsiteX6" fmla="*/ 888248 w 3130745"/>
                <a:gd name="connsiteY6" fmla="*/ 0 h 323343"/>
                <a:gd name="connsiteX7" fmla="*/ 987287 w 3130745"/>
                <a:gd name="connsiteY7" fmla="*/ 0 h 323343"/>
                <a:gd name="connsiteX8" fmla="*/ 1033291 w 3130745"/>
                <a:gd name="connsiteY8" fmla="*/ 0 h 323343"/>
                <a:gd name="connsiteX9" fmla="*/ 1110167 w 3130745"/>
                <a:gd name="connsiteY9" fmla="*/ 0 h 323343"/>
                <a:gd name="connsiteX10" fmla="*/ 1162415 w 3130745"/>
                <a:gd name="connsiteY10" fmla="*/ 0 h 323343"/>
                <a:gd name="connsiteX11" fmla="*/ 1255210 w 3130745"/>
                <a:gd name="connsiteY11" fmla="*/ 0 h 323343"/>
                <a:gd name="connsiteX12" fmla="*/ 1285813 w 3130745"/>
                <a:gd name="connsiteY12" fmla="*/ 0 h 323343"/>
                <a:gd name="connsiteX13" fmla="*/ 1384852 w 3130745"/>
                <a:gd name="connsiteY13" fmla="*/ 0 h 323343"/>
                <a:gd name="connsiteX14" fmla="*/ 1430856 w 3130745"/>
                <a:gd name="connsiteY14" fmla="*/ 0 h 323343"/>
                <a:gd name="connsiteX15" fmla="*/ 1559980 w 3130745"/>
                <a:gd name="connsiteY15" fmla="*/ 0 h 323343"/>
                <a:gd name="connsiteX16" fmla="*/ 1570765 w 3130745"/>
                <a:gd name="connsiteY16" fmla="*/ 0 h 323343"/>
                <a:gd name="connsiteX17" fmla="*/ 1699889 w 3130745"/>
                <a:gd name="connsiteY17" fmla="*/ 0 h 323343"/>
                <a:gd name="connsiteX18" fmla="*/ 1745893 w 3130745"/>
                <a:gd name="connsiteY18" fmla="*/ 0 h 323343"/>
                <a:gd name="connsiteX19" fmla="*/ 1844932 w 3130745"/>
                <a:gd name="connsiteY19" fmla="*/ 0 h 323343"/>
                <a:gd name="connsiteX20" fmla="*/ 1875535 w 3130745"/>
                <a:gd name="connsiteY20" fmla="*/ 0 h 323343"/>
                <a:gd name="connsiteX21" fmla="*/ 1968330 w 3130745"/>
                <a:gd name="connsiteY21" fmla="*/ 0 h 323343"/>
                <a:gd name="connsiteX22" fmla="*/ 2020578 w 3130745"/>
                <a:gd name="connsiteY22" fmla="*/ 0 h 323343"/>
                <a:gd name="connsiteX23" fmla="*/ 2097454 w 3130745"/>
                <a:gd name="connsiteY23" fmla="*/ 0 h 323343"/>
                <a:gd name="connsiteX24" fmla="*/ 2143458 w 3130745"/>
                <a:gd name="connsiteY24" fmla="*/ 0 h 323343"/>
                <a:gd name="connsiteX25" fmla="*/ 2242497 w 3130745"/>
                <a:gd name="connsiteY25" fmla="*/ 0 h 323343"/>
                <a:gd name="connsiteX26" fmla="*/ 2273100 w 3130745"/>
                <a:gd name="connsiteY26" fmla="*/ 0 h 323343"/>
                <a:gd name="connsiteX27" fmla="*/ 2418143 w 3130745"/>
                <a:gd name="connsiteY27" fmla="*/ 0 h 323343"/>
                <a:gd name="connsiteX28" fmla="*/ 2558052 w 3130745"/>
                <a:gd name="connsiteY28" fmla="*/ 0 h 323343"/>
                <a:gd name="connsiteX29" fmla="*/ 2733180 w 3130745"/>
                <a:gd name="connsiteY29" fmla="*/ 0 h 323343"/>
                <a:gd name="connsiteX30" fmla="*/ 2955617 w 3130745"/>
                <a:gd name="connsiteY30" fmla="*/ 0 h 323343"/>
                <a:gd name="connsiteX31" fmla="*/ 3130745 w 3130745"/>
                <a:gd name="connsiteY31" fmla="*/ 0 h 323343"/>
                <a:gd name="connsiteX32" fmla="*/ 3056651 w 3130745"/>
                <a:gd name="connsiteY32" fmla="*/ 229944 h 323343"/>
                <a:gd name="connsiteX33" fmla="*/ 2902466 w 3130745"/>
                <a:gd name="connsiteY33" fmla="*/ 323343 h 323343"/>
                <a:gd name="connsiteX34" fmla="*/ 2851428 w 3130745"/>
                <a:gd name="connsiteY34" fmla="*/ 323343 h 323343"/>
                <a:gd name="connsiteX35" fmla="*/ 2504901 w 3130745"/>
                <a:gd name="connsiteY35" fmla="*/ 323343 h 323343"/>
                <a:gd name="connsiteX36" fmla="*/ 2453863 w 3130745"/>
                <a:gd name="connsiteY36" fmla="*/ 323343 h 323343"/>
                <a:gd name="connsiteX37" fmla="*/ 2418143 w 3130745"/>
                <a:gd name="connsiteY37" fmla="*/ 323343 h 323343"/>
                <a:gd name="connsiteX38" fmla="*/ 2273100 w 3130745"/>
                <a:gd name="connsiteY38" fmla="*/ 323343 h 323343"/>
                <a:gd name="connsiteX39" fmla="*/ 2242497 w 3130745"/>
                <a:gd name="connsiteY39" fmla="*/ 323343 h 323343"/>
                <a:gd name="connsiteX40" fmla="*/ 2097454 w 3130745"/>
                <a:gd name="connsiteY40" fmla="*/ 323343 h 323343"/>
                <a:gd name="connsiteX41" fmla="*/ 2020578 w 3130745"/>
                <a:gd name="connsiteY41" fmla="*/ 323343 h 323343"/>
                <a:gd name="connsiteX42" fmla="*/ 1915179 w 3130745"/>
                <a:gd name="connsiteY42" fmla="*/ 323343 h 323343"/>
                <a:gd name="connsiteX43" fmla="*/ 1875535 w 3130745"/>
                <a:gd name="connsiteY43" fmla="*/ 323343 h 323343"/>
                <a:gd name="connsiteX44" fmla="*/ 1864141 w 3130745"/>
                <a:gd name="connsiteY44" fmla="*/ 323343 h 323343"/>
                <a:gd name="connsiteX45" fmla="*/ 1844932 w 3130745"/>
                <a:gd name="connsiteY45" fmla="*/ 323343 h 323343"/>
                <a:gd name="connsiteX46" fmla="*/ 1699889 w 3130745"/>
                <a:gd name="connsiteY46" fmla="*/ 323343 h 323343"/>
                <a:gd name="connsiteX47" fmla="*/ 1664169 w 3130745"/>
                <a:gd name="connsiteY47" fmla="*/ 323343 h 323343"/>
                <a:gd name="connsiteX48" fmla="*/ 1613131 w 3130745"/>
                <a:gd name="connsiteY48" fmla="*/ 323343 h 323343"/>
                <a:gd name="connsiteX49" fmla="*/ 1517614 w 3130745"/>
                <a:gd name="connsiteY49" fmla="*/ 323343 h 323343"/>
                <a:gd name="connsiteX50" fmla="*/ 1466576 w 3130745"/>
                <a:gd name="connsiteY50" fmla="*/ 323343 h 323343"/>
                <a:gd name="connsiteX51" fmla="*/ 1430856 w 3130745"/>
                <a:gd name="connsiteY51" fmla="*/ 323343 h 323343"/>
                <a:gd name="connsiteX52" fmla="*/ 1285813 w 3130745"/>
                <a:gd name="connsiteY52" fmla="*/ 323343 h 323343"/>
                <a:gd name="connsiteX53" fmla="*/ 1266604 w 3130745"/>
                <a:gd name="connsiteY53" fmla="*/ 323343 h 323343"/>
                <a:gd name="connsiteX54" fmla="*/ 1255210 w 3130745"/>
                <a:gd name="connsiteY54" fmla="*/ 323343 h 323343"/>
                <a:gd name="connsiteX55" fmla="*/ 1215566 w 3130745"/>
                <a:gd name="connsiteY55" fmla="*/ 323343 h 323343"/>
                <a:gd name="connsiteX56" fmla="*/ 1110167 w 3130745"/>
                <a:gd name="connsiteY56" fmla="*/ 323343 h 323343"/>
                <a:gd name="connsiteX57" fmla="*/ 1033291 w 3130745"/>
                <a:gd name="connsiteY57" fmla="*/ 323343 h 323343"/>
                <a:gd name="connsiteX58" fmla="*/ 888248 w 3130745"/>
                <a:gd name="connsiteY58" fmla="*/ 323343 h 323343"/>
                <a:gd name="connsiteX59" fmla="*/ 857645 w 3130745"/>
                <a:gd name="connsiteY59" fmla="*/ 323343 h 323343"/>
                <a:gd name="connsiteX60" fmla="*/ 712602 w 3130745"/>
                <a:gd name="connsiteY60" fmla="*/ 323343 h 323343"/>
                <a:gd name="connsiteX61" fmla="*/ 676882 w 3130745"/>
                <a:gd name="connsiteY61" fmla="*/ 323343 h 323343"/>
                <a:gd name="connsiteX62" fmla="*/ 625844 w 3130745"/>
                <a:gd name="connsiteY62" fmla="*/ 323343 h 323343"/>
                <a:gd name="connsiteX63" fmla="*/ 279317 w 3130745"/>
                <a:gd name="connsiteY63" fmla="*/ 323343 h 323343"/>
                <a:gd name="connsiteX64" fmla="*/ 228279 w 3130745"/>
                <a:gd name="connsiteY64" fmla="*/ 323343 h 323343"/>
                <a:gd name="connsiteX65" fmla="*/ 74094 w 3130745"/>
                <a:gd name="connsiteY65" fmla="*/ 229944 h 32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130745" h="323343">
                  <a:moveTo>
                    <a:pt x="0" y="0"/>
                  </a:moveTo>
                  <a:lnTo>
                    <a:pt x="175128" y="0"/>
                  </a:lnTo>
                  <a:lnTo>
                    <a:pt x="397565" y="0"/>
                  </a:lnTo>
                  <a:lnTo>
                    <a:pt x="572693" y="0"/>
                  </a:lnTo>
                  <a:lnTo>
                    <a:pt x="712602" y="0"/>
                  </a:lnTo>
                  <a:lnTo>
                    <a:pt x="857645" y="0"/>
                  </a:lnTo>
                  <a:lnTo>
                    <a:pt x="888248" y="0"/>
                  </a:lnTo>
                  <a:lnTo>
                    <a:pt x="987287" y="0"/>
                  </a:lnTo>
                  <a:lnTo>
                    <a:pt x="1033291" y="0"/>
                  </a:lnTo>
                  <a:lnTo>
                    <a:pt x="1110167" y="0"/>
                  </a:lnTo>
                  <a:lnTo>
                    <a:pt x="1162415" y="0"/>
                  </a:lnTo>
                  <a:lnTo>
                    <a:pt x="1255210" y="0"/>
                  </a:lnTo>
                  <a:lnTo>
                    <a:pt x="1285813" y="0"/>
                  </a:lnTo>
                  <a:lnTo>
                    <a:pt x="1384852" y="0"/>
                  </a:lnTo>
                  <a:lnTo>
                    <a:pt x="1430856" y="0"/>
                  </a:lnTo>
                  <a:lnTo>
                    <a:pt x="1559980" y="0"/>
                  </a:lnTo>
                  <a:lnTo>
                    <a:pt x="1570765" y="0"/>
                  </a:lnTo>
                  <a:lnTo>
                    <a:pt x="1699889" y="0"/>
                  </a:lnTo>
                  <a:lnTo>
                    <a:pt x="1745893" y="0"/>
                  </a:lnTo>
                  <a:lnTo>
                    <a:pt x="1844932" y="0"/>
                  </a:lnTo>
                  <a:lnTo>
                    <a:pt x="1875535" y="0"/>
                  </a:lnTo>
                  <a:lnTo>
                    <a:pt x="1968330" y="0"/>
                  </a:lnTo>
                  <a:lnTo>
                    <a:pt x="2020578" y="0"/>
                  </a:lnTo>
                  <a:lnTo>
                    <a:pt x="2097454" y="0"/>
                  </a:lnTo>
                  <a:lnTo>
                    <a:pt x="2143458" y="0"/>
                  </a:lnTo>
                  <a:lnTo>
                    <a:pt x="2242497" y="0"/>
                  </a:lnTo>
                  <a:lnTo>
                    <a:pt x="2273100" y="0"/>
                  </a:lnTo>
                  <a:lnTo>
                    <a:pt x="2418143" y="0"/>
                  </a:lnTo>
                  <a:lnTo>
                    <a:pt x="2558052" y="0"/>
                  </a:lnTo>
                  <a:lnTo>
                    <a:pt x="2733180" y="0"/>
                  </a:lnTo>
                  <a:lnTo>
                    <a:pt x="2955617" y="0"/>
                  </a:lnTo>
                  <a:lnTo>
                    <a:pt x="3130745" y="0"/>
                  </a:lnTo>
                  <a:lnTo>
                    <a:pt x="3056651" y="229944"/>
                  </a:lnTo>
                  <a:cubicBezTo>
                    <a:pt x="3038954" y="284863"/>
                    <a:pt x="2975431" y="323343"/>
                    <a:pt x="2902466" y="323343"/>
                  </a:cubicBezTo>
                  <a:lnTo>
                    <a:pt x="2851428" y="323343"/>
                  </a:lnTo>
                  <a:lnTo>
                    <a:pt x="2504901" y="323343"/>
                  </a:lnTo>
                  <a:lnTo>
                    <a:pt x="2453863" y="323343"/>
                  </a:lnTo>
                  <a:lnTo>
                    <a:pt x="2418143" y="323343"/>
                  </a:lnTo>
                  <a:lnTo>
                    <a:pt x="2273100" y="323343"/>
                  </a:lnTo>
                  <a:lnTo>
                    <a:pt x="2242497" y="323343"/>
                  </a:lnTo>
                  <a:lnTo>
                    <a:pt x="2097454" y="323343"/>
                  </a:lnTo>
                  <a:lnTo>
                    <a:pt x="2020578" y="323343"/>
                  </a:lnTo>
                  <a:lnTo>
                    <a:pt x="1915179" y="323343"/>
                  </a:lnTo>
                  <a:lnTo>
                    <a:pt x="1875535" y="323343"/>
                  </a:lnTo>
                  <a:lnTo>
                    <a:pt x="1864141" y="323343"/>
                  </a:lnTo>
                  <a:lnTo>
                    <a:pt x="1844932" y="323343"/>
                  </a:lnTo>
                  <a:lnTo>
                    <a:pt x="1699889" y="323343"/>
                  </a:lnTo>
                  <a:lnTo>
                    <a:pt x="1664169" y="323343"/>
                  </a:lnTo>
                  <a:lnTo>
                    <a:pt x="1613131" y="323343"/>
                  </a:lnTo>
                  <a:lnTo>
                    <a:pt x="1517614" y="323343"/>
                  </a:lnTo>
                  <a:lnTo>
                    <a:pt x="1466576" y="323343"/>
                  </a:lnTo>
                  <a:lnTo>
                    <a:pt x="1430856" y="323343"/>
                  </a:lnTo>
                  <a:lnTo>
                    <a:pt x="1285813" y="323343"/>
                  </a:lnTo>
                  <a:lnTo>
                    <a:pt x="1266604" y="323343"/>
                  </a:lnTo>
                  <a:lnTo>
                    <a:pt x="1255210" y="323343"/>
                  </a:lnTo>
                  <a:lnTo>
                    <a:pt x="1215566" y="323343"/>
                  </a:lnTo>
                  <a:lnTo>
                    <a:pt x="1110167" y="323343"/>
                  </a:lnTo>
                  <a:lnTo>
                    <a:pt x="1033291" y="323343"/>
                  </a:lnTo>
                  <a:lnTo>
                    <a:pt x="888248" y="323343"/>
                  </a:lnTo>
                  <a:lnTo>
                    <a:pt x="857645" y="323343"/>
                  </a:lnTo>
                  <a:lnTo>
                    <a:pt x="712602" y="323343"/>
                  </a:lnTo>
                  <a:lnTo>
                    <a:pt x="676882" y="323343"/>
                  </a:lnTo>
                  <a:lnTo>
                    <a:pt x="625844" y="323343"/>
                  </a:lnTo>
                  <a:lnTo>
                    <a:pt x="279317" y="323343"/>
                  </a:lnTo>
                  <a:lnTo>
                    <a:pt x="228279" y="323343"/>
                  </a:lnTo>
                  <a:cubicBezTo>
                    <a:pt x="155314" y="323343"/>
                    <a:pt x="91791" y="284863"/>
                    <a:pt x="74094" y="22994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92000"/>
                    <a:lumOff val="8000"/>
                  </a:schemeClr>
                </a:gs>
                <a:gs pos="49000">
                  <a:srgbClr val="4174E2"/>
                </a:gs>
              </a:gsLst>
              <a:lin ang="7200000" scaled="0"/>
              <a:tileRect/>
            </a:gradFill>
            <a:ln w="412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2949" tIns="46474" rIns="92949" bIns="4647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52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15" name="圆角矩形 5"/>
            <p:cNvSpPr/>
            <p:nvPr/>
          </p:nvSpPr>
          <p:spPr>
            <a:xfrm>
              <a:off x="2202373" y="4399427"/>
              <a:ext cx="3075063" cy="358886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模拟推演</a:t>
              </a:r>
              <a:endParaRPr lang="zh-CN" altLang="en-US" sz="1600" b="1" kern="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2160879" y="5005661"/>
              <a:ext cx="3280190" cy="839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策略认知演化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冲突自适应协商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9632477" y="4417141"/>
            <a:ext cx="2117063" cy="1269691"/>
            <a:chOff x="1878402" y="4369694"/>
            <a:chExt cx="3768222" cy="1826352"/>
          </a:xfrm>
        </p:grpSpPr>
        <p:sp>
          <p:nvSpPr>
            <p:cNvPr id="118" name="矩形: 圆角 331"/>
            <p:cNvSpPr/>
            <p:nvPr>
              <p:custDataLst>
                <p:tags r:id="rId20"/>
              </p:custDataLst>
            </p:nvPr>
          </p:nvSpPr>
          <p:spPr>
            <a:xfrm>
              <a:off x="1878402" y="4369697"/>
              <a:ext cx="3768222" cy="1826349"/>
            </a:xfrm>
            <a:prstGeom prst="roundRect">
              <a:avLst>
                <a:gd name="adj" fmla="val 5785"/>
              </a:avLst>
            </a:prstGeom>
            <a:gradFill>
              <a:gsLst>
                <a:gs pos="0">
                  <a:schemeClr val="accent1">
                    <a:lumMod val="20000"/>
                    <a:lumOff val="80000"/>
                    <a:alpha val="98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 w="15081"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86868" tIns="43434" rIns="86868" bIns="43434" rtlCol="0" anchor="ctr"/>
            <a:lstStyle/>
            <a:p>
              <a:pPr algn="ctr"/>
              <a:endParaRPr lang="zh-CN" altLang="en-US" sz="1000" dirty="0"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19" name="任意多边形: 形状 346"/>
            <p:cNvSpPr/>
            <p:nvPr/>
          </p:nvSpPr>
          <p:spPr>
            <a:xfrm>
              <a:off x="2160880" y="4369694"/>
              <a:ext cx="3121469" cy="457007"/>
            </a:xfrm>
            <a:custGeom>
              <a:avLst/>
              <a:gdLst>
                <a:gd name="connsiteX0" fmla="*/ 0 w 3130745"/>
                <a:gd name="connsiteY0" fmla="*/ 0 h 323343"/>
                <a:gd name="connsiteX1" fmla="*/ 175128 w 3130745"/>
                <a:gd name="connsiteY1" fmla="*/ 0 h 323343"/>
                <a:gd name="connsiteX2" fmla="*/ 397565 w 3130745"/>
                <a:gd name="connsiteY2" fmla="*/ 0 h 323343"/>
                <a:gd name="connsiteX3" fmla="*/ 572693 w 3130745"/>
                <a:gd name="connsiteY3" fmla="*/ 0 h 323343"/>
                <a:gd name="connsiteX4" fmla="*/ 712602 w 3130745"/>
                <a:gd name="connsiteY4" fmla="*/ 0 h 323343"/>
                <a:gd name="connsiteX5" fmla="*/ 857645 w 3130745"/>
                <a:gd name="connsiteY5" fmla="*/ 0 h 323343"/>
                <a:gd name="connsiteX6" fmla="*/ 888248 w 3130745"/>
                <a:gd name="connsiteY6" fmla="*/ 0 h 323343"/>
                <a:gd name="connsiteX7" fmla="*/ 987287 w 3130745"/>
                <a:gd name="connsiteY7" fmla="*/ 0 h 323343"/>
                <a:gd name="connsiteX8" fmla="*/ 1033291 w 3130745"/>
                <a:gd name="connsiteY8" fmla="*/ 0 h 323343"/>
                <a:gd name="connsiteX9" fmla="*/ 1110167 w 3130745"/>
                <a:gd name="connsiteY9" fmla="*/ 0 h 323343"/>
                <a:gd name="connsiteX10" fmla="*/ 1162415 w 3130745"/>
                <a:gd name="connsiteY10" fmla="*/ 0 h 323343"/>
                <a:gd name="connsiteX11" fmla="*/ 1255210 w 3130745"/>
                <a:gd name="connsiteY11" fmla="*/ 0 h 323343"/>
                <a:gd name="connsiteX12" fmla="*/ 1285813 w 3130745"/>
                <a:gd name="connsiteY12" fmla="*/ 0 h 323343"/>
                <a:gd name="connsiteX13" fmla="*/ 1384852 w 3130745"/>
                <a:gd name="connsiteY13" fmla="*/ 0 h 323343"/>
                <a:gd name="connsiteX14" fmla="*/ 1430856 w 3130745"/>
                <a:gd name="connsiteY14" fmla="*/ 0 h 323343"/>
                <a:gd name="connsiteX15" fmla="*/ 1559980 w 3130745"/>
                <a:gd name="connsiteY15" fmla="*/ 0 h 323343"/>
                <a:gd name="connsiteX16" fmla="*/ 1570765 w 3130745"/>
                <a:gd name="connsiteY16" fmla="*/ 0 h 323343"/>
                <a:gd name="connsiteX17" fmla="*/ 1699889 w 3130745"/>
                <a:gd name="connsiteY17" fmla="*/ 0 h 323343"/>
                <a:gd name="connsiteX18" fmla="*/ 1745893 w 3130745"/>
                <a:gd name="connsiteY18" fmla="*/ 0 h 323343"/>
                <a:gd name="connsiteX19" fmla="*/ 1844932 w 3130745"/>
                <a:gd name="connsiteY19" fmla="*/ 0 h 323343"/>
                <a:gd name="connsiteX20" fmla="*/ 1875535 w 3130745"/>
                <a:gd name="connsiteY20" fmla="*/ 0 h 323343"/>
                <a:gd name="connsiteX21" fmla="*/ 1968330 w 3130745"/>
                <a:gd name="connsiteY21" fmla="*/ 0 h 323343"/>
                <a:gd name="connsiteX22" fmla="*/ 2020578 w 3130745"/>
                <a:gd name="connsiteY22" fmla="*/ 0 h 323343"/>
                <a:gd name="connsiteX23" fmla="*/ 2097454 w 3130745"/>
                <a:gd name="connsiteY23" fmla="*/ 0 h 323343"/>
                <a:gd name="connsiteX24" fmla="*/ 2143458 w 3130745"/>
                <a:gd name="connsiteY24" fmla="*/ 0 h 323343"/>
                <a:gd name="connsiteX25" fmla="*/ 2242497 w 3130745"/>
                <a:gd name="connsiteY25" fmla="*/ 0 h 323343"/>
                <a:gd name="connsiteX26" fmla="*/ 2273100 w 3130745"/>
                <a:gd name="connsiteY26" fmla="*/ 0 h 323343"/>
                <a:gd name="connsiteX27" fmla="*/ 2418143 w 3130745"/>
                <a:gd name="connsiteY27" fmla="*/ 0 h 323343"/>
                <a:gd name="connsiteX28" fmla="*/ 2558052 w 3130745"/>
                <a:gd name="connsiteY28" fmla="*/ 0 h 323343"/>
                <a:gd name="connsiteX29" fmla="*/ 2733180 w 3130745"/>
                <a:gd name="connsiteY29" fmla="*/ 0 h 323343"/>
                <a:gd name="connsiteX30" fmla="*/ 2955617 w 3130745"/>
                <a:gd name="connsiteY30" fmla="*/ 0 h 323343"/>
                <a:gd name="connsiteX31" fmla="*/ 3130745 w 3130745"/>
                <a:gd name="connsiteY31" fmla="*/ 0 h 323343"/>
                <a:gd name="connsiteX32" fmla="*/ 3056651 w 3130745"/>
                <a:gd name="connsiteY32" fmla="*/ 229944 h 323343"/>
                <a:gd name="connsiteX33" fmla="*/ 2902466 w 3130745"/>
                <a:gd name="connsiteY33" fmla="*/ 323343 h 323343"/>
                <a:gd name="connsiteX34" fmla="*/ 2851428 w 3130745"/>
                <a:gd name="connsiteY34" fmla="*/ 323343 h 323343"/>
                <a:gd name="connsiteX35" fmla="*/ 2504901 w 3130745"/>
                <a:gd name="connsiteY35" fmla="*/ 323343 h 323343"/>
                <a:gd name="connsiteX36" fmla="*/ 2453863 w 3130745"/>
                <a:gd name="connsiteY36" fmla="*/ 323343 h 323343"/>
                <a:gd name="connsiteX37" fmla="*/ 2418143 w 3130745"/>
                <a:gd name="connsiteY37" fmla="*/ 323343 h 323343"/>
                <a:gd name="connsiteX38" fmla="*/ 2273100 w 3130745"/>
                <a:gd name="connsiteY38" fmla="*/ 323343 h 323343"/>
                <a:gd name="connsiteX39" fmla="*/ 2242497 w 3130745"/>
                <a:gd name="connsiteY39" fmla="*/ 323343 h 323343"/>
                <a:gd name="connsiteX40" fmla="*/ 2097454 w 3130745"/>
                <a:gd name="connsiteY40" fmla="*/ 323343 h 323343"/>
                <a:gd name="connsiteX41" fmla="*/ 2020578 w 3130745"/>
                <a:gd name="connsiteY41" fmla="*/ 323343 h 323343"/>
                <a:gd name="connsiteX42" fmla="*/ 1915179 w 3130745"/>
                <a:gd name="connsiteY42" fmla="*/ 323343 h 323343"/>
                <a:gd name="connsiteX43" fmla="*/ 1875535 w 3130745"/>
                <a:gd name="connsiteY43" fmla="*/ 323343 h 323343"/>
                <a:gd name="connsiteX44" fmla="*/ 1864141 w 3130745"/>
                <a:gd name="connsiteY44" fmla="*/ 323343 h 323343"/>
                <a:gd name="connsiteX45" fmla="*/ 1844932 w 3130745"/>
                <a:gd name="connsiteY45" fmla="*/ 323343 h 323343"/>
                <a:gd name="connsiteX46" fmla="*/ 1699889 w 3130745"/>
                <a:gd name="connsiteY46" fmla="*/ 323343 h 323343"/>
                <a:gd name="connsiteX47" fmla="*/ 1664169 w 3130745"/>
                <a:gd name="connsiteY47" fmla="*/ 323343 h 323343"/>
                <a:gd name="connsiteX48" fmla="*/ 1613131 w 3130745"/>
                <a:gd name="connsiteY48" fmla="*/ 323343 h 323343"/>
                <a:gd name="connsiteX49" fmla="*/ 1517614 w 3130745"/>
                <a:gd name="connsiteY49" fmla="*/ 323343 h 323343"/>
                <a:gd name="connsiteX50" fmla="*/ 1466576 w 3130745"/>
                <a:gd name="connsiteY50" fmla="*/ 323343 h 323343"/>
                <a:gd name="connsiteX51" fmla="*/ 1430856 w 3130745"/>
                <a:gd name="connsiteY51" fmla="*/ 323343 h 323343"/>
                <a:gd name="connsiteX52" fmla="*/ 1285813 w 3130745"/>
                <a:gd name="connsiteY52" fmla="*/ 323343 h 323343"/>
                <a:gd name="connsiteX53" fmla="*/ 1266604 w 3130745"/>
                <a:gd name="connsiteY53" fmla="*/ 323343 h 323343"/>
                <a:gd name="connsiteX54" fmla="*/ 1255210 w 3130745"/>
                <a:gd name="connsiteY54" fmla="*/ 323343 h 323343"/>
                <a:gd name="connsiteX55" fmla="*/ 1215566 w 3130745"/>
                <a:gd name="connsiteY55" fmla="*/ 323343 h 323343"/>
                <a:gd name="connsiteX56" fmla="*/ 1110167 w 3130745"/>
                <a:gd name="connsiteY56" fmla="*/ 323343 h 323343"/>
                <a:gd name="connsiteX57" fmla="*/ 1033291 w 3130745"/>
                <a:gd name="connsiteY57" fmla="*/ 323343 h 323343"/>
                <a:gd name="connsiteX58" fmla="*/ 888248 w 3130745"/>
                <a:gd name="connsiteY58" fmla="*/ 323343 h 323343"/>
                <a:gd name="connsiteX59" fmla="*/ 857645 w 3130745"/>
                <a:gd name="connsiteY59" fmla="*/ 323343 h 323343"/>
                <a:gd name="connsiteX60" fmla="*/ 712602 w 3130745"/>
                <a:gd name="connsiteY60" fmla="*/ 323343 h 323343"/>
                <a:gd name="connsiteX61" fmla="*/ 676882 w 3130745"/>
                <a:gd name="connsiteY61" fmla="*/ 323343 h 323343"/>
                <a:gd name="connsiteX62" fmla="*/ 625844 w 3130745"/>
                <a:gd name="connsiteY62" fmla="*/ 323343 h 323343"/>
                <a:gd name="connsiteX63" fmla="*/ 279317 w 3130745"/>
                <a:gd name="connsiteY63" fmla="*/ 323343 h 323343"/>
                <a:gd name="connsiteX64" fmla="*/ 228279 w 3130745"/>
                <a:gd name="connsiteY64" fmla="*/ 323343 h 323343"/>
                <a:gd name="connsiteX65" fmla="*/ 74094 w 3130745"/>
                <a:gd name="connsiteY65" fmla="*/ 229944 h 323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130745" h="323343">
                  <a:moveTo>
                    <a:pt x="0" y="0"/>
                  </a:moveTo>
                  <a:lnTo>
                    <a:pt x="175128" y="0"/>
                  </a:lnTo>
                  <a:lnTo>
                    <a:pt x="397565" y="0"/>
                  </a:lnTo>
                  <a:lnTo>
                    <a:pt x="572693" y="0"/>
                  </a:lnTo>
                  <a:lnTo>
                    <a:pt x="712602" y="0"/>
                  </a:lnTo>
                  <a:lnTo>
                    <a:pt x="857645" y="0"/>
                  </a:lnTo>
                  <a:lnTo>
                    <a:pt x="888248" y="0"/>
                  </a:lnTo>
                  <a:lnTo>
                    <a:pt x="987287" y="0"/>
                  </a:lnTo>
                  <a:lnTo>
                    <a:pt x="1033291" y="0"/>
                  </a:lnTo>
                  <a:lnTo>
                    <a:pt x="1110167" y="0"/>
                  </a:lnTo>
                  <a:lnTo>
                    <a:pt x="1162415" y="0"/>
                  </a:lnTo>
                  <a:lnTo>
                    <a:pt x="1255210" y="0"/>
                  </a:lnTo>
                  <a:lnTo>
                    <a:pt x="1285813" y="0"/>
                  </a:lnTo>
                  <a:lnTo>
                    <a:pt x="1384852" y="0"/>
                  </a:lnTo>
                  <a:lnTo>
                    <a:pt x="1430856" y="0"/>
                  </a:lnTo>
                  <a:lnTo>
                    <a:pt x="1559980" y="0"/>
                  </a:lnTo>
                  <a:lnTo>
                    <a:pt x="1570765" y="0"/>
                  </a:lnTo>
                  <a:lnTo>
                    <a:pt x="1699889" y="0"/>
                  </a:lnTo>
                  <a:lnTo>
                    <a:pt x="1745893" y="0"/>
                  </a:lnTo>
                  <a:lnTo>
                    <a:pt x="1844932" y="0"/>
                  </a:lnTo>
                  <a:lnTo>
                    <a:pt x="1875535" y="0"/>
                  </a:lnTo>
                  <a:lnTo>
                    <a:pt x="1968330" y="0"/>
                  </a:lnTo>
                  <a:lnTo>
                    <a:pt x="2020578" y="0"/>
                  </a:lnTo>
                  <a:lnTo>
                    <a:pt x="2097454" y="0"/>
                  </a:lnTo>
                  <a:lnTo>
                    <a:pt x="2143458" y="0"/>
                  </a:lnTo>
                  <a:lnTo>
                    <a:pt x="2242497" y="0"/>
                  </a:lnTo>
                  <a:lnTo>
                    <a:pt x="2273100" y="0"/>
                  </a:lnTo>
                  <a:lnTo>
                    <a:pt x="2418143" y="0"/>
                  </a:lnTo>
                  <a:lnTo>
                    <a:pt x="2558052" y="0"/>
                  </a:lnTo>
                  <a:lnTo>
                    <a:pt x="2733180" y="0"/>
                  </a:lnTo>
                  <a:lnTo>
                    <a:pt x="2955617" y="0"/>
                  </a:lnTo>
                  <a:lnTo>
                    <a:pt x="3130745" y="0"/>
                  </a:lnTo>
                  <a:lnTo>
                    <a:pt x="3056651" y="229944"/>
                  </a:lnTo>
                  <a:cubicBezTo>
                    <a:pt x="3038954" y="284863"/>
                    <a:pt x="2975431" y="323343"/>
                    <a:pt x="2902466" y="323343"/>
                  </a:cubicBezTo>
                  <a:lnTo>
                    <a:pt x="2851428" y="323343"/>
                  </a:lnTo>
                  <a:lnTo>
                    <a:pt x="2504901" y="323343"/>
                  </a:lnTo>
                  <a:lnTo>
                    <a:pt x="2453863" y="323343"/>
                  </a:lnTo>
                  <a:lnTo>
                    <a:pt x="2418143" y="323343"/>
                  </a:lnTo>
                  <a:lnTo>
                    <a:pt x="2273100" y="323343"/>
                  </a:lnTo>
                  <a:lnTo>
                    <a:pt x="2242497" y="323343"/>
                  </a:lnTo>
                  <a:lnTo>
                    <a:pt x="2097454" y="323343"/>
                  </a:lnTo>
                  <a:lnTo>
                    <a:pt x="2020578" y="323343"/>
                  </a:lnTo>
                  <a:lnTo>
                    <a:pt x="1915179" y="323343"/>
                  </a:lnTo>
                  <a:lnTo>
                    <a:pt x="1875535" y="323343"/>
                  </a:lnTo>
                  <a:lnTo>
                    <a:pt x="1864141" y="323343"/>
                  </a:lnTo>
                  <a:lnTo>
                    <a:pt x="1844932" y="323343"/>
                  </a:lnTo>
                  <a:lnTo>
                    <a:pt x="1699889" y="323343"/>
                  </a:lnTo>
                  <a:lnTo>
                    <a:pt x="1664169" y="323343"/>
                  </a:lnTo>
                  <a:lnTo>
                    <a:pt x="1613131" y="323343"/>
                  </a:lnTo>
                  <a:lnTo>
                    <a:pt x="1517614" y="323343"/>
                  </a:lnTo>
                  <a:lnTo>
                    <a:pt x="1466576" y="323343"/>
                  </a:lnTo>
                  <a:lnTo>
                    <a:pt x="1430856" y="323343"/>
                  </a:lnTo>
                  <a:lnTo>
                    <a:pt x="1285813" y="323343"/>
                  </a:lnTo>
                  <a:lnTo>
                    <a:pt x="1266604" y="323343"/>
                  </a:lnTo>
                  <a:lnTo>
                    <a:pt x="1255210" y="323343"/>
                  </a:lnTo>
                  <a:lnTo>
                    <a:pt x="1215566" y="323343"/>
                  </a:lnTo>
                  <a:lnTo>
                    <a:pt x="1110167" y="323343"/>
                  </a:lnTo>
                  <a:lnTo>
                    <a:pt x="1033291" y="323343"/>
                  </a:lnTo>
                  <a:lnTo>
                    <a:pt x="888248" y="323343"/>
                  </a:lnTo>
                  <a:lnTo>
                    <a:pt x="857645" y="323343"/>
                  </a:lnTo>
                  <a:lnTo>
                    <a:pt x="712602" y="323343"/>
                  </a:lnTo>
                  <a:lnTo>
                    <a:pt x="676882" y="323343"/>
                  </a:lnTo>
                  <a:lnTo>
                    <a:pt x="625844" y="323343"/>
                  </a:lnTo>
                  <a:lnTo>
                    <a:pt x="279317" y="323343"/>
                  </a:lnTo>
                  <a:lnTo>
                    <a:pt x="228279" y="323343"/>
                  </a:lnTo>
                  <a:cubicBezTo>
                    <a:pt x="155314" y="323343"/>
                    <a:pt x="91791" y="284863"/>
                    <a:pt x="74094" y="22994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92000"/>
                    <a:lumOff val="8000"/>
                  </a:schemeClr>
                </a:gs>
                <a:gs pos="49000">
                  <a:srgbClr val="4174E2"/>
                </a:gs>
              </a:gsLst>
              <a:lin ang="7200000" scaled="0"/>
              <a:tileRect/>
            </a:gradFill>
            <a:ln w="412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2949" tIns="46474" rIns="92949" bIns="4647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52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endParaRPr>
            </a:p>
          </p:txBody>
        </p:sp>
        <p:sp>
          <p:nvSpPr>
            <p:cNvPr id="120" name="圆角矩形 5"/>
            <p:cNvSpPr/>
            <p:nvPr/>
          </p:nvSpPr>
          <p:spPr>
            <a:xfrm>
              <a:off x="2202373" y="4399427"/>
              <a:ext cx="3075063" cy="358886"/>
            </a:xfrm>
            <a:prstGeom prst="round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kern="0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Normal" panose="020B0400000000000000" charset="-122"/>
                </a:rPr>
                <a:t>人机交互</a:t>
              </a:r>
              <a:endParaRPr lang="zh-CN" altLang="en-US" sz="1600" b="1" kern="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2160880" y="5005661"/>
              <a:ext cx="3280190" cy="839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控制指令传递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980"/>
                </a:lnSpc>
              </a:pPr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用户多模态输入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2504675" y="4625514"/>
            <a:ext cx="1051586" cy="858904"/>
            <a:chOff x="2504675" y="4705026"/>
            <a:chExt cx="1051586" cy="858904"/>
          </a:xfrm>
        </p:grpSpPr>
        <p:sp>
          <p:nvSpPr>
            <p:cNvPr id="124" name="任意多边形: 形状 35"/>
            <p:cNvSpPr/>
            <p:nvPr/>
          </p:nvSpPr>
          <p:spPr>
            <a:xfrm>
              <a:off x="2530904" y="4912553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5" name="任意多边形: 形状 35"/>
            <p:cNvSpPr/>
            <p:nvPr/>
          </p:nvSpPr>
          <p:spPr>
            <a:xfrm rot="10800000">
              <a:off x="2623372" y="5189446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2521860" y="4705026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实时规则同步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2504675" y="5317709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环境状态校准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5570208" y="4597918"/>
            <a:ext cx="1051586" cy="858904"/>
            <a:chOff x="2504675" y="4705026"/>
            <a:chExt cx="1051586" cy="858904"/>
          </a:xfrm>
        </p:grpSpPr>
        <p:sp>
          <p:nvSpPr>
            <p:cNvPr id="131" name="任意多边形: 形状 35"/>
            <p:cNvSpPr/>
            <p:nvPr/>
          </p:nvSpPr>
          <p:spPr>
            <a:xfrm>
              <a:off x="2530904" y="4912553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32" name="任意多边形: 形状 35"/>
            <p:cNvSpPr/>
            <p:nvPr/>
          </p:nvSpPr>
          <p:spPr>
            <a:xfrm rot="10800000">
              <a:off x="2623372" y="5189446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2521860" y="4705026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动态环境铺装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2504675" y="5317709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推演决策回馈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8626886" y="4600727"/>
            <a:ext cx="1051586" cy="858904"/>
            <a:chOff x="2504675" y="4705026"/>
            <a:chExt cx="1051586" cy="858904"/>
          </a:xfrm>
        </p:grpSpPr>
        <p:sp>
          <p:nvSpPr>
            <p:cNvPr id="136" name="任意多边形: 形状 35"/>
            <p:cNvSpPr/>
            <p:nvPr/>
          </p:nvSpPr>
          <p:spPr>
            <a:xfrm>
              <a:off x="2530904" y="4912553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37" name="任意多边形: 形状 35"/>
            <p:cNvSpPr/>
            <p:nvPr/>
          </p:nvSpPr>
          <p:spPr>
            <a:xfrm rot="10800000">
              <a:off x="2623372" y="5189446"/>
              <a:ext cx="932889" cy="146984"/>
            </a:xfrm>
            <a:custGeom>
              <a:avLst/>
              <a:gdLst>
                <a:gd name="connsiteX0" fmla="*/ 1319154 w 1589473"/>
                <a:gd name="connsiteY0" fmla="*/ 0 h 63831"/>
                <a:gd name="connsiteX1" fmla="*/ 1586481 w 1589473"/>
                <a:gd name="connsiteY1" fmla="*/ 45213 h 63831"/>
                <a:gd name="connsiteX2" fmla="*/ 1589473 w 1589473"/>
                <a:gd name="connsiteY2" fmla="*/ 45213 h 63831"/>
                <a:gd name="connsiteX3" fmla="*/ 1589473 w 1589473"/>
                <a:gd name="connsiteY3" fmla="*/ 45719 h 63831"/>
                <a:gd name="connsiteX4" fmla="*/ 1589473 w 1589473"/>
                <a:gd name="connsiteY4" fmla="*/ 63831 h 63831"/>
                <a:gd name="connsiteX5" fmla="*/ 0 w 1589473"/>
                <a:gd name="connsiteY5" fmla="*/ 63831 h 63831"/>
                <a:gd name="connsiteX6" fmla="*/ 0 w 1589473"/>
                <a:gd name="connsiteY6" fmla="*/ 45213 h 63831"/>
                <a:gd name="connsiteX7" fmla="*/ 1319154 w 1589473"/>
                <a:gd name="connsiteY7" fmla="*/ 45213 h 63831"/>
                <a:gd name="connsiteX0-1" fmla="*/ 1319154 w 1589473"/>
                <a:gd name="connsiteY0-2" fmla="*/ 0 h 63831"/>
                <a:gd name="connsiteX1-3" fmla="*/ 1586481 w 1589473"/>
                <a:gd name="connsiteY1-4" fmla="*/ 45213 h 63831"/>
                <a:gd name="connsiteX2-5" fmla="*/ 1589473 w 1589473"/>
                <a:gd name="connsiteY2-6" fmla="*/ 45213 h 63831"/>
                <a:gd name="connsiteX3-7" fmla="*/ 1589473 w 1589473"/>
                <a:gd name="connsiteY3-8" fmla="*/ 63831 h 63831"/>
                <a:gd name="connsiteX4-9" fmla="*/ 0 w 1589473"/>
                <a:gd name="connsiteY4-10" fmla="*/ 63831 h 63831"/>
                <a:gd name="connsiteX5-11" fmla="*/ 0 w 1589473"/>
                <a:gd name="connsiteY5-12" fmla="*/ 45213 h 63831"/>
                <a:gd name="connsiteX6-13" fmla="*/ 1319154 w 1589473"/>
                <a:gd name="connsiteY6-14" fmla="*/ 45213 h 63831"/>
                <a:gd name="connsiteX7-15" fmla="*/ 1319154 w 1589473"/>
                <a:gd name="connsiteY7-16" fmla="*/ 0 h 63831"/>
                <a:gd name="connsiteX0-17" fmla="*/ 1319154 w 1589473"/>
                <a:gd name="connsiteY0-18" fmla="*/ 0 h 63831"/>
                <a:gd name="connsiteX1-19" fmla="*/ 1586481 w 1589473"/>
                <a:gd name="connsiteY1-20" fmla="*/ 45213 h 63831"/>
                <a:gd name="connsiteX2-21" fmla="*/ 1589473 w 1589473"/>
                <a:gd name="connsiteY2-22" fmla="*/ 63831 h 63831"/>
                <a:gd name="connsiteX3-23" fmla="*/ 0 w 1589473"/>
                <a:gd name="connsiteY3-24" fmla="*/ 63831 h 63831"/>
                <a:gd name="connsiteX4-25" fmla="*/ 0 w 1589473"/>
                <a:gd name="connsiteY4-26" fmla="*/ 45213 h 63831"/>
                <a:gd name="connsiteX5-27" fmla="*/ 1319154 w 1589473"/>
                <a:gd name="connsiteY5-28" fmla="*/ 45213 h 63831"/>
                <a:gd name="connsiteX6-29" fmla="*/ 1319154 w 1589473"/>
                <a:gd name="connsiteY6-30" fmla="*/ 0 h 63831"/>
                <a:gd name="connsiteX0-31" fmla="*/ 1319154 w 1589473"/>
                <a:gd name="connsiteY0-32" fmla="*/ 0 h 63831"/>
                <a:gd name="connsiteX1-33" fmla="*/ 1589473 w 1589473"/>
                <a:gd name="connsiteY1-34" fmla="*/ 63831 h 63831"/>
                <a:gd name="connsiteX2-35" fmla="*/ 0 w 1589473"/>
                <a:gd name="connsiteY2-36" fmla="*/ 63831 h 63831"/>
                <a:gd name="connsiteX3-37" fmla="*/ 0 w 1589473"/>
                <a:gd name="connsiteY3-38" fmla="*/ 45213 h 63831"/>
                <a:gd name="connsiteX4-39" fmla="*/ 1319154 w 1589473"/>
                <a:gd name="connsiteY4-40" fmla="*/ 45213 h 63831"/>
                <a:gd name="connsiteX5-41" fmla="*/ 1319154 w 1589473"/>
                <a:gd name="connsiteY5-42" fmla="*/ 0 h 6383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589473" h="63831">
                  <a:moveTo>
                    <a:pt x="1319154" y="0"/>
                  </a:moveTo>
                  <a:lnTo>
                    <a:pt x="1589473" y="63831"/>
                  </a:lnTo>
                  <a:lnTo>
                    <a:pt x="0" y="63831"/>
                  </a:lnTo>
                  <a:lnTo>
                    <a:pt x="0" y="45213"/>
                  </a:lnTo>
                  <a:lnTo>
                    <a:pt x="1319154" y="45213"/>
                  </a:lnTo>
                  <a:lnTo>
                    <a:pt x="1319154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/>
                </a:gs>
                <a:gs pos="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2521860" y="4705026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博弈状态传递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2504675" y="5317709"/>
              <a:ext cx="1021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行为修正推送</a:t>
              </a:r>
              <a:endPara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1208523" y="6206418"/>
            <a:ext cx="10080917" cy="461665"/>
            <a:chOff x="352705" y="5294540"/>
            <a:chExt cx="9818596" cy="1236435"/>
          </a:xfrm>
        </p:grpSpPr>
        <p:sp>
          <p:nvSpPr>
            <p:cNvPr id="142" name="椭圆 141"/>
            <p:cNvSpPr/>
            <p:nvPr/>
          </p:nvSpPr>
          <p:spPr>
            <a:xfrm>
              <a:off x="352705" y="5427128"/>
              <a:ext cx="9818596" cy="1103847"/>
            </a:xfrm>
            <a:prstGeom prst="ellipse">
              <a:avLst/>
            </a:prstGeom>
            <a:gradFill>
              <a:gsLst>
                <a:gs pos="11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40000"/>
                    <a:lumOff val="6000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43" name="椭圆 142"/>
            <p:cNvSpPr/>
            <p:nvPr/>
          </p:nvSpPr>
          <p:spPr>
            <a:xfrm>
              <a:off x="352705" y="5294540"/>
              <a:ext cx="9818596" cy="1103847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1F92EE">
                      <a:lumMod val="5000"/>
                      <a:lumOff val="95000"/>
                    </a:srgbClr>
                  </a:gs>
                  <a:gs pos="74000">
                    <a:srgbClr val="1F92EE">
                      <a:lumMod val="45000"/>
                      <a:lumOff val="55000"/>
                    </a:srgbClr>
                  </a:gs>
                  <a:gs pos="100000">
                    <a:srgbClr val="1F92E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45" name="文本框 144"/>
          <p:cNvSpPr txBox="1"/>
          <p:nvPr/>
        </p:nvSpPr>
        <p:spPr>
          <a:xfrm>
            <a:off x="400176" y="5985777"/>
            <a:ext cx="11510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传统赛事生态模拟平台</a:t>
            </a:r>
            <a:r>
              <a:rPr lang="zh-CN" altLang="en-US" sz="2400" b="0" i="0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角色动态协作</a:t>
            </a:r>
            <a:r>
              <a:rPr lang="zh-CN" altLang="en-US" sz="2400" b="0" i="0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实时数据融合</a:t>
            </a:r>
            <a:r>
              <a:rPr lang="zh-CN" altLang="en-US" sz="2400" b="0" i="0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策略自适应</a:t>
            </a:r>
            <a:r>
              <a:rPr lang="zh-CN" altLang="en-US" sz="2400" b="0" i="0" u="none" strike="noStrike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存在技术瓶颈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73197" y="238193"/>
            <a:ext cx="11018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技术演进：从规则与算法的瓶颈到多智能体决策范式重构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任意多边形: 形状 57"/>
          <p:cNvSpPr/>
          <p:nvPr/>
        </p:nvSpPr>
        <p:spPr>
          <a:xfrm>
            <a:off x="539247" y="1060697"/>
            <a:ext cx="3505453" cy="568392"/>
          </a:xfrm>
          <a:custGeom>
            <a:avLst/>
            <a:gdLst>
              <a:gd name="connsiteX0" fmla="*/ 2648927 w 3668665"/>
              <a:gd name="connsiteY0" fmla="*/ 0 h 539262"/>
              <a:gd name="connsiteX1" fmla="*/ 3608616 w 3668665"/>
              <a:gd name="connsiteY1" fmla="*/ 359507 h 539262"/>
              <a:gd name="connsiteX2" fmla="*/ 3668665 w 3668665"/>
              <a:gd name="connsiteY2" fmla="*/ 359507 h 539262"/>
              <a:gd name="connsiteX3" fmla="*/ 3668665 w 3668665"/>
              <a:gd name="connsiteY3" fmla="*/ 382002 h 539262"/>
              <a:gd name="connsiteX4" fmla="*/ 3668665 w 3668665"/>
              <a:gd name="connsiteY4" fmla="*/ 539262 h 539262"/>
              <a:gd name="connsiteX5" fmla="*/ 0 w 3668665"/>
              <a:gd name="connsiteY5" fmla="*/ 539262 h 539262"/>
              <a:gd name="connsiteX6" fmla="*/ 0 w 3668665"/>
              <a:gd name="connsiteY6" fmla="*/ 359507 h 539262"/>
              <a:gd name="connsiteX7" fmla="*/ 2648927 w 3668665"/>
              <a:gd name="connsiteY7" fmla="*/ 359507 h 539262"/>
              <a:gd name="connsiteX0-1" fmla="*/ 2648927 w 3668665"/>
              <a:gd name="connsiteY0-2" fmla="*/ 0 h 539262"/>
              <a:gd name="connsiteX1-3" fmla="*/ 3668665 w 3668665"/>
              <a:gd name="connsiteY1-4" fmla="*/ 359507 h 539262"/>
              <a:gd name="connsiteX2-5" fmla="*/ 3668665 w 3668665"/>
              <a:gd name="connsiteY2-6" fmla="*/ 382002 h 539262"/>
              <a:gd name="connsiteX3-7" fmla="*/ 3668665 w 3668665"/>
              <a:gd name="connsiteY3-8" fmla="*/ 539262 h 539262"/>
              <a:gd name="connsiteX4-9" fmla="*/ 0 w 3668665"/>
              <a:gd name="connsiteY4-10" fmla="*/ 539262 h 539262"/>
              <a:gd name="connsiteX5-11" fmla="*/ 0 w 3668665"/>
              <a:gd name="connsiteY5-12" fmla="*/ 359507 h 539262"/>
              <a:gd name="connsiteX6-13" fmla="*/ 2648927 w 3668665"/>
              <a:gd name="connsiteY6-14" fmla="*/ 359507 h 539262"/>
              <a:gd name="connsiteX7-15" fmla="*/ 2648927 w 3668665"/>
              <a:gd name="connsiteY7-16" fmla="*/ 0 h 539262"/>
              <a:gd name="connsiteX0-17" fmla="*/ 2648927 w 3668665"/>
              <a:gd name="connsiteY0-18" fmla="*/ 0 h 539262"/>
              <a:gd name="connsiteX1-19" fmla="*/ 3668665 w 3668665"/>
              <a:gd name="connsiteY1-20" fmla="*/ 359507 h 539262"/>
              <a:gd name="connsiteX2-21" fmla="*/ 3668665 w 3668665"/>
              <a:gd name="connsiteY2-22" fmla="*/ 539262 h 539262"/>
              <a:gd name="connsiteX3-23" fmla="*/ 0 w 3668665"/>
              <a:gd name="connsiteY3-24" fmla="*/ 539262 h 539262"/>
              <a:gd name="connsiteX4-25" fmla="*/ 0 w 3668665"/>
              <a:gd name="connsiteY4-26" fmla="*/ 359507 h 539262"/>
              <a:gd name="connsiteX5-27" fmla="*/ 2648927 w 3668665"/>
              <a:gd name="connsiteY5-28" fmla="*/ 359507 h 539262"/>
              <a:gd name="connsiteX6-29" fmla="*/ 2648927 w 3668665"/>
              <a:gd name="connsiteY6-30" fmla="*/ 0 h 539262"/>
              <a:gd name="connsiteX0-31" fmla="*/ 2648927 w 3668665"/>
              <a:gd name="connsiteY0-32" fmla="*/ 0 h 539262"/>
              <a:gd name="connsiteX1-33" fmla="*/ 3668665 w 3668665"/>
              <a:gd name="connsiteY1-34" fmla="*/ 539262 h 539262"/>
              <a:gd name="connsiteX2-35" fmla="*/ 0 w 3668665"/>
              <a:gd name="connsiteY2-36" fmla="*/ 539262 h 539262"/>
              <a:gd name="connsiteX3-37" fmla="*/ 0 w 3668665"/>
              <a:gd name="connsiteY3-38" fmla="*/ 359507 h 539262"/>
              <a:gd name="connsiteX4-39" fmla="*/ 2648927 w 3668665"/>
              <a:gd name="connsiteY4-40" fmla="*/ 359507 h 539262"/>
              <a:gd name="connsiteX5-41" fmla="*/ 2648927 w 3668665"/>
              <a:gd name="connsiteY5-42" fmla="*/ 0 h 5392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668665" h="539262">
                <a:moveTo>
                  <a:pt x="2648927" y="0"/>
                </a:moveTo>
                <a:lnTo>
                  <a:pt x="3668665" y="539262"/>
                </a:lnTo>
                <a:lnTo>
                  <a:pt x="0" y="539262"/>
                </a:lnTo>
                <a:lnTo>
                  <a:pt x="0" y="359507"/>
                </a:lnTo>
                <a:lnTo>
                  <a:pt x="2648927" y="359507"/>
                </a:lnTo>
                <a:lnTo>
                  <a:pt x="2648927" y="0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90000"/>
                </a:schemeClr>
              </a:gs>
              <a:gs pos="0">
                <a:schemeClr val="bg2">
                  <a:lumMod val="90000"/>
                </a:schemeClr>
              </a:gs>
              <a:gs pos="61000">
                <a:schemeClr val="bg2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5098" tIns="47549" rIns="95098" bIns="47549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5" name="矩形: 圆角 331"/>
          <p:cNvSpPr/>
          <p:nvPr>
            <p:custDataLst>
              <p:tags r:id="rId1"/>
            </p:custDataLst>
          </p:nvPr>
        </p:nvSpPr>
        <p:spPr>
          <a:xfrm>
            <a:off x="539247" y="2009075"/>
            <a:ext cx="3721254" cy="4477536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0373" y="913522"/>
            <a:ext cx="2232502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基于规则驱动模拟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合规验证为核心</a:t>
            </a:r>
            <a:endParaRPr lang="zh-CN" altLang="en-US" sz="1400" b="1" dirty="0">
              <a:solidFill>
                <a:schemeClr val="bg2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038809" y="3279647"/>
            <a:ext cx="2777944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基于规则驱动的赛事模拟仅能在规则库中有限组合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: 形状 60"/>
          <p:cNvSpPr/>
          <p:nvPr/>
        </p:nvSpPr>
        <p:spPr>
          <a:xfrm>
            <a:off x="4392226" y="1060697"/>
            <a:ext cx="3698014" cy="568392"/>
          </a:xfrm>
          <a:custGeom>
            <a:avLst/>
            <a:gdLst>
              <a:gd name="connsiteX0" fmla="*/ 2648927 w 3668665"/>
              <a:gd name="connsiteY0" fmla="*/ 0 h 539262"/>
              <a:gd name="connsiteX1" fmla="*/ 3608616 w 3668665"/>
              <a:gd name="connsiteY1" fmla="*/ 359507 h 539262"/>
              <a:gd name="connsiteX2" fmla="*/ 3668665 w 3668665"/>
              <a:gd name="connsiteY2" fmla="*/ 359507 h 539262"/>
              <a:gd name="connsiteX3" fmla="*/ 3668665 w 3668665"/>
              <a:gd name="connsiteY3" fmla="*/ 382002 h 539262"/>
              <a:gd name="connsiteX4" fmla="*/ 3668665 w 3668665"/>
              <a:gd name="connsiteY4" fmla="*/ 539262 h 539262"/>
              <a:gd name="connsiteX5" fmla="*/ 0 w 3668665"/>
              <a:gd name="connsiteY5" fmla="*/ 539262 h 539262"/>
              <a:gd name="connsiteX6" fmla="*/ 0 w 3668665"/>
              <a:gd name="connsiteY6" fmla="*/ 359507 h 539262"/>
              <a:gd name="connsiteX7" fmla="*/ 2648927 w 3668665"/>
              <a:gd name="connsiteY7" fmla="*/ 359507 h 539262"/>
              <a:gd name="connsiteX0-1" fmla="*/ 2648927 w 3668665"/>
              <a:gd name="connsiteY0-2" fmla="*/ 0 h 539262"/>
              <a:gd name="connsiteX1-3" fmla="*/ 3668665 w 3668665"/>
              <a:gd name="connsiteY1-4" fmla="*/ 359507 h 539262"/>
              <a:gd name="connsiteX2-5" fmla="*/ 3668665 w 3668665"/>
              <a:gd name="connsiteY2-6" fmla="*/ 382002 h 539262"/>
              <a:gd name="connsiteX3-7" fmla="*/ 3668665 w 3668665"/>
              <a:gd name="connsiteY3-8" fmla="*/ 539262 h 539262"/>
              <a:gd name="connsiteX4-9" fmla="*/ 0 w 3668665"/>
              <a:gd name="connsiteY4-10" fmla="*/ 539262 h 539262"/>
              <a:gd name="connsiteX5-11" fmla="*/ 0 w 3668665"/>
              <a:gd name="connsiteY5-12" fmla="*/ 359507 h 539262"/>
              <a:gd name="connsiteX6-13" fmla="*/ 2648927 w 3668665"/>
              <a:gd name="connsiteY6-14" fmla="*/ 359507 h 539262"/>
              <a:gd name="connsiteX7-15" fmla="*/ 2648927 w 3668665"/>
              <a:gd name="connsiteY7-16" fmla="*/ 0 h 539262"/>
              <a:gd name="connsiteX0-17" fmla="*/ 2648927 w 3668665"/>
              <a:gd name="connsiteY0-18" fmla="*/ 0 h 539262"/>
              <a:gd name="connsiteX1-19" fmla="*/ 3668665 w 3668665"/>
              <a:gd name="connsiteY1-20" fmla="*/ 359507 h 539262"/>
              <a:gd name="connsiteX2-21" fmla="*/ 3668665 w 3668665"/>
              <a:gd name="connsiteY2-22" fmla="*/ 539262 h 539262"/>
              <a:gd name="connsiteX3-23" fmla="*/ 0 w 3668665"/>
              <a:gd name="connsiteY3-24" fmla="*/ 539262 h 539262"/>
              <a:gd name="connsiteX4-25" fmla="*/ 0 w 3668665"/>
              <a:gd name="connsiteY4-26" fmla="*/ 359507 h 539262"/>
              <a:gd name="connsiteX5-27" fmla="*/ 2648927 w 3668665"/>
              <a:gd name="connsiteY5-28" fmla="*/ 359507 h 539262"/>
              <a:gd name="connsiteX6-29" fmla="*/ 2648927 w 3668665"/>
              <a:gd name="connsiteY6-30" fmla="*/ 0 h 539262"/>
              <a:gd name="connsiteX0-31" fmla="*/ 2648927 w 3668665"/>
              <a:gd name="connsiteY0-32" fmla="*/ 0 h 539262"/>
              <a:gd name="connsiteX1-33" fmla="*/ 3668665 w 3668665"/>
              <a:gd name="connsiteY1-34" fmla="*/ 539262 h 539262"/>
              <a:gd name="connsiteX2-35" fmla="*/ 0 w 3668665"/>
              <a:gd name="connsiteY2-36" fmla="*/ 539262 h 539262"/>
              <a:gd name="connsiteX3-37" fmla="*/ 0 w 3668665"/>
              <a:gd name="connsiteY3-38" fmla="*/ 359507 h 539262"/>
              <a:gd name="connsiteX4-39" fmla="*/ 2648927 w 3668665"/>
              <a:gd name="connsiteY4-40" fmla="*/ 359507 h 539262"/>
              <a:gd name="connsiteX5-41" fmla="*/ 2648927 w 3668665"/>
              <a:gd name="connsiteY5-42" fmla="*/ 0 h 5392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668665" h="539262">
                <a:moveTo>
                  <a:pt x="2648927" y="0"/>
                </a:moveTo>
                <a:lnTo>
                  <a:pt x="3668665" y="539262"/>
                </a:lnTo>
                <a:lnTo>
                  <a:pt x="0" y="539262"/>
                </a:lnTo>
                <a:lnTo>
                  <a:pt x="0" y="359507"/>
                </a:lnTo>
                <a:lnTo>
                  <a:pt x="2648927" y="359507"/>
                </a:lnTo>
                <a:lnTo>
                  <a:pt x="2648927" y="0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75000"/>
                </a:schemeClr>
              </a:gs>
              <a:gs pos="0">
                <a:schemeClr val="tx2">
                  <a:lumMod val="20000"/>
                  <a:lumOff val="80000"/>
                </a:schemeClr>
              </a:gs>
              <a:gs pos="61000">
                <a:schemeClr val="bg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5098" tIns="47549" rIns="95098" bIns="47549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"/>
            </p:custDataLst>
          </p:nvPr>
        </p:nvSpPr>
        <p:spPr>
          <a:xfrm>
            <a:off x="4802894" y="913522"/>
            <a:ext cx="2077492" cy="492443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  <a:scene3d>
              <a:camera prst="orthographicFront"/>
              <a:lightRig rig="glow" dir="t"/>
            </a:scene3d>
            <a:sp3d>
              <a:bevelT w="0" h="0"/>
              <a:bevelB w="39624" h="13208"/>
            </a:sp3d>
          </a:bodyPr>
          <a:lstStyle/>
          <a:p>
            <a:pPr algn="ctr"/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effectLst>
                  <a:reflection blurRad="88900" stA="30000" endPos="45500" dist="381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基于启发式算法模拟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effectLst>
                <a:reflection blurRad="88900" stA="30000" endPos="45500" dist="381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bg2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模糊决策为核心</a:t>
            </a:r>
            <a:endParaRPr lang="zh-CN" altLang="en-US" sz="1400" b="1" dirty="0">
              <a:solidFill>
                <a:schemeClr val="bg2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: 圆角 331"/>
          <p:cNvSpPr/>
          <p:nvPr>
            <p:custDataLst>
              <p:tags r:id="rId3"/>
            </p:custDataLst>
          </p:nvPr>
        </p:nvSpPr>
        <p:spPr>
          <a:xfrm>
            <a:off x="4855464" y="2009075"/>
            <a:ext cx="3662753" cy="4477536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51" name="任意多边形: 形状 63"/>
          <p:cNvSpPr/>
          <p:nvPr/>
        </p:nvSpPr>
        <p:spPr>
          <a:xfrm>
            <a:off x="8268497" y="1054617"/>
            <a:ext cx="3365878" cy="568392"/>
          </a:xfrm>
          <a:custGeom>
            <a:avLst/>
            <a:gdLst>
              <a:gd name="connsiteX0" fmla="*/ 2648927 w 3668665"/>
              <a:gd name="connsiteY0" fmla="*/ 0 h 539262"/>
              <a:gd name="connsiteX1" fmla="*/ 3608616 w 3668665"/>
              <a:gd name="connsiteY1" fmla="*/ 359507 h 539262"/>
              <a:gd name="connsiteX2" fmla="*/ 3668665 w 3668665"/>
              <a:gd name="connsiteY2" fmla="*/ 359507 h 539262"/>
              <a:gd name="connsiteX3" fmla="*/ 3668665 w 3668665"/>
              <a:gd name="connsiteY3" fmla="*/ 382002 h 539262"/>
              <a:gd name="connsiteX4" fmla="*/ 3668665 w 3668665"/>
              <a:gd name="connsiteY4" fmla="*/ 539262 h 539262"/>
              <a:gd name="connsiteX5" fmla="*/ 0 w 3668665"/>
              <a:gd name="connsiteY5" fmla="*/ 539262 h 539262"/>
              <a:gd name="connsiteX6" fmla="*/ 0 w 3668665"/>
              <a:gd name="connsiteY6" fmla="*/ 359507 h 539262"/>
              <a:gd name="connsiteX7" fmla="*/ 2648927 w 3668665"/>
              <a:gd name="connsiteY7" fmla="*/ 359507 h 539262"/>
              <a:gd name="connsiteX0-1" fmla="*/ 2648927 w 3668665"/>
              <a:gd name="connsiteY0-2" fmla="*/ 0 h 539262"/>
              <a:gd name="connsiteX1-3" fmla="*/ 3668665 w 3668665"/>
              <a:gd name="connsiteY1-4" fmla="*/ 359507 h 539262"/>
              <a:gd name="connsiteX2-5" fmla="*/ 3668665 w 3668665"/>
              <a:gd name="connsiteY2-6" fmla="*/ 382002 h 539262"/>
              <a:gd name="connsiteX3-7" fmla="*/ 3668665 w 3668665"/>
              <a:gd name="connsiteY3-8" fmla="*/ 539262 h 539262"/>
              <a:gd name="connsiteX4-9" fmla="*/ 0 w 3668665"/>
              <a:gd name="connsiteY4-10" fmla="*/ 539262 h 539262"/>
              <a:gd name="connsiteX5-11" fmla="*/ 0 w 3668665"/>
              <a:gd name="connsiteY5-12" fmla="*/ 359507 h 539262"/>
              <a:gd name="connsiteX6-13" fmla="*/ 2648927 w 3668665"/>
              <a:gd name="connsiteY6-14" fmla="*/ 359507 h 539262"/>
              <a:gd name="connsiteX7-15" fmla="*/ 2648927 w 3668665"/>
              <a:gd name="connsiteY7-16" fmla="*/ 0 h 539262"/>
              <a:gd name="connsiteX0-17" fmla="*/ 2648927 w 3668665"/>
              <a:gd name="connsiteY0-18" fmla="*/ 0 h 539262"/>
              <a:gd name="connsiteX1-19" fmla="*/ 3668665 w 3668665"/>
              <a:gd name="connsiteY1-20" fmla="*/ 359507 h 539262"/>
              <a:gd name="connsiteX2-21" fmla="*/ 3668665 w 3668665"/>
              <a:gd name="connsiteY2-22" fmla="*/ 539262 h 539262"/>
              <a:gd name="connsiteX3-23" fmla="*/ 0 w 3668665"/>
              <a:gd name="connsiteY3-24" fmla="*/ 539262 h 539262"/>
              <a:gd name="connsiteX4-25" fmla="*/ 0 w 3668665"/>
              <a:gd name="connsiteY4-26" fmla="*/ 359507 h 539262"/>
              <a:gd name="connsiteX5-27" fmla="*/ 2648927 w 3668665"/>
              <a:gd name="connsiteY5-28" fmla="*/ 359507 h 539262"/>
              <a:gd name="connsiteX6-29" fmla="*/ 2648927 w 3668665"/>
              <a:gd name="connsiteY6-30" fmla="*/ 0 h 539262"/>
              <a:gd name="connsiteX0-31" fmla="*/ 2648927 w 3668665"/>
              <a:gd name="connsiteY0-32" fmla="*/ 0 h 539262"/>
              <a:gd name="connsiteX1-33" fmla="*/ 3668665 w 3668665"/>
              <a:gd name="connsiteY1-34" fmla="*/ 539262 h 539262"/>
              <a:gd name="connsiteX2-35" fmla="*/ 0 w 3668665"/>
              <a:gd name="connsiteY2-36" fmla="*/ 539262 h 539262"/>
              <a:gd name="connsiteX3-37" fmla="*/ 0 w 3668665"/>
              <a:gd name="connsiteY3-38" fmla="*/ 359507 h 539262"/>
              <a:gd name="connsiteX4-39" fmla="*/ 2648927 w 3668665"/>
              <a:gd name="connsiteY4-40" fmla="*/ 359507 h 539262"/>
              <a:gd name="connsiteX5-41" fmla="*/ 2648927 w 3668665"/>
              <a:gd name="connsiteY5-42" fmla="*/ 0 h 53926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668665" h="539262">
                <a:moveTo>
                  <a:pt x="2648927" y="0"/>
                </a:moveTo>
                <a:lnTo>
                  <a:pt x="3668665" y="539262"/>
                </a:lnTo>
                <a:lnTo>
                  <a:pt x="0" y="539262"/>
                </a:lnTo>
                <a:lnTo>
                  <a:pt x="0" y="359507"/>
                </a:lnTo>
                <a:lnTo>
                  <a:pt x="2648927" y="359507"/>
                </a:lnTo>
                <a:lnTo>
                  <a:pt x="2648927" y="0"/>
                </a:lnTo>
                <a:close/>
              </a:path>
            </a:pathLst>
          </a:custGeom>
          <a:gradFill>
            <a:gsLst>
              <a:gs pos="100000">
                <a:srgbClr val="1F92EE">
                  <a:lumMod val="60000"/>
                  <a:lumOff val="40000"/>
                </a:srgbClr>
              </a:gs>
              <a:gs pos="0">
                <a:srgbClr val="1F92EE">
                  <a:lumMod val="60000"/>
                  <a:lumOff val="40000"/>
                  <a:alpha val="0"/>
                </a:srgbClr>
              </a:gs>
              <a:gs pos="61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5098" tIns="47549" rIns="95098" bIns="47549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"/>
            </p:custDataLst>
          </p:nvPr>
        </p:nvSpPr>
        <p:spPr>
          <a:xfrm>
            <a:off x="8620404" y="913522"/>
            <a:ext cx="1846659" cy="492443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  <a:scene3d>
              <a:camera prst="orthographicFront"/>
              <a:lightRig rig="glow" dir="t"/>
            </a:scene3d>
            <a:sp3d>
              <a:bevelT w="0" h="0"/>
              <a:bevelB w="39624" h="13208"/>
            </a:sp3d>
          </a:bodyPr>
          <a:lstStyle/>
          <a:p>
            <a:r>
              <a:rPr lang="zh-CN" altLang="en-US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多智能体协作范式</a:t>
            </a:r>
            <a:endParaRPr lang="zh-CN" altLang="en-US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 dirty="0">
                <a:solidFill>
                  <a:srgbClr val="133988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智能决策为核心</a:t>
            </a:r>
            <a:endParaRPr lang="zh-CN" altLang="en-US" sz="1400" b="1" dirty="0">
              <a:solidFill>
                <a:srgbClr val="133988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82"/>
          <p:cNvSpPr/>
          <p:nvPr>
            <p:custDataLst>
              <p:tags r:id="rId5"/>
            </p:custDataLst>
          </p:nvPr>
        </p:nvSpPr>
        <p:spPr>
          <a:xfrm>
            <a:off x="728662" y="2111670"/>
            <a:ext cx="3342424" cy="503057"/>
          </a:xfrm>
          <a:prstGeom prst="roundRect">
            <a:avLst>
              <a:gd name="adj" fmla="val 12377"/>
            </a:avLst>
          </a:prstGeom>
          <a:gradFill flip="none" rotWithShape="1">
            <a:gsLst>
              <a:gs pos="0">
                <a:srgbClr val="0C73C5">
                  <a:lumMod val="40000"/>
                  <a:lumOff val="60000"/>
                  <a:alpha val="0"/>
                </a:srgbClr>
              </a:gs>
              <a:gs pos="100000">
                <a:srgbClr val="0C73C5">
                  <a:lumMod val="40000"/>
                  <a:lumOff val="6000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89035" tIns="44517" rIns="89035" bIns="44517" rtlCol="0" anchor="ctr"/>
          <a:lstStyle/>
          <a:p>
            <a:pPr lvl="0" algn="ctr"/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基于规则驱动模拟</a:t>
            </a:r>
            <a:endParaRPr lang="zh-CN" altLang="en-US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030037" y="2805488"/>
            <a:ext cx="2777944" cy="514594"/>
            <a:chOff x="1033168" y="2432609"/>
            <a:chExt cx="2777944" cy="514594"/>
          </a:xfrm>
        </p:grpSpPr>
        <p:grpSp>
          <p:nvGrpSpPr>
            <p:cNvPr id="20" name="组合 19"/>
            <p:cNvGrpSpPr/>
            <p:nvPr>
              <p:custDataLst>
                <p:tags r:id="rId6"/>
              </p:custDataLst>
            </p:nvPr>
          </p:nvGrpSpPr>
          <p:grpSpPr>
            <a:xfrm>
              <a:off x="1213341" y="2471387"/>
              <a:ext cx="2597771" cy="433991"/>
              <a:chOff x="3515911" y="253126"/>
              <a:chExt cx="4926319" cy="537516"/>
            </a:xfrm>
          </p:grpSpPr>
          <p:sp>
            <p:nvSpPr>
              <p:cNvPr id="23" name="矩形 22"/>
              <p:cNvSpPr/>
              <p:nvPr>
                <p:custDataLst>
                  <p:tags r:id="rId7"/>
                </p:custDataLst>
              </p:nvPr>
            </p:nvSpPr>
            <p:spPr>
              <a:xfrm>
                <a:off x="3515911" y="253126"/>
                <a:ext cx="4926319" cy="537516"/>
              </a:xfrm>
              <a:prstGeom prst="rect">
                <a:avLst/>
              </a:prstGeom>
              <a:gradFill flip="none" rotWithShape="1">
                <a:gsLst>
                  <a:gs pos="92000">
                    <a:srgbClr val="84B3FA"/>
                  </a:gs>
                  <a:gs pos="0">
                    <a:srgbClr val="1B5AB4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204351" y="303807"/>
                <a:ext cx="3051589" cy="419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3398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规则覆盖率不足</a:t>
                </a:r>
                <a:endPara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endParaRPr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3168" y="2432609"/>
              <a:ext cx="514594" cy="514594"/>
            </a:xfrm>
            <a:prstGeom prst="rect">
              <a:avLst/>
            </a:prstGeom>
          </p:spPr>
        </p:pic>
      </p:grpSp>
      <p:sp>
        <p:nvSpPr>
          <p:cNvPr id="71" name="矩形 70"/>
          <p:cNvSpPr/>
          <p:nvPr/>
        </p:nvSpPr>
        <p:spPr>
          <a:xfrm>
            <a:off x="1038809" y="4438932"/>
            <a:ext cx="2690503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安全车出动时，规则系统仅能按优先级执行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030037" y="3972314"/>
            <a:ext cx="2777943" cy="514593"/>
            <a:chOff x="1023130" y="3631725"/>
            <a:chExt cx="2777943" cy="514593"/>
          </a:xfrm>
        </p:grpSpPr>
        <p:grpSp>
          <p:nvGrpSpPr>
            <p:cNvPr id="27" name="组合 26"/>
            <p:cNvGrpSpPr/>
            <p:nvPr>
              <p:custDataLst>
                <p:tags r:id="rId10"/>
              </p:custDataLst>
            </p:nvPr>
          </p:nvGrpSpPr>
          <p:grpSpPr>
            <a:xfrm>
              <a:off x="1203302" y="3664611"/>
              <a:ext cx="2597771" cy="433991"/>
              <a:chOff x="3497013" y="224959"/>
              <a:chExt cx="4890523" cy="537516"/>
            </a:xfrm>
          </p:grpSpPr>
          <p:sp>
            <p:nvSpPr>
              <p:cNvPr id="36" name="矩形 3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97013" y="224959"/>
                <a:ext cx="4890523" cy="537516"/>
              </a:xfrm>
              <a:prstGeom prst="rect">
                <a:avLst/>
              </a:prstGeom>
              <a:gradFill flip="none" rotWithShape="1">
                <a:gsLst>
                  <a:gs pos="92000">
                    <a:srgbClr val="84B3FA"/>
                  </a:gs>
                  <a:gs pos="0">
                    <a:srgbClr val="1B5AB4">
                      <a:alpha val="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229314" y="284060"/>
                <a:ext cx="3051588" cy="419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3398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多</a:t>
                </a:r>
                <a:r>
                  <a:rPr lang="zh-CN" altLang="en-US" sz="1600" b="1" dirty="0">
                    <a:solidFill>
                      <a:srgbClr val="13398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优化僵化目标</a:t>
                </a:r>
                <a:endPara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endParaRPr>
              </a:p>
            </p:txBody>
          </p:sp>
        </p:grpSp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23130" y="3631725"/>
              <a:ext cx="514593" cy="514593"/>
            </a:xfrm>
            <a:prstGeom prst="rect">
              <a:avLst/>
            </a:prstGeom>
          </p:spPr>
        </p:pic>
      </p:grpSp>
      <p:sp>
        <p:nvSpPr>
          <p:cNvPr id="73" name="矩形 72"/>
          <p:cNvSpPr/>
          <p:nvPr/>
        </p:nvSpPr>
        <p:spPr>
          <a:xfrm>
            <a:off x="1038809" y="5656438"/>
            <a:ext cx="2690503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角色行动严格遵循</a:t>
            </a:r>
            <a:r>
              <a:rPr lang="en-US" altLang="zh-CN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技术规则</a:t>
            </a:r>
            <a:r>
              <a:rPr lang="en-US" altLang="zh-CN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，无法产生突破性战术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030037" y="5197360"/>
            <a:ext cx="2786716" cy="514594"/>
            <a:chOff x="1014358" y="4981588"/>
            <a:chExt cx="2786716" cy="514594"/>
          </a:xfrm>
        </p:grpSpPr>
        <p:grpSp>
          <p:nvGrpSpPr>
            <p:cNvPr id="74" name="组合 73"/>
            <p:cNvGrpSpPr/>
            <p:nvPr>
              <p:custDataLst>
                <p:tags r:id="rId14"/>
              </p:custDataLst>
            </p:nvPr>
          </p:nvGrpSpPr>
          <p:grpSpPr>
            <a:xfrm>
              <a:off x="1203303" y="5014541"/>
              <a:ext cx="2597771" cy="433991"/>
              <a:chOff x="3515911" y="253126"/>
              <a:chExt cx="4926319" cy="537516"/>
            </a:xfrm>
          </p:grpSpPr>
          <p:sp>
            <p:nvSpPr>
              <p:cNvPr id="75" name="矩形 74"/>
              <p:cNvSpPr/>
              <p:nvPr>
                <p:custDataLst>
                  <p:tags r:id="rId15"/>
                </p:custDataLst>
              </p:nvPr>
            </p:nvSpPr>
            <p:spPr>
              <a:xfrm>
                <a:off x="3515911" y="253126"/>
                <a:ext cx="4926319" cy="537516"/>
              </a:xfrm>
              <a:prstGeom prst="rect">
                <a:avLst/>
              </a:prstGeom>
              <a:gradFill flip="none" rotWithShape="1">
                <a:gsLst>
                  <a:gs pos="92000">
                    <a:srgbClr val="84B3FA"/>
                  </a:gs>
                  <a:gs pos="0">
                    <a:srgbClr val="1B5AB4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文本框 7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4204352" y="303807"/>
                <a:ext cx="2684819" cy="419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3398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策略创新瓶颈</a:t>
                </a:r>
                <a:endPara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endParaRPr>
              </a:p>
            </p:txBody>
          </p:sp>
        </p:grpSp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14358" y="4981588"/>
              <a:ext cx="532137" cy="514594"/>
            </a:xfrm>
            <a:prstGeom prst="rect">
              <a:avLst/>
            </a:prstGeom>
          </p:spPr>
        </p:pic>
      </p:grpSp>
      <p:sp>
        <p:nvSpPr>
          <p:cNvPr id="85" name="矩形: 圆角 82"/>
          <p:cNvSpPr/>
          <p:nvPr>
            <p:custDataLst>
              <p:tags r:id="rId18"/>
            </p:custDataLst>
          </p:nvPr>
        </p:nvSpPr>
        <p:spPr>
          <a:xfrm>
            <a:off x="5015937" y="2131014"/>
            <a:ext cx="3342424" cy="503057"/>
          </a:xfrm>
          <a:prstGeom prst="roundRect">
            <a:avLst>
              <a:gd name="adj" fmla="val 12377"/>
            </a:avLst>
          </a:prstGeom>
          <a:gradFill flip="none" rotWithShape="1">
            <a:gsLst>
              <a:gs pos="0">
                <a:srgbClr val="0C73C5">
                  <a:lumMod val="40000"/>
                  <a:lumOff val="60000"/>
                  <a:alpha val="0"/>
                </a:srgbClr>
              </a:gs>
              <a:gs pos="100000">
                <a:srgbClr val="0C73C5">
                  <a:lumMod val="40000"/>
                  <a:lumOff val="60000"/>
                </a:srgb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miter lim="800000"/>
          </a:ln>
          <a:effectLst/>
        </p:spPr>
        <p:txBody>
          <a:bodyPr wrap="none" lIns="89035" tIns="44517" rIns="89035" bIns="44517" rtlCol="0" anchor="ctr"/>
          <a:lstStyle/>
          <a:p>
            <a:pPr lvl="0" algn="ctr"/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基于启发式算法模拟</a:t>
            </a:r>
            <a:endParaRPr lang="zh-CN" altLang="en-US" kern="0" dirty="0">
              <a:solidFill>
                <a:srgbClr val="130C0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5312296" y="3279647"/>
            <a:ext cx="2777944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生成的博弈树深度有限，无法覆盖赛事全过程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组合 87"/>
          <p:cNvGrpSpPr/>
          <p:nvPr>
            <p:custDataLst>
              <p:tags r:id="rId19"/>
            </p:custDataLst>
          </p:nvPr>
        </p:nvGrpSpPr>
        <p:grpSpPr>
          <a:xfrm>
            <a:off x="5483697" y="2844266"/>
            <a:ext cx="2597771" cy="433991"/>
            <a:chOff x="3515911" y="253126"/>
            <a:chExt cx="4926319" cy="537516"/>
          </a:xfrm>
        </p:grpSpPr>
        <p:sp>
          <p:nvSpPr>
            <p:cNvPr id="90" name="矩形 89"/>
            <p:cNvSpPr/>
            <p:nvPr>
              <p:custDataLst>
                <p:tags r:id="rId20"/>
              </p:custDataLst>
            </p:nvPr>
          </p:nvSpPr>
          <p:spPr>
            <a:xfrm>
              <a:off x="3515911" y="253126"/>
              <a:ext cx="4926319" cy="537516"/>
            </a:xfrm>
            <a:prstGeom prst="rect">
              <a:avLst/>
            </a:prstGeom>
            <a:gradFill flip="none" rotWithShape="1">
              <a:gsLst>
                <a:gs pos="92000">
                  <a:srgbClr val="84B3FA"/>
                </a:gs>
                <a:gs pos="0">
                  <a:srgbClr val="1B5AB4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u="none" strike="noStrike" kern="1200" cap="none" spc="0" normalizeH="0" baseline="0" noProof="0" dirty="0">
                <a:ln>
                  <a:noFill/>
                </a:ln>
                <a:solidFill>
                  <a:srgbClr val="13398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文本框 90"/>
            <p:cNvSpPr txBox="1"/>
            <p:nvPr>
              <p:custDataLst>
                <p:tags r:id="rId21"/>
              </p:custDataLst>
            </p:nvPr>
          </p:nvSpPr>
          <p:spPr>
            <a:xfrm>
              <a:off x="4204352" y="303807"/>
              <a:ext cx="2684819" cy="4193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rPr>
                <a:t>博弈深度局限</a:t>
              </a:r>
              <a:endParaRPr kumimoji="0" lang="zh-CN" alt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3398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演示流云楷" panose="02000600000000000000" pitchFamily="2" charset="-122"/>
              </a:endParaRPr>
            </a:p>
          </p:txBody>
        </p:sp>
      </p:grpSp>
      <p:sp>
        <p:nvSpPr>
          <p:cNvPr id="92" name="矩形 91"/>
          <p:cNvSpPr/>
          <p:nvPr/>
        </p:nvSpPr>
        <p:spPr>
          <a:xfrm>
            <a:off x="5312296" y="4461497"/>
            <a:ext cx="2690503" cy="60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在单一地图训练的策略模型无法直接应用于新的地图跑道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5303524" y="3994879"/>
            <a:ext cx="2777943" cy="514593"/>
            <a:chOff x="1023130" y="3631725"/>
            <a:chExt cx="2777943" cy="514593"/>
          </a:xfrm>
        </p:grpSpPr>
        <p:grpSp>
          <p:nvGrpSpPr>
            <p:cNvPr id="94" name="组合 93"/>
            <p:cNvGrpSpPr/>
            <p:nvPr>
              <p:custDataLst>
                <p:tags r:id="rId22"/>
              </p:custDataLst>
            </p:nvPr>
          </p:nvGrpSpPr>
          <p:grpSpPr>
            <a:xfrm>
              <a:off x="1203302" y="3664611"/>
              <a:ext cx="2597771" cy="433991"/>
              <a:chOff x="3497013" y="224959"/>
              <a:chExt cx="4890523" cy="537516"/>
            </a:xfrm>
          </p:grpSpPr>
          <p:sp>
            <p:nvSpPr>
              <p:cNvPr id="96" name="矩形 95"/>
              <p:cNvSpPr/>
              <p:nvPr>
                <p:custDataLst>
                  <p:tags r:id="rId23"/>
                </p:custDataLst>
              </p:nvPr>
            </p:nvSpPr>
            <p:spPr>
              <a:xfrm>
                <a:off x="3497013" y="224959"/>
                <a:ext cx="4890523" cy="537516"/>
              </a:xfrm>
              <a:prstGeom prst="rect">
                <a:avLst/>
              </a:prstGeom>
              <a:gradFill flip="none" rotWithShape="1">
                <a:gsLst>
                  <a:gs pos="92000">
                    <a:srgbClr val="84B3FA"/>
                  </a:gs>
                  <a:gs pos="0">
                    <a:srgbClr val="1B5AB4">
                      <a:alpha val="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文本框 96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4229314" y="284060"/>
                <a:ext cx="2665310" cy="419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3398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跨域迁移障碍</a:t>
                </a:r>
                <a:endPara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endParaRPr>
              </a:p>
            </p:txBody>
          </p:sp>
        </p:grpSp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23130" y="3631725"/>
              <a:ext cx="514593" cy="514593"/>
            </a:xfrm>
            <a:prstGeom prst="rect">
              <a:avLst/>
            </a:prstGeom>
          </p:spPr>
        </p:pic>
      </p:grpSp>
      <p:sp>
        <p:nvSpPr>
          <p:cNvPr id="98" name="矩形 97"/>
          <p:cNvSpPr/>
          <p:nvPr/>
        </p:nvSpPr>
        <p:spPr>
          <a:xfrm>
            <a:off x="5312296" y="5656438"/>
            <a:ext cx="2777944" cy="875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400" dirty="0">
                <a:solidFill>
                  <a:srgbClr val="4074E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强化学习训练的模型容易出现过拟合，在赛事中表现为易出现路径依赖</a:t>
            </a:r>
            <a:endParaRPr lang="zh-CN" altLang="en-US" sz="1400" dirty="0">
              <a:solidFill>
                <a:srgbClr val="4074E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5303524" y="5197360"/>
            <a:ext cx="2786716" cy="514594"/>
            <a:chOff x="1014358" y="4981588"/>
            <a:chExt cx="2786716" cy="514594"/>
          </a:xfrm>
        </p:grpSpPr>
        <p:grpSp>
          <p:nvGrpSpPr>
            <p:cNvPr id="100" name="组合 99"/>
            <p:cNvGrpSpPr/>
            <p:nvPr>
              <p:custDataLst>
                <p:tags r:id="rId25"/>
              </p:custDataLst>
            </p:nvPr>
          </p:nvGrpSpPr>
          <p:grpSpPr>
            <a:xfrm>
              <a:off x="1203303" y="5014541"/>
              <a:ext cx="2597771" cy="433991"/>
              <a:chOff x="3515911" y="253126"/>
              <a:chExt cx="4926319" cy="537516"/>
            </a:xfrm>
          </p:grpSpPr>
          <p:sp>
            <p:nvSpPr>
              <p:cNvPr id="102" name="矩形 101"/>
              <p:cNvSpPr/>
              <p:nvPr>
                <p:custDataLst>
                  <p:tags r:id="rId26"/>
                </p:custDataLst>
              </p:nvPr>
            </p:nvSpPr>
            <p:spPr>
              <a:xfrm>
                <a:off x="3515911" y="253126"/>
                <a:ext cx="4926319" cy="537516"/>
              </a:xfrm>
              <a:prstGeom prst="rect">
                <a:avLst/>
              </a:prstGeom>
              <a:gradFill flip="none" rotWithShape="1">
                <a:gsLst>
                  <a:gs pos="92000">
                    <a:srgbClr val="84B3FA"/>
                  </a:gs>
                  <a:gs pos="0">
                    <a:srgbClr val="1B5AB4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文本框 102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4204352" y="303807"/>
                <a:ext cx="2684819" cy="419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13398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演示流云楷" panose="02000600000000000000" pitchFamily="2" charset="-122"/>
                  </a:rPr>
                  <a:t>认知偏差固化</a:t>
                </a:r>
                <a:endParaRPr kumimoji="0" lang="zh-CN" altLang="en-US" sz="1600" b="1" u="none" strike="noStrike" kern="1200" cap="none" spc="0" normalizeH="0" baseline="0" noProof="0" dirty="0">
                  <a:ln>
                    <a:noFill/>
                  </a:ln>
                  <a:solidFill>
                    <a:srgbClr val="13398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演示流云楷" panose="02000600000000000000" pitchFamily="2" charset="-122"/>
                </a:endParaRPr>
              </a:p>
            </p:txBody>
          </p:sp>
        </p:grpSp>
        <p:pic>
          <p:nvPicPr>
            <p:cNvPr id="101" name="图片 1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14358" y="4981588"/>
              <a:ext cx="532137" cy="514594"/>
            </a:xfrm>
            <a:prstGeom prst="rect">
              <a:avLst/>
            </a:prstGeom>
          </p:spPr>
        </p:pic>
      </p:grpSp>
      <p:pic>
        <p:nvPicPr>
          <p:cNvPr id="104" name="图片 10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99350" y="2799794"/>
            <a:ext cx="543206" cy="543206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303523" y="3989262"/>
            <a:ext cx="524619" cy="524619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07783" y="5187971"/>
            <a:ext cx="527877" cy="527877"/>
          </a:xfrm>
          <a:prstGeom prst="rect">
            <a:avLst/>
          </a:prstGeom>
        </p:spPr>
      </p:pic>
      <p:sp>
        <p:nvSpPr>
          <p:cNvPr id="107" name="任意多边形: 形状 17"/>
          <p:cNvSpPr/>
          <p:nvPr/>
        </p:nvSpPr>
        <p:spPr bwMode="auto">
          <a:xfrm flipV="1">
            <a:off x="4275041" y="3708179"/>
            <a:ext cx="471864" cy="1073161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>
            <a:gsLst>
              <a:gs pos="100000">
                <a:srgbClr val="BCD0FA"/>
              </a:gs>
              <a:gs pos="3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3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09" name="任意多边形: 形状 17"/>
          <p:cNvSpPr/>
          <p:nvPr/>
        </p:nvSpPr>
        <p:spPr bwMode="auto">
          <a:xfrm flipV="1">
            <a:off x="8786654" y="3708178"/>
            <a:ext cx="740276" cy="1073161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>
            <a:gsLst>
              <a:gs pos="100000">
                <a:srgbClr val="BCD0FA"/>
              </a:gs>
              <a:gs pos="3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3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10" name="矩形: 圆角 18"/>
          <p:cNvSpPr/>
          <p:nvPr/>
        </p:nvSpPr>
        <p:spPr>
          <a:xfrm>
            <a:off x="4026080" y="1840920"/>
            <a:ext cx="1103784" cy="430624"/>
          </a:xfrm>
          <a:prstGeom prst="roundRect">
            <a:avLst>
              <a:gd name="adj" fmla="val 12329"/>
            </a:avLst>
          </a:prstGeom>
          <a:gradFill flip="none" rotWithShape="1">
            <a:gsLst>
              <a:gs pos="13000">
                <a:schemeClr val="bg2">
                  <a:lumMod val="75000"/>
                </a:schemeClr>
              </a:gs>
              <a:gs pos="55000">
                <a:schemeClr val="bg2">
                  <a:lumMod val="50000"/>
                </a:schemeClr>
              </a:gs>
              <a:gs pos="100000">
                <a:srgbClr val="3E444D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gradFill flip="none" rotWithShape="1">
              <a:gsLst>
                <a:gs pos="0">
                  <a:srgbClr val="FFFFFF"/>
                </a:gs>
                <a:gs pos="55500">
                  <a:srgbClr val="FFFFFF">
                    <a:alpha val="4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190500" dist="25400" dir="5400000" sx="90000" sy="90000" algn="t" rotWithShape="0">
              <a:srgbClr val="1F92EE">
                <a:lumMod val="60000"/>
                <a:lumOff val="40000"/>
                <a:alpha val="42000"/>
              </a:srgbClr>
            </a:outerShdw>
          </a:effectLst>
        </p:spPr>
        <p:txBody>
          <a:bodyPr wrap="none" lIns="0" tIns="0" rIns="0" bIns="0" rtlCol="0" anchor="ctr"/>
          <a:lstStyle/>
          <a:p>
            <a:pPr lvl="0" algn="ctr"/>
            <a:r>
              <a:rPr lang="zh-CN" altLang="en-US" sz="1600" b="1" kern="0" spc="6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现状</a:t>
            </a:r>
            <a:endParaRPr lang="zh-CN" altLang="en-US" sz="1600" b="1" kern="0" spc="6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矩形: 圆角 18"/>
          <p:cNvSpPr/>
          <p:nvPr/>
        </p:nvSpPr>
        <p:spPr>
          <a:xfrm>
            <a:off x="9690719" y="1840920"/>
            <a:ext cx="1103784" cy="430624"/>
          </a:xfrm>
          <a:prstGeom prst="roundRect">
            <a:avLst>
              <a:gd name="adj" fmla="val 12329"/>
            </a:avLst>
          </a:prstGeom>
          <a:gradFill flip="none" rotWithShape="1">
            <a:gsLst>
              <a:gs pos="13000">
                <a:srgbClr val="1F92EE">
                  <a:lumMod val="40000"/>
                  <a:lumOff val="60000"/>
                </a:srgbClr>
              </a:gs>
              <a:gs pos="55000">
                <a:srgbClr val="1F92EE">
                  <a:lumMod val="60000"/>
                  <a:lumOff val="40000"/>
                </a:srgbClr>
              </a:gs>
              <a:gs pos="100000">
                <a:srgbClr val="4174E2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gradFill flip="none" rotWithShape="1">
              <a:gsLst>
                <a:gs pos="0">
                  <a:srgbClr val="FFFFFF"/>
                </a:gs>
                <a:gs pos="55500">
                  <a:srgbClr val="FFFFFF">
                    <a:alpha val="4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190500" dist="25400" dir="5400000" sx="90000" sy="90000" algn="t" rotWithShape="0">
              <a:srgbClr val="1F92EE">
                <a:lumMod val="60000"/>
                <a:lumOff val="40000"/>
                <a:alpha val="42000"/>
              </a:srgbClr>
            </a:outerShdw>
          </a:effectLst>
        </p:spPr>
        <p:txBody>
          <a:bodyPr wrap="none" lIns="0" tIns="0" rIns="0" bIns="0" rtlCol="0" anchor="ctr"/>
          <a:lstStyle/>
          <a:p>
            <a:pPr lvl="0" algn="ctr"/>
            <a:r>
              <a:rPr lang="zh-CN" altLang="en-US" sz="1600" b="1" kern="0" spc="6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未来</a:t>
            </a:r>
            <a:endParaRPr lang="zh-CN" altLang="en-US" sz="1600" b="1" kern="0" spc="6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: 圆角 18"/>
          <p:cNvSpPr/>
          <p:nvPr/>
        </p:nvSpPr>
        <p:spPr>
          <a:xfrm flipH="1">
            <a:off x="9765387" y="2547690"/>
            <a:ext cx="954449" cy="3687563"/>
          </a:xfrm>
          <a:prstGeom prst="roundRect">
            <a:avLst>
              <a:gd name="adj" fmla="val 12329"/>
            </a:avLst>
          </a:prstGeom>
          <a:gradFill flip="none" rotWithShape="1">
            <a:gsLst>
              <a:gs pos="13000">
                <a:srgbClr val="1F92EE">
                  <a:lumMod val="82000"/>
                  <a:lumOff val="18000"/>
                </a:srgbClr>
              </a:gs>
              <a:gs pos="41000">
                <a:srgbClr val="082159">
                  <a:lumMod val="43000"/>
                  <a:lumOff val="57000"/>
                </a:srgbClr>
              </a:gs>
              <a:gs pos="100000">
                <a:srgbClr val="082159"/>
              </a:gs>
            </a:gsLst>
            <a:path path="circle">
              <a:fillToRect r="100000" b="100000"/>
            </a:path>
            <a:tileRect l="-100000" t="-100000"/>
          </a:gradFill>
          <a:ln w="19050" cap="flat" cmpd="sng" algn="ctr">
            <a:gradFill flip="none" rotWithShape="1">
              <a:gsLst>
                <a:gs pos="0">
                  <a:srgbClr val="FFFFFF"/>
                </a:gs>
                <a:gs pos="55500">
                  <a:srgbClr val="FFFFFF">
                    <a:alpha val="4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none" lIns="0" tIns="0" rIns="0" bIns="0" rtlCol="0" anchor="ctr"/>
          <a:lstStyle/>
          <a:p>
            <a:pPr lvl="0" algn="ctr"/>
            <a:r>
              <a:rPr lang="zh-CN" altLang="en-US" sz="2800" b="1" kern="0" spc="3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多智能体智能决策</a:t>
            </a:r>
            <a:endParaRPr lang="zh-CN" altLang="en-US" sz="2800" b="1" kern="0" spc="300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9221904" y="1945303"/>
            <a:ext cx="301274" cy="173533"/>
            <a:chOff x="8714277" y="4354519"/>
            <a:chExt cx="230368" cy="132691"/>
          </a:xfrm>
          <a:gradFill flip="none" rotWithShape="1">
            <a:gsLst>
              <a:gs pos="0">
                <a:srgbClr val="4174E2"/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0800000" scaled="1"/>
            <a:tileRect/>
          </a:gradFill>
        </p:grpSpPr>
        <p:sp>
          <p:nvSpPr>
            <p:cNvPr id="117" name="箭头: V 形 268"/>
            <p:cNvSpPr/>
            <p:nvPr/>
          </p:nvSpPr>
          <p:spPr>
            <a:xfrm>
              <a:off x="8817482" y="4360048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118" name="箭头: V 形 269"/>
            <p:cNvSpPr/>
            <p:nvPr/>
          </p:nvSpPr>
          <p:spPr>
            <a:xfrm>
              <a:off x="8714277" y="4354519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10913057" y="1968863"/>
            <a:ext cx="301274" cy="173533"/>
            <a:chOff x="8714277" y="4354519"/>
            <a:chExt cx="230368" cy="132691"/>
          </a:xfrm>
          <a:gradFill flip="none" rotWithShape="1">
            <a:gsLst>
              <a:gs pos="0">
                <a:srgbClr val="4174E2"/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0800000" scaled="1"/>
            <a:tileRect/>
          </a:gradFill>
        </p:grpSpPr>
        <p:sp>
          <p:nvSpPr>
            <p:cNvPr id="126" name="箭头: V 形 268"/>
            <p:cNvSpPr/>
            <p:nvPr/>
          </p:nvSpPr>
          <p:spPr>
            <a:xfrm>
              <a:off x="8817482" y="4360048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127" name="箭头: V 形 269"/>
            <p:cNvSpPr/>
            <p:nvPr/>
          </p:nvSpPr>
          <p:spPr>
            <a:xfrm>
              <a:off x="8714277" y="4354519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3574506" y="1921660"/>
            <a:ext cx="301274" cy="173533"/>
            <a:chOff x="8714277" y="4354519"/>
            <a:chExt cx="230368" cy="132691"/>
          </a:xfrm>
          <a:gradFill flip="none" rotWithShape="1"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</p:grpSpPr>
        <p:sp>
          <p:nvSpPr>
            <p:cNvPr id="129" name="箭头: V 形 268"/>
            <p:cNvSpPr/>
            <p:nvPr/>
          </p:nvSpPr>
          <p:spPr>
            <a:xfrm>
              <a:off x="8817482" y="4360048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130" name="箭头: V 形 269"/>
            <p:cNvSpPr/>
            <p:nvPr/>
          </p:nvSpPr>
          <p:spPr>
            <a:xfrm>
              <a:off x="8714277" y="4354519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5280164" y="1927704"/>
            <a:ext cx="301274" cy="173533"/>
            <a:chOff x="8714277" y="4354519"/>
            <a:chExt cx="230368" cy="132691"/>
          </a:xfrm>
          <a:gradFill flip="none" rotWithShape="1"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99000"/>
                </a:schemeClr>
              </a:gs>
            </a:gsLst>
            <a:lin ang="10800000" scaled="1"/>
            <a:tileRect/>
          </a:gradFill>
        </p:grpSpPr>
        <p:sp>
          <p:nvSpPr>
            <p:cNvPr id="138" name="箭头: V 形 268"/>
            <p:cNvSpPr/>
            <p:nvPr/>
          </p:nvSpPr>
          <p:spPr>
            <a:xfrm>
              <a:off x="8817482" y="4360048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  <p:sp>
          <p:nvSpPr>
            <p:cNvPr id="139" name="箭头: V 形 269"/>
            <p:cNvSpPr/>
            <p:nvPr/>
          </p:nvSpPr>
          <p:spPr>
            <a:xfrm>
              <a:off x="8714277" y="4354519"/>
              <a:ext cx="127163" cy="127162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30C0B"/>
                </a:solidFill>
                <a:effectLst/>
                <a:uLnTx/>
                <a:uFillTx/>
                <a:latin typeface="思源黑体 CN Normal"/>
                <a:ea typeface="思源黑体 CN Normal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92241"/>
            <a:ext cx="10901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未来趋势：多</a:t>
            </a:r>
            <a:r>
              <a:rPr lang="en-GB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</a:t>
            </a:r>
            <a:r>
              <a:rPr lang="en-US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沉浸交互，重塑赛事模拟新生态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0213" y="5153319"/>
            <a:ext cx="11814629" cy="1356615"/>
            <a:chOff x="340728" y="6063000"/>
            <a:chExt cx="2836029" cy="497561"/>
          </a:xfrm>
        </p:grpSpPr>
        <p:sp>
          <p:nvSpPr>
            <p:cNvPr id="6" name="矩形 5"/>
            <p:cNvSpPr/>
            <p:nvPr/>
          </p:nvSpPr>
          <p:spPr>
            <a:xfrm>
              <a:off x="340728" y="6194782"/>
              <a:ext cx="2836029" cy="365779"/>
            </a:xfrm>
            <a:prstGeom prst="rect">
              <a:avLst/>
            </a:prstGeom>
            <a:gradFill>
              <a:gsLst>
                <a:gs pos="0">
                  <a:srgbClr val="1F92EE">
                    <a:lumMod val="37000"/>
                    <a:lumOff val="63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" name="梯形 6"/>
            <p:cNvSpPr/>
            <p:nvPr/>
          </p:nvSpPr>
          <p:spPr>
            <a:xfrm>
              <a:off x="340728" y="6063000"/>
              <a:ext cx="2836029" cy="138404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6" name="任意多边形: 形状 120"/>
          <p:cNvSpPr/>
          <p:nvPr/>
        </p:nvSpPr>
        <p:spPr bwMode="auto">
          <a:xfrm rot="5400000" flipV="1">
            <a:off x="2090165" y="4751503"/>
            <a:ext cx="551462" cy="1265497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4174E2">
                  <a:lumMod val="60000"/>
                </a:srgbClr>
              </a:gs>
              <a:gs pos="100000">
                <a:srgbClr val="D4EAFC">
                  <a:alpha val="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6534" y="1349567"/>
            <a:ext cx="3384484" cy="3906033"/>
          </a:xfrm>
          <a:prstGeom prst="rect">
            <a:avLst/>
          </a:prstGeom>
          <a:gradFill flip="none" rotWithShape="1">
            <a:gsLst>
              <a:gs pos="0">
                <a:srgbClr val="1F92EE">
                  <a:lumMod val="20000"/>
                  <a:lumOff val="80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rnd" cmpd="sng" algn="ctr">
            <a:noFill/>
            <a:prstDash val="solid"/>
            <a:round/>
          </a:ln>
          <a:effectLst/>
        </p:spPr>
        <p:txBody>
          <a:bodyPr lIns="95098" tIns="47549" rIns="95098" bIns="47549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01638" y="5676122"/>
            <a:ext cx="691803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技术革新将助力</a:t>
            </a:r>
            <a:r>
              <a:rPr lang="zh-CN" altLang="en-US" sz="2000" b="1" kern="0" dirty="0">
                <a:solidFill>
                  <a:srgbClr val="1339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赛事体验、电竞生态、教育培训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等领域跨界催生新商业模式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52"/>
          <p:cNvSpPr/>
          <p:nvPr/>
        </p:nvSpPr>
        <p:spPr>
          <a:xfrm>
            <a:off x="968850" y="1092092"/>
            <a:ext cx="2898308" cy="46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174E2">
                  <a:lumMod val="48000"/>
                  <a:lumOff val="52000"/>
                </a:srgbClr>
              </a:gs>
              <a:gs pos="100000">
                <a:srgbClr val="1F92EE">
                  <a:lumMod val="20000"/>
                  <a:lumOff val="8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zh-CN" sz="1600" b="1" kern="0" dirty="0">
                <a:solidFill>
                  <a:srgbClr val="1F92EE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技术革新推动行业升级</a:t>
            </a:r>
            <a:endParaRPr lang="zh-CN" altLang="zh-CN" sz="1600" b="1" kern="0" dirty="0">
              <a:solidFill>
                <a:srgbClr val="1F92EE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: 形状 120"/>
          <p:cNvSpPr/>
          <p:nvPr/>
        </p:nvSpPr>
        <p:spPr bwMode="auto">
          <a:xfrm rot="5400000" flipV="1">
            <a:off x="9701471" y="4751503"/>
            <a:ext cx="551462" cy="1265497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4174E2">
                  <a:lumMod val="60000"/>
                </a:srgbClr>
              </a:gs>
              <a:gs pos="100000">
                <a:srgbClr val="D4EAFC">
                  <a:alpha val="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03533" y="1682161"/>
            <a:ext cx="3106649" cy="1947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：模拟多方角色动态博弈，突破单一决策逻辑，成为游戏与科研领域新趋势。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buSzPts val="1000"/>
              <a:tabLst>
                <a:tab pos="914400" algn="l"/>
              </a:tabLst>
            </a:pP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数字孪生与实时数据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：通过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服务器联动真实数据（天气、赛道状态），打造动态虚拟环境。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: 形状 120"/>
          <p:cNvSpPr/>
          <p:nvPr/>
        </p:nvSpPr>
        <p:spPr bwMode="auto">
          <a:xfrm rot="5400000" flipV="1">
            <a:off x="5884925" y="4785166"/>
            <a:ext cx="551462" cy="1265497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1">
            <a:gsLst>
              <a:gs pos="0">
                <a:srgbClr val="4174E2">
                  <a:lumMod val="60000"/>
                </a:srgbClr>
              </a:gs>
              <a:gs pos="100000">
                <a:srgbClr val="D4EAFC">
                  <a:alpha val="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56663" y="1349567"/>
            <a:ext cx="3429771" cy="3906033"/>
          </a:xfrm>
          <a:prstGeom prst="rect">
            <a:avLst/>
          </a:prstGeom>
          <a:gradFill flip="none" rotWithShape="1">
            <a:gsLst>
              <a:gs pos="0">
                <a:srgbClr val="1F92EE">
                  <a:lumMod val="20000"/>
                  <a:lumOff val="80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rnd" cmpd="sng" algn="ctr">
            <a:noFill/>
            <a:prstDash val="solid"/>
            <a:round/>
          </a:ln>
          <a:effectLst/>
        </p:spPr>
        <p:txBody>
          <a:bodyPr lIns="95098" tIns="47549" rIns="95098" bIns="47549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4" name="矩形: 圆角 52"/>
          <p:cNvSpPr/>
          <p:nvPr/>
        </p:nvSpPr>
        <p:spPr>
          <a:xfrm>
            <a:off x="4467592" y="1092092"/>
            <a:ext cx="3337589" cy="46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174E2">
                  <a:lumMod val="48000"/>
                  <a:lumOff val="52000"/>
                </a:srgbClr>
              </a:gs>
              <a:gs pos="100000">
                <a:srgbClr val="1F92EE">
                  <a:lumMod val="20000"/>
                  <a:lumOff val="8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lvl="0" algn="ctr">
              <a:spcAft>
                <a:spcPts val="300"/>
              </a:spcAft>
              <a:tabLst>
                <a:tab pos="457200" algn="l"/>
              </a:tabLst>
            </a:pPr>
            <a:r>
              <a:rPr lang="zh-CN" altLang="en-US" sz="1600" b="1" kern="0" dirty="0">
                <a:solidFill>
                  <a:srgbClr val="1F92EE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zh-CN" altLang="zh-CN" sz="1600" b="1" kern="0" dirty="0">
                <a:solidFill>
                  <a:srgbClr val="1F92EE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游戏行业增长与细分</a:t>
            </a:r>
            <a:endParaRPr lang="zh-CN" altLang="zh-CN" sz="1600" b="1" kern="0" dirty="0">
              <a:solidFill>
                <a:srgbClr val="1F92EE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64871" y="1683645"/>
            <a:ext cx="3231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模拟游戏市场扩张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赛车模拟市场规模预计将从 2024 年的25.1亿美元增长到2032年的52.5亿美元，预测期内市场复合年增长率预计约为9.68%。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F1 IP</a:t>
            </a: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衍生价值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：授权合作、虚拟赛事、品牌联动成为盈利增长点。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buFont typeface="Wingdings" panose="05000000000000000000" pitchFamily="2" charset="2"/>
              <a:buChar char="p"/>
            </a:pPr>
            <a:endParaRPr lang="zh-CN" altLang="zh-CN" dirty="0">
              <a:effectLst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22079" y="1329963"/>
            <a:ext cx="3460824" cy="3906033"/>
          </a:xfrm>
          <a:prstGeom prst="rect">
            <a:avLst/>
          </a:prstGeom>
          <a:gradFill flip="none" rotWithShape="1">
            <a:gsLst>
              <a:gs pos="0">
                <a:srgbClr val="1F92EE">
                  <a:lumMod val="20000"/>
                  <a:lumOff val="80000"/>
                </a:srgbClr>
              </a:gs>
              <a:gs pos="100000">
                <a:srgbClr val="1F92EE">
                  <a:lumMod val="20000"/>
                  <a:lumOff val="80000"/>
                  <a:alpha val="0"/>
                </a:srgbClr>
              </a:gs>
            </a:gsLst>
            <a:lin ang="16200000" scaled="1"/>
            <a:tileRect/>
          </a:gradFill>
          <a:ln w="12700" cap="rnd" cmpd="sng" algn="ctr">
            <a:noFill/>
            <a:prstDash val="solid"/>
            <a:round/>
          </a:ln>
          <a:effectLst/>
        </p:spPr>
        <p:txBody>
          <a:bodyPr lIns="95098" tIns="47549" rIns="95098" bIns="47549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17" name="矩形: 圆角 52"/>
          <p:cNvSpPr/>
          <p:nvPr/>
        </p:nvSpPr>
        <p:spPr>
          <a:xfrm>
            <a:off x="8368652" y="1092092"/>
            <a:ext cx="3337589" cy="46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174E2">
                  <a:lumMod val="48000"/>
                  <a:lumOff val="52000"/>
                </a:srgbClr>
              </a:gs>
              <a:gs pos="100000">
                <a:srgbClr val="1F92EE">
                  <a:lumMod val="20000"/>
                  <a:lumOff val="80000"/>
                </a:srgb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r>
              <a:rPr lang="zh-CN" altLang="zh-CN" sz="1600" b="1" kern="0" dirty="0">
                <a:solidFill>
                  <a:srgbClr val="1F92EE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沉浸式体验需求爆发</a:t>
            </a:r>
            <a:endParaRPr lang="zh-CN" altLang="zh-CN" sz="1600" b="1" kern="0" dirty="0">
              <a:solidFill>
                <a:srgbClr val="1F92EE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289730" y="1715438"/>
            <a:ext cx="3528818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多模态交互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：支持语音、手势、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VR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设备，覆盖策略室讨论、赛中决策、赛后复盘全流程。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just">
              <a:buSzPts val="1000"/>
              <a:tabLst>
                <a:tab pos="914400" algn="l"/>
              </a:tabLst>
            </a:pP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-285750" algn="just"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zh-CN" altLang="zh-CN" sz="1600" b="1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跨界应用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：从娱乐扩展至教育（赛事管理教学）、科研（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伦理研究）、企业培训（团队协作）。</a:t>
            </a:r>
            <a:endParaRPr lang="zh-CN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 descr="追风逐电！iGame赛车模拟器线下体验赛招募开启（全文）_七彩虹 iGame GeForce RTX 3090 Vulcan OC_游戏硬件 ...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2"/>
          <a:stretch>
            <a:fillRect/>
          </a:stretch>
        </p:blipFill>
        <p:spPr bwMode="auto">
          <a:xfrm>
            <a:off x="4973898" y="3521421"/>
            <a:ext cx="2545200" cy="15986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汽车虚拟仿真如何让汽车自动驾驶测试更高效？ - 3DCAT实时渲染云平台 - 博客园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2"/>
          <a:stretch>
            <a:fillRect/>
          </a:stretch>
        </p:blipFill>
        <p:spPr bwMode="auto">
          <a:xfrm>
            <a:off x="8643268" y="3509868"/>
            <a:ext cx="2544799" cy="1598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16" y="3534733"/>
            <a:ext cx="2877120" cy="15984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主要流程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11112"/>
            <a:ext cx="8638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流程展示</a:t>
            </a:r>
            <a:r>
              <a:rPr lang="en-US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以</a:t>
            </a:r>
            <a:r>
              <a:rPr lang="en-US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2021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年阿布扎比大奖赛为例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4" name="矩形 53"/>
          <p:cNvSpPr/>
          <p:nvPr/>
        </p:nvSpPr>
        <p:spPr bwMode="auto">
          <a:xfrm>
            <a:off x="2039162" y="841222"/>
            <a:ext cx="9423909" cy="531498"/>
          </a:xfrm>
          <a:prstGeom prst="rect">
            <a:avLst/>
          </a:prstGeom>
          <a:gradFill>
            <a:gsLst>
              <a:gs pos="50000">
                <a:srgbClr val="4074E3"/>
              </a:gs>
              <a:gs pos="0">
                <a:srgbClr val="133988"/>
              </a:gs>
              <a:gs pos="100000">
                <a:srgbClr val="6AA8EA"/>
              </a:gs>
            </a:gsLst>
            <a:lin ang="5400000" scaled="1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5" name="矩形 56"/>
          <p:cNvSpPr/>
          <p:nvPr/>
        </p:nvSpPr>
        <p:spPr>
          <a:xfrm>
            <a:off x="2214653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00100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赛前采访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6" name="矩形 78"/>
          <p:cNvSpPr/>
          <p:nvPr/>
        </p:nvSpPr>
        <p:spPr bwMode="auto">
          <a:xfrm>
            <a:off x="757247" y="3154204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7" name="矩形 60"/>
          <p:cNvSpPr/>
          <p:nvPr/>
        </p:nvSpPr>
        <p:spPr bwMode="auto">
          <a:xfrm>
            <a:off x="757247" y="1436338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8" name="矩形 61"/>
          <p:cNvSpPr/>
          <p:nvPr/>
        </p:nvSpPr>
        <p:spPr>
          <a:xfrm>
            <a:off x="744104" y="144432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媒体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9" name="矩形 63"/>
          <p:cNvSpPr/>
          <p:nvPr/>
        </p:nvSpPr>
        <p:spPr bwMode="auto">
          <a:xfrm>
            <a:off x="757247" y="2295271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0" name="矩形 64"/>
          <p:cNvSpPr/>
          <p:nvPr/>
        </p:nvSpPr>
        <p:spPr>
          <a:xfrm>
            <a:off x="744104" y="2301257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策略师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1" name="矩形 67"/>
          <p:cNvSpPr/>
          <p:nvPr/>
        </p:nvSpPr>
        <p:spPr bwMode="auto">
          <a:xfrm>
            <a:off x="757247" y="4013137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2" name="矩形 68"/>
          <p:cNvSpPr/>
          <p:nvPr/>
        </p:nvSpPr>
        <p:spPr>
          <a:xfrm>
            <a:off x="744104" y="3158194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3" name="矩形 70"/>
          <p:cNvSpPr/>
          <p:nvPr/>
        </p:nvSpPr>
        <p:spPr bwMode="auto">
          <a:xfrm>
            <a:off x="757247" y="4872069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4" name="矩形 71"/>
          <p:cNvSpPr/>
          <p:nvPr/>
        </p:nvSpPr>
        <p:spPr>
          <a:xfrm>
            <a:off x="744102" y="4872069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主办方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5" name="矩形 79"/>
          <p:cNvSpPr/>
          <p:nvPr/>
        </p:nvSpPr>
        <p:spPr>
          <a:xfrm>
            <a:off x="744104" y="401513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车队工程师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6" name="矩形 55"/>
          <p:cNvSpPr/>
          <p:nvPr/>
        </p:nvSpPr>
        <p:spPr>
          <a:xfrm>
            <a:off x="5371216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正赛讨论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7" name="矩形 56"/>
          <p:cNvSpPr/>
          <p:nvPr/>
        </p:nvSpPr>
        <p:spPr>
          <a:xfrm>
            <a:off x="3795434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00100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练习赛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8" name="矩形 57"/>
          <p:cNvSpPr/>
          <p:nvPr/>
        </p:nvSpPr>
        <p:spPr>
          <a:xfrm>
            <a:off x="10098563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赛后总结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9" name="矩形 72"/>
          <p:cNvSpPr/>
          <p:nvPr/>
        </p:nvSpPr>
        <p:spPr>
          <a:xfrm>
            <a:off x="8522784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赛中事故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80" name="矩形 55"/>
          <p:cNvSpPr/>
          <p:nvPr/>
        </p:nvSpPr>
        <p:spPr>
          <a:xfrm>
            <a:off x="6946999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进站策略</a:t>
            </a:r>
            <a:endParaRPr lang="zh-CN" altLang="en-US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81" name="直接连接符 28"/>
          <p:cNvCxnSpPr/>
          <p:nvPr/>
        </p:nvCxnSpPr>
        <p:spPr>
          <a:xfrm flipV="1">
            <a:off x="2039162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2" name="直接连接符 28"/>
          <p:cNvCxnSpPr/>
          <p:nvPr/>
        </p:nvCxnSpPr>
        <p:spPr>
          <a:xfrm flipV="1">
            <a:off x="360981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3" name="直接连接符 28"/>
          <p:cNvCxnSpPr/>
          <p:nvPr/>
        </p:nvCxnSpPr>
        <p:spPr>
          <a:xfrm flipV="1">
            <a:off x="5180467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4" name="直接连接符 28"/>
          <p:cNvCxnSpPr/>
          <p:nvPr/>
        </p:nvCxnSpPr>
        <p:spPr>
          <a:xfrm flipV="1">
            <a:off x="676555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5" name="直接连接符 28"/>
          <p:cNvCxnSpPr/>
          <p:nvPr/>
        </p:nvCxnSpPr>
        <p:spPr>
          <a:xfrm flipV="1">
            <a:off x="832177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6" name="直接连接符 28"/>
          <p:cNvCxnSpPr/>
          <p:nvPr/>
        </p:nvCxnSpPr>
        <p:spPr>
          <a:xfrm flipV="1">
            <a:off x="9906861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87" name="直接连接符 28"/>
          <p:cNvCxnSpPr/>
          <p:nvPr/>
        </p:nvCxnSpPr>
        <p:spPr>
          <a:xfrm flipV="1">
            <a:off x="11465700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sp>
        <p:nvSpPr>
          <p:cNvPr id="88" name="矩形 70"/>
          <p:cNvSpPr/>
          <p:nvPr/>
        </p:nvSpPr>
        <p:spPr bwMode="auto">
          <a:xfrm>
            <a:off x="757239" y="5719783"/>
            <a:ext cx="10705832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89" name="矩形 71"/>
          <p:cNvSpPr/>
          <p:nvPr/>
        </p:nvSpPr>
        <p:spPr>
          <a:xfrm>
            <a:off x="744094" y="5719783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其他车手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90" name="直线箭头连接符 89"/>
          <p:cNvCxnSpPr>
            <a:stCxn id="107" idx="3"/>
            <a:endCxn id="109" idx="1"/>
          </p:cNvCxnSpPr>
          <p:nvPr/>
        </p:nvCxnSpPr>
        <p:spPr>
          <a:xfrm>
            <a:off x="3371480" y="3547223"/>
            <a:ext cx="396618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1" name="直线箭头连接符 90"/>
          <p:cNvCxnSpPr>
            <a:stCxn id="109" idx="2"/>
            <a:endCxn id="110" idx="0"/>
          </p:cNvCxnSpPr>
          <p:nvPr/>
        </p:nvCxnSpPr>
        <p:spPr>
          <a:xfrm>
            <a:off x="4367101" y="3876633"/>
            <a:ext cx="0" cy="204044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2" name="直线箭头连接符 91"/>
          <p:cNvCxnSpPr/>
          <p:nvPr/>
        </p:nvCxnSpPr>
        <p:spPr>
          <a:xfrm flipV="1">
            <a:off x="5858030" y="3023580"/>
            <a:ext cx="0" cy="105709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3" name="直线箭头连接符 92"/>
          <p:cNvCxnSpPr/>
          <p:nvPr/>
        </p:nvCxnSpPr>
        <p:spPr>
          <a:xfrm>
            <a:off x="6055993" y="3023580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4" name="直线箭头连接符 93"/>
          <p:cNvCxnSpPr>
            <a:stCxn id="110" idx="3"/>
            <a:endCxn id="113" idx="1"/>
          </p:cNvCxnSpPr>
          <p:nvPr/>
        </p:nvCxnSpPr>
        <p:spPr>
          <a:xfrm>
            <a:off x="4966104" y="4410088"/>
            <a:ext cx="396618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5" name="直线箭头连接符 94"/>
          <p:cNvCxnSpPr>
            <a:stCxn id="111" idx="3"/>
            <a:endCxn id="114" idx="1"/>
          </p:cNvCxnSpPr>
          <p:nvPr/>
        </p:nvCxnSpPr>
        <p:spPr>
          <a:xfrm>
            <a:off x="6560728" y="3547223"/>
            <a:ext cx="358976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6" name="直线箭头连接符 95"/>
          <p:cNvCxnSpPr>
            <a:stCxn id="114" idx="0"/>
            <a:endCxn id="115" idx="2"/>
          </p:cNvCxnSpPr>
          <p:nvPr/>
        </p:nvCxnSpPr>
        <p:spPr>
          <a:xfrm flipV="1">
            <a:off x="7518707" y="3023580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7" name="直线箭头连接符 96"/>
          <p:cNvCxnSpPr/>
          <p:nvPr/>
        </p:nvCxnSpPr>
        <p:spPr>
          <a:xfrm flipV="1">
            <a:off x="9028490" y="3023580"/>
            <a:ext cx="0" cy="276326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8" name="直线箭头连接符 97"/>
          <p:cNvCxnSpPr/>
          <p:nvPr/>
        </p:nvCxnSpPr>
        <p:spPr>
          <a:xfrm flipV="1">
            <a:off x="9194251" y="5603347"/>
            <a:ext cx="0" cy="18349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9" name="直线箭头连接符 98"/>
          <p:cNvCxnSpPr/>
          <p:nvPr/>
        </p:nvCxnSpPr>
        <p:spPr>
          <a:xfrm flipV="1">
            <a:off x="9194251" y="3023580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肘形连接符 99"/>
          <p:cNvCxnSpPr>
            <a:stCxn id="115" idx="3"/>
            <a:endCxn id="116" idx="1"/>
          </p:cNvCxnSpPr>
          <p:nvPr/>
        </p:nvCxnSpPr>
        <p:spPr>
          <a:xfrm>
            <a:off x="8117710" y="2694170"/>
            <a:ext cx="396618" cy="853053"/>
          </a:xfrm>
          <a:prstGeom prst="bentConnector3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直线箭头连接符 100"/>
          <p:cNvCxnSpPr>
            <a:stCxn id="116" idx="3"/>
            <a:endCxn id="119" idx="1"/>
          </p:cNvCxnSpPr>
          <p:nvPr/>
        </p:nvCxnSpPr>
        <p:spPr>
          <a:xfrm>
            <a:off x="9712334" y="3547223"/>
            <a:ext cx="396618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直线箭头连接符 101"/>
          <p:cNvCxnSpPr/>
          <p:nvPr/>
        </p:nvCxnSpPr>
        <p:spPr>
          <a:xfrm flipH="1" flipV="1">
            <a:off x="10625850" y="3023580"/>
            <a:ext cx="2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3" name="直线箭头连接符 102"/>
          <p:cNvCxnSpPr/>
          <p:nvPr/>
        </p:nvCxnSpPr>
        <p:spPr>
          <a:xfrm>
            <a:off x="10802221" y="2161607"/>
            <a:ext cx="2" cy="105620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4" name="直线箭头连接符 103"/>
          <p:cNvCxnSpPr>
            <a:stCxn id="122" idx="0"/>
            <a:endCxn id="119" idx="2"/>
          </p:cNvCxnSpPr>
          <p:nvPr/>
        </p:nvCxnSpPr>
        <p:spPr>
          <a:xfrm flipV="1">
            <a:off x="10707953" y="3876633"/>
            <a:ext cx="2" cy="106789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" name="直线箭头连接符 104"/>
          <p:cNvCxnSpPr/>
          <p:nvPr/>
        </p:nvCxnSpPr>
        <p:spPr>
          <a:xfrm>
            <a:off x="2821181" y="2161607"/>
            <a:ext cx="0" cy="105620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" name="矩形 105"/>
          <p:cNvSpPr/>
          <p:nvPr/>
        </p:nvSpPr>
        <p:spPr>
          <a:xfrm>
            <a:off x="2173474" y="150278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发起采访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173474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接受采访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173474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接受采访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3768098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车身状态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3768098" y="4080677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赛车调校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5362722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心态调整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5362722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策略制定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5362722" y="4080677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策略建议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6919704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比赛情况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6919704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确定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进站时机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8514328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赛道情况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514328" y="578684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撞车事故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8514328" y="494452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判定责任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&amp;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出动安全车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0108952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比赛复盘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10108950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策略优化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10108950" y="150278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发起采访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0108950" y="4944525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颁发奖杯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3" name="直线箭头连接符 122"/>
          <p:cNvCxnSpPr/>
          <p:nvPr/>
        </p:nvCxnSpPr>
        <p:spPr>
          <a:xfrm>
            <a:off x="2678209" y="2161607"/>
            <a:ext cx="0" cy="20315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4" name="矩形 123"/>
          <p:cNvSpPr/>
          <p:nvPr/>
        </p:nvSpPr>
        <p:spPr>
          <a:xfrm>
            <a:off x="8514328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决策进站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/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继续比赛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322730" y="6560887"/>
            <a:ext cx="38129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部署地址：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hlinkClick r:id="rId1"/>
              </a:rPr>
              <a:t>http://47.101.153.28:8868/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11112"/>
            <a:ext cx="8638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流程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展示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 53"/>
          <p:cNvSpPr/>
          <p:nvPr/>
        </p:nvSpPr>
        <p:spPr bwMode="auto">
          <a:xfrm>
            <a:off x="2100123" y="841222"/>
            <a:ext cx="3141304" cy="531498"/>
          </a:xfrm>
          <a:prstGeom prst="rect">
            <a:avLst/>
          </a:prstGeom>
          <a:gradFill>
            <a:gsLst>
              <a:gs pos="50000">
                <a:srgbClr val="4074E3"/>
              </a:gs>
              <a:gs pos="0">
                <a:srgbClr val="133988"/>
              </a:gs>
              <a:gs pos="100000">
                <a:srgbClr val="6AA8EA"/>
              </a:gs>
            </a:gsLst>
            <a:lin ang="5400000" scaled="1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4" name="矩形 56"/>
          <p:cNvSpPr/>
          <p:nvPr/>
        </p:nvSpPr>
        <p:spPr>
          <a:xfrm>
            <a:off x="2275613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00100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赛前采访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矩形 78"/>
          <p:cNvSpPr/>
          <p:nvPr/>
        </p:nvSpPr>
        <p:spPr bwMode="auto">
          <a:xfrm>
            <a:off x="818207" y="3154204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" name="矩形 60"/>
          <p:cNvSpPr/>
          <p:nvPr/>
        </p:nvSpPr>
        <p:spPr bwMode="auto">
          <a:xfrm>
            <a:off x="818207" y="1436338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" name="矩形 61"/>
          <p:cNvSpPr/>
          <p:nvPr/>
        </p:nvSpPr>
        <p:spPr>
          <a:xfrm>
            <a:off x="805064" y="144432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媒体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8" name="矩形 63"/>
          <p:cNvSpPr/>
          <p:nvPr/>
        </p:nvSpPr>
        <p:spPr bwMode="auto">
          <a:xfrm>
            <a:off x="818207" y="2295271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9" name="矩形 64"/>
          <p:cNvSpPr/>
          <p:nvPr/>
        </p:nvSpPr>
        <p:spPr>
          <a:xfrm>
            <a:off x="805064" y="2301257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策略师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0" name="矩形 67"/>
          <p:cNvSpPr/>
          <p:nvPr/>
        </p:nvSpPr>
        <p:spPr bwMode="auto">
          <a:xfrm>
            <a:off x="818207" y="4013137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1" name="矩形 68"/>
          <p:cNvSpPr/>
          <p:nvPr/>
        </p:nvSpPr>
        <p:spPr>
          <a:xfrm>
            <a:off x="805064" y="3158194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2" name="矩形 70"/>
          <p:cNvSpPr/>
          <p:nvPr/>
        </p:nvSpPr>
        <p:spPr bwMode="auto">
          <a:xfrm>
            <a:off x="818207" y="4872069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3" name="矩形 71"/>
          <p:cNvSpPr/>
          <p:nvPr/>
        </p:nvSpPr>
        <p:spPr>
          <a:xfrm>
            <a:off x="805062" y="4872069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主办方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4" name="矩形 79"/>
          <p:cNvSpPr/>
          <p:nvPr/>
        </p:nvSpPr>
        <p:spPr>
          <a:xfrm>
            <a:off x="805064" y="401513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车队工程师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6" name="矩形 56"/>
          <p:cNvSpPr/>
          <p:nvPr/>
        </p:nvSpPr>
        <p:spPr>
          <a:xfrm>
            <a:off x="3856394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800100">
              <a:lnSpc>
                <a:spcPct val="90000"/>
              </a:lnSpc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练习赛</a:t>
            </a:r>
            <a:endParaRPr lang="en-US" altLang="zh-CN" sz="1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20" name="直接连接符 28"/>
          <p:cNvCxnSpPr/>
          <p:nvPr/>
        </p:nvCxnSpPr>
        <p:spPr>
          <a:xfrm flipV="1">
            <a:off x="2100122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21" name="直接连接符 28"/>
          <p:cNvCxnSpPr/>
          <p:nvPr/>
        </p:nvCxnSpPr>
        <p:spPr>
          <a:xfrm flipV="1">
            <a:off x="367077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22" name="直接连接符 28"/>
          <p:cNvCxnSpPr/>
          <p:nvPr/>
        </p:nvCxnSpPr>
        <p:spPr>
          <a:xfrm flipV="1">
            <a:off x="5241427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sp>
        <p:nvSpPr>
          <p:cNvPr id="27" name="矩形 70"/>
          <p:cNvSpPr/>
          <p:nvPr/>
        </p:nvSpPr>
        <p:spPr bwMode="auto">
          <a:xfrm>
            <a:off x="818199" y="5719783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28" name="矩形 71"/>
          <p:cNvSpPr/>
          <p:nvPr/>
        </p:nvSpPr>
        <p:spPr>
          <a:xfrm>
            <a:off x="805054" y="5719783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其他车手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29" name="直线箭头连接符 28"/>
          <p:cNvCxnSpPr>
            <a:stCxn id="46" idx="3"/>
            <a:endCxn id="48" idx="1"/>
          </p:cNvCxnSpPr>
          <p:nvPr/>
        </p:nvCxnSpPr>
        <p:spPr>
          <a:xfrm>
            <a:off x="3432440" y="3547223"/>
            <a:ext cx="396618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线箭头连接符 29"/>
          <p:cNvCxnSpPr>
            <a:stCxn id="48" idx="2"/>
            <a:endCxn id="49" idx="0"/>
          </p:cNvCxnSpPr>
          <p:nvPr/>
        </p:nvCxnSpPr>
        <p:spPr>
          <a:xfrm>
            <a:off x="4428061" y="3876633"/>
            <a:ext cx="0" cy="204044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" name="直线箭头连接符 43"/>
          <p:cNvCxnSpPr/>
          <p:nvPr/>
        </p:nvCxnSpPr>
        <p:spPr>
          <a:xfrm>
            <a:off x="2882141" y="2161607"/>
            <a:ext cx="0" cy="105620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矩形 44"/>
          <p:cNvSpPr/>
          <p:nvPr/>
        </p:nvSpPr>
        <p:spPr>
          <a:xfrm>
            <a:off x="2234434" y="150278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发起采访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234434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接受采访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234434" y="236475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接受采访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829058" y="321781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车身状态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829058" y="4080677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赛车调校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2" name="直线箭头连接符 61"/>
          <p:cNvCxnSpPr/>
          <p:nvPr/>
        </p:nvCxnSpPr>
        <p:spPr>
          <a:xfrm>
            <a:off x="2739169" y="2161607"/>
            <a:ext cx="0" cy="20315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16" name="组合 115"/>
          <p:cNvGrpSpPr/>
          <p:nvPr/>
        </p:nvGrpSpPr>
        <p:grpSpPr>
          <a:xfrm rot="5400000">
            <a:off x="9700109" y="1705479"/>
            <a:ext cx="2675659" cy="436047"/>
            <a:chOff x="-65122" y="1190468"/>
            <a:chExt cx="4363564" cy="319769"/>
          </a:xfrm>
        </p:grpSpPr>
        <p:sp>
          <p:nvSpPr>
            <p:cNvPr id="117" name="矩形 116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18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119" name="矩形 118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66" name="文本框 65"/>
          <p:cNvSpPr txBox="1"/>
          <p:nvPr/>
        </p:nvSpPr>
        <p:spPr>
          <a:xfrm>
            <a:off x="10817575" y="1160183"/>
            <a:ext cx="461665" cy="18554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采访汉密尔顿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 rot="5400000">
            <a:off x="4756456" y="4683527"/>
            <a:ext cx="2675659" cy="436047"/>
            <a:chOff x="-65122" y="1190468"/>
            <a:chExt cx="4363564" cy="319769"/>
          </a:xfrm>
        </p:grpSpPr>
        <p:sp>
          <p:nvSpPr>
            <p:cNvPr id="124" name="矩形 123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25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126" name="矩形 125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5864208" y="3831425"/>
            <a:ext cx="461665" cy="22869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练习赛调校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913788" y="6405403"/>
            <a:ext cx="3502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*本赛事复现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2021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年阿布扎比大奖赛 </a:t>
            </a:r>
            <a:endParaRPr kumimoji="1" lang="zh-CN" altLang="en-US" sz="1600" dirty="0">
              <a:solidFill>
                <a:schemeClr val="bg2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451" y="585674"/>
            <a:ext cx="4964948" cy="280446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228" y="3558538"/>
            <a:ext cx="4955731" cy="27796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11112"/>
            <a:ext cx="8638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流程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展示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 53"/>
          <p:cNvSpPr/>
          <p:nvPr/>
        </p:nvSpPr>
        <p:spPr bwMode="auto">
          <a:xfrm>
            <a:off x="2100123" y="841222"/>
            <a:ext cx="3141304" cy="531498"/>
          </a:xfrm>
          <a:prstGeom prst="rect">
            <a:avLst/>
          </a:prstGeom>
          <a:gradFill>
            <a:gsLst>
              <a:gs pos="50000">
                <a:srgbClr val="4074E3"/>
              </a:gs>
              <a:gs pos="0">
                <a:srgbClr val="133988"/>
              </a:gs>
              <a:gs pos="100000">
                <a:srgbClr val="6AA8EA"/>
              </a:gs>
            </a:gsLst>
            <a:lin ang="5400000" scaled="1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矩形 78"/>
          <p:cNvSpPr/>
          <p:nvPr/>
        </p:nvSpPr>
        <p:spPr bwMode="auto">
          <a:xfrm>
            <a:off x="818207" y="3154204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" name="矩形 60"/>
          <p:cNvSpPr/>
          <p:nvPr/>
        </p:nvSpPr>
        <p:spPr bwMode="auto">
          <a:xfrm>
            <a:off x="818207" y="1436338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" name="矩形 61"/>
          <p:cNvSpPr/>
          <p:nvPr/>
        </p:nvSpPr>
        <p:spPr>
          <a:xfrm>
            <a:off x="805064" y="144432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媒体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8" name="矩形 63"/>
          <p:cNvSpPr/>
          <p:nvPr/>
        </p:nvSpPr>
        <p:spPr bwMode="auto">
          <a:xfrm>
            <a:off x="818207" y="2295271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9" name="矩形 64"/>
          <p:cNvSpPr/>
          <p:nvPr/>
        </p:nvSpPr>
        <p:spPr>
          <a:xfrm>
            <a:off x="805064" y="2301257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策略师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0" name="矩形 67"/>
          <p:cNvSpPr/>
          <p:nvPr/>
        </p:nvSpPr>
        <p:spPr bwMode="auto">
          <a:xfrm>
            <a:off x="818207" y="4013137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1" name="矩形 68"/>
          <p:cNvSpPr/>
          <p:nvPr/>
        </p:nvSpPr>
        <p:spPr>
          <a:xfrm>
            <a:off x="805064" y="3158194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2" name="矩形 70"/>
          <p:cNvSpPr/>
          <p:nvPr/>
        </p:nvSpPr>
        <p:spPr bwMode="auto">
          <a:xfrm>
            <a:off x="818207" y="4872069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3" name="矩形 71"/>
          <p:cNvSpPr/>
          <p:nvPr/>
        </p:nvSpPr>
        <p:spPr>
          <a:xfrm>
            <a:off x="805062" y="4872069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主办方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4" name="矩形 79"/>
          <p:cNvSpPr/>
          <p:nvPr/>
        </p:nvSpPr>
        <p:spPr>
          <a:xfrm>
            <a:off x="805064" y="401513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车队工程师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16" name="直接连接符 28"/>
          <p:cNvCxnSpPr/>
          <p:nvPr/>
        </p:nvCxnSpPr>
        <p:spPr>
          <a:xfrm flipV="1">
            <a:off x="2100122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17" name="直接连接符 28"/>
          <p:cNvCxnSpPr/>
          <p:nvPr/>
        </p:nvCxnSpPr>
        <p:spPr>
          <a:xfrm flipV="1">
            <a:off x="367077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18" name="直接连接符 28"/>
          <p:cNvCxnSpPr/>
          <p:nvPr/>
        </p:nvCxnSpPr>
        <p:spPr>
          <a:xfrm flipV="1">
            <a:off x="5241427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sp>
        <p:nvSpPr>
          <p:cNvPr id="19" name="矩形 70"/>
          <p:cNvSpPr/>
          <p:nvPr/>
        </p:nvSpPr>
        <p:spPr bwMode="auto">
          <a:xfrm>
            <a:off x="818199" y="5719783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20" name="矩形 71"/>
          <p:cNvSpPr/>
          <p:nvPr/>
        </p:nvSpPr>
        <p:spPr>
          <a:xfrm>
            <a:off x="805054" y="5719783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其他车手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 rot="5400000">
            <a:off x="9711539" y="1619758"/>
            <a:ext cx="2675659" cy="436047"/>
            <a:chOff x="-65122" y="1190468"/>
            <a:chExt cx="4363564" cy="319769"/>
          </a:xfrm>
        </p:grpSpPr>
        <p:sp>
          <p:nvSpPr>
            <p:cNvPr id="33" name="矩形 32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4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35" name="矩形 34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9990176" y="968305"/>
            <a:ext cx="1292662" cy="18554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赛前讨论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 rot="5400000">
            <a:off x="4764753" y="4610475"/>
            <a:ext cx="2675659" cy="436047"/>
            <a:chOff x="-65122" y="1190468"/>
            <a:chExt cx="4363564" cy="319769"/>
          </a:xfrm>
        </p:grpSpPr>
        <p:sp>
          <p:nvSpPr>
            <p:cNvPr id="40" name="矩形 39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41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5595506" y="3758373"/>
            <a:ext cx="738664" cy="22869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策略制定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913788" y="6405403"/>
            <a:ext cx="3502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*本赛事复现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2021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年阿布扎比大奖赛 </a:t>
            </a:r>
            <a:endParaRPr kumimoji="1" lang="zh-CN" altLang="en-US" sz="1600" dirty="0">
              <a:solidFill>
                <a:schemeClr val="bg2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51" name="矩形 56"/>
          <p:cNvSpPr/>
          <p:nvPr/>
        </p:nvSpPr>
        <p:spPr>
          <a:xfrm>
            <a:off x="3997277" y="881189"/>
            <a:ext cx="965598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001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进站策略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2" name="矩形 56"/>
          <p:cNvSpPr/>
          <p:nvPr/>
        </p:nvSpPr>
        <p:spPr>
          <a:xfrm>
            <a:off x="2348545" y="891857"/>
            <a:ext cx="965598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8001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正赛讨论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53" name="直线箭头连接符 52"/>
          <p:cNvCxnSpPr/>
          <p:nvPr/>
        </p:nvCxnSpPr>
        <p:spPr>
          <a:xfrm flipV="1">
            <a:off x="2810115" y="3032166"/>
            <a:ext cx="0" cy="1057097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4" name="直线箭头连接符 53"/>
          <p:cNvCxnSpPr/>
          <p:nvPr/>
        </p:nvCxnSpPr>
        <p:spPr>
          <a:xfrm>
            <a:off x="3008078" y="3032166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5" name="直线箭头连接符 54"/>
          <p:cNvCxnSpPr>
            <a:stCxn id="57" idx="3"/>
            <a:endCxn id="60" idx="1"/>
          </p:cNvCxnSpPr>
          <p:nvPr/>
        </p:nvCxnSpPr>
        <p:spPr>
          <a:xfrm>
            <a:off x="3512813" y="3555809"/>
            <a:ext cx="358976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6" name="直线箭头连接符 55"/>
          <p:cNvCxnSpPr>
            <a:stCxn id="60" idx="0"/>
            <a:endCxn id="61" idx="2"/>
          </p:cNvCxnSpPr>
          <p:nvPr/>
        </p:nvCxnSpPr>
        <p:spPr>
          <a:xfrm flipV="1">
            <a:off x="4470792" y="3032166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7" name="矩形 56"/>
          <p:cNvSpPr/>
          <p:nvPr/>
        </p:nvSpPr>
        <p:spPr>
          <a:xfrm>
            <a:off x="2314807" y="3226398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心态调整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314807" y="2373345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策略制定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314807" y="4089263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策略建议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871789" y="3226398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比赛情况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871789" y="2373345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确定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进站时机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98" y="3495001"/>
            <a:ext cx="4938325" cy="277780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784" y="514964"/>
            <a:ext cx="4941754" cy="2777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11112"/>
            <a:ext cx="863862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流程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展示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 53"/>
          <p:cNvSpPr/>
          <p:nvPr/>
        </p:nvSpPr>
        <p:spPr bwMode="auto">
          <a:xfrm>
            <a:off x="2100123" y="841222"/>
            <a:ext cx="3141304" cy="531498"/>
          </a:xfrm>
          <a:prstGeom prst="rect">
            <a:avLst/>
          </a:prstGeom>
          <a:gradFill>
            <a:gsLst>
              <a:gs pos="50000">
                <a:srgbClr val="4074E3"/>
              </a:gs>
              <a:gs pos="0">
                <a:srgbClr val="133988"/>
              </a:gs>
              <a:gs pos="100000">
                <a:srgbClr val="6AA8EA"/>
              </a:gs>
            </a:gsLst>
            <a:lin ang="5400000" scaled="1"/>
          </a:gra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4" name="矩形 56"/>
          <p:cNvSpPr/>
          <p:nvPr/>
        </p:nvSpPr>
        <p:spPr>
          <a:xfrm>
            <a:off x="2275613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8001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赛中事故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矩形 78"/>
          <p:cNvSpPr/>
          <p:nvPr/>
        </p:nvSpPr>
        <p:spPr bwMode="auto">
          <a:xfrm>
            <a:off x="818207" y="3154204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6" name="矩形 60"/>
          <p:cNvSpPr/>
          <p:nvPr/>
        </p:nvSpPr>
        <p:spPr bwMode="auto">
          <a:xfrm>
            <a:off x="818207" y="1436338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7" name="矩形 61"/>
          <p:cNvSpPr/>
          <p:nvPr/>
        </p:nvSpPr>
        <p:spPr>
          <a:xfrm>
            <a:off x="805064" y="144432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媒体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8" name="矩形 63"/>
          <p:cNvSpPr/>
          <p:nvPr/>
        </p:nvSpPr>
        <p:spPr bwMode="auto">
          <a:xfrm>
            <a:off x="818207" y="2295271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9" name="矩形 64"/>
          <p:cNvSpPr/>
          <p:nvPr/>
        </p:nvSpPr>
        <p:spPr>
          <a:xfrm>
            <a:off x="805064" y="2301257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策略师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0" name="矩形 67"/>
          <p:cNvSpPr/>
          <p:nvPr/>
        </p:nvSpPr>
        <p:spPr bwMode="auto">
          <a:xfrm>
            <a:off x="818207" y="4013137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1" name="矩形 68"/>
          <p:cNvSpPr/>
          <p:nvPr/>
        </p:nvSpPr>
        <p:spPr>
          <a:xfrm>
            <a:off x="805064" y="3158194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2" name="矩形 70"/>
          <p:cNvSpPr/>
          <p:nvPr/>
        </p:nvSpPr>
        <p:spPr bwMode="auto">
          <a:xfrm>
            <a:off x="818207" y="4872069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3" name="矩形 71"/>
          <p:cNvSpPr/>
          <p:nvPr/>
        </p:nvSpPr>
        <p:spPr>
          <a:xfrm>
            <a:off x="805062" y="4872069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主办方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4" name="矩形 79"/>
          <p:cNvSpPr/>
          <p:nvPr/>
        </p:nvSpPr>
        <p:spPr>
          <a:xfrm>
            <a:off x="805064" y="4015130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车队工程师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15" name="矩形 56"/>
          <p:cNvSpPr/>
          <p:nvPr/>
        </p:nvSpPr>
        <p:spPr>
          <a:xfrm>
            <a:off x="3856394" y="883860"/>
            <a:ext cx="1105656" cy="44622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8001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赛后总结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cxnSp>
        <p:nvCxnSpPr>
          <p:cNvPr id="16" name="直接连接符 28"/>
          <p:cNvCxnSpPr/>
          <p:nvPr/>
        </p:nvCxnSpPr>
        <p:spPr>
          <a:xfrm flipV="1">
            <a:off x="2100122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17" name="直接连接符 28"/>
          <p:cNvCxnSpPr/>
          <p:nvPr/>
        </p:nvCxnSpPr>
        <p:spPr>
          <a:xfrm flipV="1">
            <a:off x="3670774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cxnSp>
        <p:nvCxnSpPr>
          <p:cNvPr id="18" name="直接连接符 28"/>
          <p:cNvCxnSpPr/>
          <p:nvPr/>
        </p:nvCxnSpPr>
        <p:spPr>
          <a:xfrm flipV="1">
            <a:off x="5241427" y="1417362"/>
            <a:ext cx="0" cy="5093854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ysDot"/>
          </a:ln>
          <a:effectLst/>
        </p:spPr>
      </p:cxnSp>
      <p:sp>
        <p:nvSpPr>
          <p:cNvPr id="19" name="矩形 70"/>
          <p:cNvSpPr/>
          <p:nvPr/>
        </p:nvSpPr>
        <p:spPr bwMode="auto">
          <a:xfrm>
            <a:off x="818199" y="5719783"/>
            <a:ext cx="4423215" cy="791433"/>
          </a:xfrm>
          <a:prstGeom prst="rect">
            <a:avLst/>
          </a:prstGeom>
          <a:solidFill>
            <a:srgbClr val="FFFFFF">
              <a:lumMod val="75000"/>
              <a:alpha val="38824"/>
            </a:srgbClr>
          </a:solidFill>
          <a:ln w="6350" cap="flat" cmpd="sng" algn="ctr">
            <a:solidFill>
              <a:srgbClr val="FFFFFF">
                <a:lumMod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D0A660"/>
              </a:buClr>
              <a:buSzTx/>
              <a:buFontTx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20" name="矩形 71"/>
          <p:cNvSpPr/>
          <p:nvPr/>
        </p:nvSpPr>
        <p:spPr>
          <a:xfrm>
            <a:off x="805054" y="5719783"/>
            <a:ext cx="1295060" cy="791433"/>
          </a:xfrm>
          <a:prstGeom prst="rect">
            <a:avLst/>
          </a:prstGeom>
          <a:solidFill>
            <a:srgbClr val="BCD0FA">
              <a:alpha val="74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其他车手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 rot="5400000">
            <a:off x="9689946" y="1587431"/>
            <a:ext cx="2675659" cy="436047"/>
            <a:chOff x="-65122" y="1190468"/>
            <a:chExt cx="4363564" cy="319769"/>
          </a:xfrm>
        </p:grpSpPr>
        <p:sp>
          <p:nvSpPr>
            <p:cNvPr id="33" name="矩形 32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4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35" name="矩形 34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10530413" y="1042135"/>
            <a:ext cx="738664" cy="18554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赛中视角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 rot="5400000">
            <a:off x="4761474" y="4605794"/>
            <a:ext cx="2675659" cy="436047"/>
            <a:chOff x="-65122" y="1190468"/>
            <a:chExt cx="4363564" cy="319769"/>
          </a:xfrm>
        </p:grpSpPr>
        <p:sp>
          <p:nvSpPr>
            <p:cNvPr id="40" name="矩形 39"/>
            <p:cNvSpPr/>
            <p:nvPr/>
          </p:nvSpPr>
          <p:spPr>
            <a:xfrm>
              <a:off x="-62264" y="1199328"/>
              <a:ext cx="4360706" cy="301016"/>
            </a:xfrm>
            <a:prstGeom prst="rect">
              <a:avLst/>
            </a:prstGeom>
            <a:gradFill flip="none" rotWithShape="1">
              <a:gsLst>
                <a:gs pos="8000">
                  <a:srgbClr val="03347B">
                    <a:alpha val="0"/>
                  </a:srgbClr>
                </a:gs>
                <a:gs pos="100000">
                  <a:srgbClr val="0755BF"/>
                </a:gs>
              </a:gsLst>
              <a:lin ang="10800000" scaled="1"/>
              <a:tileRect/>
            </a:gradFill>
            <a:ln w="12700">
              <a:gradFill flip="none" rotWithShape="1">
                <a:gsLst>
                  <a:gs pos="0">
                    <a:srgbClr val="03347B">
                      <a:alpha val="0"/>
                    </a:srgbClr>
                  </a:gs>
                  <a:gs pos="100000">
                    <a:srgbClr val="31AEF8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41" name="Picture 134"/>
            <p:cNvPicPr>
              <a:picLocks noChangeAspect="1"/>
            </p:cNvPicPr>
            <p:nvPr/>
          </p:nvPicPr>
          <p:blipFill>
            <a:blip r:embed="rId1">
              <a:alphaModFix amt="49000"/>
            </a:blip>
            <a:stretch>
              <a:fillRect/>
            </a:stretch>
          </p:blipFill>
          <p:spPr>
            <a:xfrm flipH="1" flipV="1">
              <a:off x="-64300" y="1198376"/>
              <a:ext cx="3886353" cy="288598"/>
            </a:xfrm>
            <a:prstGeom prst="rect">
              <a:avLst/>
            </a:prstGeom>
          </p:spPr>
        </p:pic>
        <p:sp>
          <p:nvSpPr>
            <p:cNvPr id="42" name="矩形 41"/>
            <p:cNvSpPr/>
            <p:nvPr/>
          </p:nvSpPr>
          <p:spPr>
            <a:xfrm>
              <a:off x="-65122" y="1190468"/>
              <a:ext cx="70549" cy="319769"/>
            </a:xfrm>
            <a:prstGeom prst="rect">
              <a:avLst/>
            </a:prstGeom>
            <a:gradFill flip="none" rotWithShape="1">
              <a:gsLst>
                <a:gs pos="0">
                  <a:srgbClr val="4EEDF3"/>
                </a:gs>
                <a:gs pos="100000">
                  <a:srgbClr val="31AEF8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等腰三角形 422"/>
            <p:cNvSpPr/>
            <p:nvPr/>
          </p:nvSpPr>
          <p:spPr>
            <a:xfrm rot="5400000">
              <a:off x="108680" y="1304712"/>
              <a:ext cx="122760" cy="100197"/>
            </a:xfrm>
            <a:prstGeom prst="triangle">
              <a:avLst/>
            </a:prstGeom>
            <a:gradFill>
              <a:gsLst>
                <a:gs pos="0">
                  <a:srgbClr val="34ECF0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箭头: V 形 423"/>
            <p:cNvSpPr/>
            <p:nvPr/>
          </p:nvSpPr>
          <p:spPr>
            <a:xfrm>
              <a:off x="127987" y="1251133"/>
              <a:ext cx="310287" cy="197408"/>
            </a:xfrm>
            <a:prstGeom prst="chevron">
              <a:avLst/>
            </a:prstGeom>
            <a:gradFill>
              <a:gsLst>
                <a:gs pos="0">
                  <a:srgbClr val="1978F7"/>
                </a:gs>
                <a:gs pos="100000">
                  <a:srgbClr val="31AEF8"/>
                </a:gs>
              </a:gsLst>
              <a:lin ang="0" scaled="1"/>
            </a:gradFill>
            <a:ln w="317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5592227" y="3753692"/>
            <a:ext cx="738664" cy="22869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赛后会议</a:t>
            </a:r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913788" y="6405403"/>
            <a:ext cx="3502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*本赛事复现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2021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年阿布扎比大奖赛 </a:t>
            </a:r>
            <a:endParaRPr kumimoji="1" lang="zh-CN" altLang="en-US" sz="1600" dirty="0">
              <a:solidFill>
                <a:schemeClr val="bg2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47" name="直线箭头连接符 46"/>
          <p:cNvCxnSpPr/>
          <p:nvPr/>
        </p:nvCxnSpPr>
        <p:spPr>
          <a:xfrm flipV="1">
            <a:off x="2789775" y="3025970"/>
            <a:ext cx="0" cy="276326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直线箭头连接符 47"/>
          <p:cNvCxnSpPr/>
          <p:nvPr/>
        </p:nvCxnSpPr>
        <p:spPr>
          <a:xfrm flipV="1">
            <a:off x="2955536" y="5605737"/>
            <a:ext cx="0" cy="18349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直线箭头连接符 48"/>
          <p:cNvCxnSpPr/>
          <p:nvPr/>
        </p:nvCxnSpPr>
        <p:spPr>
          <a:xfrm flipV="1">
            <a:off x="2955536" y="3025970"/>
            <a:ext cx="0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线箭头连接符 49"/>
          <p:cNvCxnSpPr>
            <a:stCxn id="54" idx="3"/>
            <a:endCxn id="57" idx="1"/>
          </p:cNvCxnSpPr>
          <p:nvPr/>
        </p:nvCxnSpPr>
        <p:spPr>
          <a:xfrm>
            <a:off x="3473619" y="3549613"/>
            <a:ext cx="396618" cy="0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直线箭头连接符 50"/>
          <p:cNvCxnSpPr/>
          <p:nvPr/>
        </p:nvCxnSpPr>
        <p:spPr>
          <a:xfrm flipH="1" flipV="1">
            <a:off x="4387135" y="3025970"/>
            <a:ext cx="2" cy="19423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直线箭头连接符 51"/>
          <p:cNvCxnSpPr/>
          <p:nvPr/>
        </p:nvCxnSpPr>
        <p:spPr>
          <a:xfrm>
            <a:off x="4563506" y="2163997"/>
            <a:ext cx="2" cy="105620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3" name="直线箭头连接符 52"/>
          <p:cNvCxnSpPr>
            <a:stCxn id="60" idx="0"/>
            <a:endCxn id="57" idx="2"/>
          </p:cNvCxnSpPr>
          <p:nvPr/>
        </p:nvCxnSpPr>
        <p:spPr>
          <a:xfrm flipV="1">
            <a:off x="4469238" y="3879023"/>
            <a:ext cx="2" cy="106789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4" name="矩形 53"/>
          <p:cNvSpPr/>
          <p:nvPr/>
        </p:nvSpPr>
        <p:spPr>
          <a:xfrm>
            <a:off x="2275613" y="322020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赛道情况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反馈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275613" y="578923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撞车事故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275613" y="494691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判定责任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&amp;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出动安全车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870237" y="3220202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比赛复盘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70235" y="236714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策略优化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870235" y="1505176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发起采访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870235" y="4946915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颁发奖杯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275613" y="2367149"/>
            <a:ext cx="1198006" cy="658821"/>
          </a:xfrm>
          <a:prstGeom prst="rect">
            <a:avLst/>
          </a:prstGeom>
          <a:gradFill>
            <a:gsLst>
              <a:gs pos="0">
                <a:srgbClr val="F9F9F9"/>
              </a:gs>
              <a:gs pos="100000">
                <a:schemeClr val="bg2">
                  <a:lumMod val="90000"/>
                </a:schemeClr>
              </a:gs>
            </a:gsLst>
            <a:lin ang="5400000" scaled="0"/>
          </a:gra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决策进站</a:t>
            </a:r>
            <a:r>
              <a:rPr kumimoji="1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/</a:t>
            </a:r>
            <a:endParaRPr kumimoji="1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继续比赛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586" y="456721"/>
            <a:ext cx="4921179" cy="277780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246" y="3495949"/>
            <a:ext cx="4912125" cy="2771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技术架构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5" y="211112"/>
            <a:ext cx="8638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技术架构：多智融合引擎重塑模拟赛场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3191" y="5410798"/>
            <a:ext cx="11023041" cy="1061452"/>
            <a:chOff x="632513" y="5520219"/>
            <a:chExt cx="2718146" cy="702955"/>
          </a:xfrm>
        </p:grpSpPr>
        <p:sp>
          <p:nvSpPr>
            <p:cNvPr id="4" name="矩形 3"/>
            <p:cNvSpPr/>
            <p:nvPr/>
          </p:nvSpPr>
          <p:spPr>
            <a:xfrm>
              <a:off x="632514" y="5643961"/>
              <a:ext cx="2718145" cy="579213"/>
            </a:xfrm>
            <a:prstGeom prst="rect">
              <a:avLst/>
            </a:prstGeom>
            <a:gradFill flip="none" rotWithShape="1">
              <a:gsLst>
                <a:gs pos="0">
                  <a:srgbClr val="1F92EE">
                    <a:lumMod val="60000"/>
                    <a:lumOff val="40000"/>
                  </a:srgbClr>
                </a:gs>
                <a:gs pos="100000">
                  <a:srgbClr val="1F92EE"/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 panose="020B0400000000000000" charset="-122"/>
              </a:endParaRPr>
            </a:p>
          </p:txBody>
        </p:sp>
        <p:sp>
          <p:nvSpPr>
            <p:cNvPr id="5" name="梯形 4"/>
            <p:cNvSpPr/>
            <p:nvPr/>
          </p:nvSpPr>
          <p:spPr>
            <a:xfrm>
              <a:off x="632513" y="5520219"/>
              <a:ext cx="2718145" cy="122265"/>
            </a:xfrm>
            <a:prstGeom prst="trapezoid">
              <a:avLst>
                <a:gd name="adj" fmla="val 124142"/>
              </a:avLst>
            </a:prstGeom>
            <a:gradFill flip="none" rotWithShape="1">
              <a:gsLst>
                <a:gs pos="2800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>
                    <a:lumMod val="60000"/>
                    <a:lumOff val="40000"/>
                    <a:alpha val="48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 panose="020B0400000000000000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90752" y="5782103"/>
            <a:ext cx="100241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多技术栈融合系统  打造真实赛车世界</a:t>
            </a:r>
            <a:endParaRPr lang="zh-CN" altLang="en-US" sz="2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4774" y="734332"/>
            <a:ext cx="11391453" cy="4752160"/>
            <a:chOff x="-295718" y="919580"/>
            <a:chExt cx="11929892" cy="5769507"/>
          </a:xfrm>
        </p:grpSpPr>
        <p:sp>
          <p:nvSpPr>
            <p:cNvPr id="8" name="文本框 7"/>
            <p:cNvSpPr txBox="1"/>
            <p:nvPr/>
          </p:nvSpPr>
          <p:spPr>
            <a:xfrm>
              <a:off x="-295718" y="2253322"/>
              <a:ext cx="2644417" cy="448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Restful API</a:t>
              </a:r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6708" y="919580"/>
              <a:ext cx="11537466" cy="5769507"/>
              <a:chOff x="96708" y="919580"/>
              <a:chExt cx="11537466" cy="5769507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179442" y="919580"/>
                <a:ext cx="11454732" cy="5769507"/>
                <a:chOff x="179442" y="919580"/>
                <a:chExt cx="11454732" cy="5769507"/>
              </a:xfrm>
            </p:grpSpPr>
            <p:grpSp>
              <p:nvGrpSpPr>
                <p:cNvPr id="17" name="组合 16"/>
                <p:cNvGrpSpPr/>
                <p:nvPr/>
              </p:nvGrpSpPr>
              <p:grpSpPr>
                <a:xfrm>
                  <a:off x="179442" y="1172440"/>
                  <a:ext cx="11454732" cy="5516647"/>
                  <a:chOff x="179442" y="1172440"/>
                  <a:chExt cx="11454732" cy="5516647"/>
                </a:xfrm>
              </p:grpSpPr>
              <p:sp>
                <p:nvSpPr>
                  <p:cNvPr id="19" name="三角形 147"/>
                  <p:cNvSpPr/>
                  <p:nvPr/>
                </p:nvSpPr>
                <p:spPr>
                  <a:xfrm rot="402283">
                    <a:off x="573962" y="5142692"/>
                    <a:ext cx="1933519" cy="847769"/>
                  </a:xfrm>
                  <a:prstGeom prst="triangle">
                    <a:avLst>
                      <a:gd name="adj" fmla="val 33954"/>
                    </a:avLst>
                  </a:prstGeom>
                  <a:gradFill>
                    <a:gsLst>
                      <a:gs pos="36000">
                        <a:schemeClr val="bg1">
                          <a:lumMod val="95000"/>
                        </a:schemeClr>
                      </a:gs>
                      <a:gs pos="56000">
                        <a:schemeClr val="accent6">
                          <a:lumMod val="20000"/>
                          <a:lumOff val="80000"/>
                        </a:schemeClr>
                      </a:gs>
                    </a:gsLst>
                    <a:lin ang="4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0" name="三角形 138"/>
                  <p:cNvSpPr/>
                  <p:nvPr/>
                </p:nvSpPr>
                <p:spPr>
                  <a:xfrm rot="21014704">
                    <a:off x="7450387" y="5117265"/>
                    <a:ext cx="1933519" cy="820523"/>
                  </a:xfrm>
                  <a:prstGeom prst="triangle">
                    <a:avLst>
                      <a:gd name="adj" fmla="val 33954"/>
                    </a:avLst>
                  </a:prstGeom>
                  <a:gradFill>
                    <a:gsLst>
                      <a:gs pos="45000">
                        <a:schemeClr val="bg2">
                          <a:lumMod val="75000"/>
                        </a:schemeClr>
                      </a:gs>
                      <a:gs pos="63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60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1" name="三角形 137"/>
                  <p:cNvSpPr/>
                  <p:nvPr/>
                </p:nvSpPr>
                <p:spPr>
                  <a:xfrm rot="402283">
                    <a:off x="3526044" y="5129803"/>
                    <a:ext cx="1933519" cy="847769"/>
                  </a:xfrm>
                  <a:prstGeom prst="triangle">
                    <a:avLst>
                      <a:gd name="adj" fmla="val 33954"/>
                    </a:avLst>
                  </a:prstGeom>
                  <a:gradFill>
                    <a:gsLst>
                      <a:gs pos="36000">
                        <a:schemeClr val="bg1">
                          <a:lumMod val="95000"/>
                        </a:schemeClr>
                      </a:gs>
                      <a:gs pos="57000">
                        <a:schemeClr val="tx2">
                          <a:lumMod val="10000"/>
                          <a:lumOff val="90000"/>
                        </a:schemeClr>
                      </a:gs>
                    </a:gsLst>
                    <a:lin ang="48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2" name="矩形 21"/>
                  <p:cNvSpPr/>
                  <p:nvPr/>
                </p:nvSpPr>
                <p:spPr>
                  <a:xfrm>
                    <a:off x="5763567" y="2952867"/>
                    <a:ext cx="3067594" cy="1029299"/>
                  </a:xfrm>
                  <a:prstGeom prst="rect">
                    <a:avLst/>
                  </a:prstGeom>
                  <a:gradFill>
                    <a:gsLst>
                      <a:gs pos="15000">
                        <a:schemeClr val="accent3">
                          <a:lumMod val="20000"/>
                          <a:lumOff val="80000"/>
                        </a:schemeClr>
                      </a:gs>
                      <a:gs pos="41000">
                        <a:schemeClr val="accent3">
                          <a:lumMod val="40000"/>
                          <a:lumOff val="60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3" name="矩形 22"/>
                  <p:cNvSpPr/>
                  <p:nvPr/>
                </p:nvSpPr>
                <p:spPr>
                  <a:xfrm>
                    <a:off x="4996995" y="4056156"/>
                    <a:ext cx="3834165" cy="1350000"/>
                  </a:xfrm>
                  <a:prstGeom prst="rect">
                    <a:avLst/>
                  </a:prstGeom>
                  <a:gradFill>
                    <a:gsLst>
                      <a:gs pos="27000">
                        <a:schemeClr val="bg1">
                          <a:lumMod val="95000"/>
                        </a:schemeClr>
                      </a:gs>
                      <a:gs pos="54000">
                        <a:schemeClr val="bg2">
                          <a:lumMod val="75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4" name="矩形 37"/>
                  <p:cNvSpPr/>
                  <p:nvPr/>
                </p:nvSpPr>
                <p:spPr>
                  <a:xfrm>
                    <a:off x="947090" y="2938166"/>
                    <a:ext cx="4863665" cy="1044000"/>
                  </a:xfrm>
                  <a:custGeom>
                    <a:avLst/>
                    <a:gdLst>
                      <a:gd name="connsiteX0" fmla="*/ 0 w 2728959"/>
                      <a:gd name="connsiteY0" fmla="*/ 0 h 1428604"/>
                      <a:gd name="connsiteX1" fmla="*/ 2728959 w 2728959"/>
                      <a:gd name="connsiteY1" fmla="*/ 0 h 1428604"/>
                      <a:gd name="connsiteX2" fmla="*/ 2728959 w 2728959"/>
                      <a:gd name="connsiteY2" fmla="*/ 1428604 h 1428604"/>
                      <a:gd name="connsiteX3" fmla="*/ 0 w 2728959"/>
                      <a:gd name="connsiteY3" fmla="*/ 1428604 h 1428604"/>
                      <a:gd name="connsiteX4" fmla="*/ 0 w 2728959"/>
                      <a:gd name="connsiteY4" fmla="*/ 0 h 1428604"/>
                      <a:gd name="connsiteX0-1" fmla="*/ 1140031 w 2728959"/>
                      <a:gd name="connsiteY0-2" fmla="*/ 0 h 1428604"/>
                      <a:gd name="connsiteX1-3" fmla="*/ 2728959 w 2728959"/>
                      <a:gd name="connsiteY1-4" fmla="*/ 0 h 1428604"/>
                      <a:gd name="connsiteX2-5" fmla="*/ 2728959 w 2728959"/>
                      <a:gd name="connsiteY2-6" fmla="*/ 1428604 h 1428604"/>
                      <a:gd name="connsiteX3-7" fmla="*/ 0 w 2728959"/>
                      <a:gd name="connsiteY3-8" fmla="*/ 1428604 h 1428604"/>
                      <a:gd name="connsiteX4-9" fmla="*/ 1140031 w 2728959"/>
                      <a:gd name="connsiteY4-10" fmla="*/ 0 h 1428604"/>
                      <a:gd name="connsiteX0-11" fmla="*/ 1282534 w 2728959"/>
                      <a:gd name="connsiteY0-12" fmla="*/ 0 h 1428604"/>
                      <a:gd name="connsiteX1-13" fmla="*/ 2728959 w 2728959"/>
                      <a:gd name="connsiteY1-14" fmla="*/ 0 h 1428604"/>
                      <a:gd name="connsiteX2-15" fmla="*/ 2728959 w 2728959"/>
                      <a:gd name="connsiteY2-16" fmla="*/ 1428604 h 1428604"/>
                      <a:gd name="connsiteX3-17" fmla="*/ 0 w 2728959"/>
                      <a:gd name="connsiteY3-18" fmla="*/ 1428604 h 1428604"/>
                      <a:gd name="connsiteX4-19" fmla="*/ 1282534 w 2728959"/>
                      <a:gd name="connsiteY4-20" fmla="*/ 0 h 1428604"/>
                      <a:gd name="connsiteX0-21" fmla="*/ 1211283 w 2728959"/>
                      <a:gd name="connsiteY0-22" fmla="*/ 0 h 1428604"/>
                      <a:gd name="connsiteX1-23" fmla="*/ 2728959 w 2728959"/>
                      <a:gd name="connsiteY1-24" fmla="*/ 0 h 1428604"/>
                      <a:gd name="connsiteX2-25" fmla="*/ 2728959 w 2728959"/>
                      <a:gd name="connsiteY2-26" fmla="*/ 1428604 h 1428604"/>
                      <a:gd name="connsiteX3-27" fmla="*/ 0 w 2728959"/>
                      <a:gd name="connsiteY3-28" fmla="*/ 1428604 h 1428604"/>
                      <a:gd name="connsiteX4-29" fmla="*/ 1211283 w 2728959"/>
                      <a:gd name="connsiteY4-30" fmla="*/ 0 h 1428604"/>
                      <a:gd name="connsiteX0-31" fmla="*/ 522514 w 2728959"/>
                      <a:gd name="connsiteY0-32" fmla="*/ 0 h 1456342"/>
                      <a:gd name="connsiteX1-33" fmla="*/ 2728959 w 2728959"/>
                      <a:gd name="connsiteY1-34" fmla="*/ 27738 h 1456342"/>
                      <a:gd name="connsiteX2-35" fmla="*/ 2728959 w 2728959"/>
                      <a:gd name="connsiteY2-36" fmla="*/ 1456342 h 1456342"/>
                      <a:gd name="connsiteX3-37" fmla="*/ 0 w 2728959"/>
                      <a:gd name="connsiteY3-38" fmla="*/ 1456342 h 1456342"/>
                      <a:gd name="connsiteX4-39" fmla="*/ 522514 w 2728959"/>
                      <a:gd name="connsiteY4-40" fmla="*/ 0 h 1456342"/>
                      <a:gd name="connsiteX0-41" fmla="*/ 510639 w 2728959"/>
                      <a:gd name="connsiteY0-42" fmla="*/ 0 h 1456342"/>
                      <a:gd name="connsiteX1-43" fmla="*/ 2728959 w 2728959"/>
                      <a:gd name="connsiteY1-44" fmla="*/ 27738 h 1456342"/>
                      <a:gd name="connsiteX2-45" fmla="*/ 2728959 w 2728959"/>
                      <a:gd name="connsiteY2-46" fmla="*/ 1456342 h 1456342"/>
                      <a:gd name="connsiteX3-47" fmla="*/ 0 w 2728959"/>
                      <a:gd name="connsiteY3-48" fmla="*/ 1456342 h 1456342"/>
                      <a:gd name="connsiteX4-49" fmla="*/ 510639 w 2728959"/>
                      <a:gd name="connsiteY4-50" fmla="*/ 0 h 1456342"/>
                      <a:gd name="connsiteX0-51" fmla="*/ 496264 w 2728959"/>
                      <a:gd name="connsiteY0-52" fmla="*/ 0 h 1456342"/>
                      <a:gd name="connsiteX1-53" fmla="*/ 2728959 w 2728959"/>
                      <a:gd name="connsiteY1-54" fmla="*/ 27738 h 1456342"/>
                      <a:gd name="connsiteX2-55" fmla="*/ 2728959 w 2728959"/>
                      <a:gd name="connsiteY2-56" fmla="*/ 1456342 h 1456342"/>
                      <a:gd name="connsiteX3-57" fmla="*/ 0 w 2728959"/>
                      <a:gd name="connsiteY3-58" fmla="*/ 1456342 h 1456342"/>
                      <a:gd name="connsiteX4-59" fmla="*/ 496264 w 2728959"/>
                      <a:gd name="connsiteY4-60" fmla="*/ 0 h 145634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2728959" h="1456342">
                        <a:moveTo>
                          <a:pt x="496264" y="0"/>
                        </a:moveTo>
                        <a:lnTo>
                          <a:pt x="2728959" y="27738"/>
                        </a:lnTo>
                        <a:lnTo>
                          <a:pt x="2728959" y="1456342"/>
                        </a:lnTo>
                        <a:lnTo>
                          <a:pt x="0" y="1456342"/>
                        </a:lnTo>
                        <a:lnTo>
                          <a:pt x="496264" y="0"/>
                        </a:lnTo>
                        <a:close/>
                      </a:path>
                    </a:pathLst>
                  </a:cu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5" name="矩形 37"/>
                  <p:cNvSpPr/>
                  <p:nvPr/>
                </p:nvSpPr>
                <p:spPr>
                  <a:xfrm>
                    <a:off x="1875343" y="1937159"/>
                    <a:ext cx="4530963" cy="960550"/>
                  </a:xfrm>
                  <a:custGeom>
                    <a:avLst/>
                    <a:gdLst>
                      <a:gd name="connsiteX0" fmla="*/ 0 w 2728959"/>
                      <a:gd name="connsiteY0" fmla="*/ 0 h 1428604"/>
                      <a:gd name="connsiteX1" fmla="*/ 2728959 w 2728959"/>
                      <a:gd name="connsiteY1" fmla="*/ 0 h 1428604"/>
                      <a:gd name="connsiteX2" fmla="*/ 2728959 w 2728959"/>
                      <a:gd name="connsiteY2" fmla="*/ 1428604 h 1428604"/>
                      <a:gd name="connsiteX3" fmla="*/ 0 w 2728959"/>
                      <a:gd name="connsiteY3" fmla="*/ 1428604 h 1428604"/>
                      <a:gd name="connsiteX4" fmla="*/ 0 w 2728959"/>
                      <a:gd name="connsiteY4" fmla="*/ 0 h 1428604"/>
                      <a:gd name="connsiteX0-1" fmla="*/ 1140031 w 2728959"/>
                      <a:gd name="connsiteY0-2" fmla="*/ 0 h 1428604"/>
                      <a:gd name="connsiteX1-3" fmla="*/ 2728959 w 2728959"/>
                      <a:gd name="connsiteY1-4" fmla="*/ 0 h 1428604"/>
                      <a:gd name="connsiteX2-5" fmla="*/ 2728959 w 2728959"/>
                      <a:gd name="connsiteY2-6" fmla="*/ 1428604 h 1428604"/>
                      <a:gd name="connsiteX3-7" fmla="*/ 0 w 2728959"/>
                      <a:gd name="connsiteY3-8" fmla="*/ 1428604 h 1428604"/>
                      <a:gd name="connsiteX4-9" fmla="*/ 1140031 w 2728959"/>
                      <a:gd name="connsiteY4-10" fmla="*/ 0 h 1428604"/>
                      <a:gd name="connsiteX0-11" fmla="*/ 1282534 w 2728959"/>
                      <a:gd name="connsiteY0-12" fmla="*/ 0 h 1428604"/>
                      <a:gd name="connsiteX1-13" fmla="*/ 2728959 w 2728959"/>
                      <a:gd name="connsiteY1-14" fmla="*/ 0 h 1428604"/>
                      <a:gd name="connsiteX2-15" fmla="*/ 2728959 w 2728959"/>
                      <a:gd name="connsiteY2-16" fmla="*/ 1428604 h 1428604"/>
                      <a:gd name="connsiteX3-17" fmla="*/ 0 w 2728959"/>
                      <a:gd name="connsiteY3-18" fmla="*/ 1428604 h 1428604"/>
                      <a:gd name="connsiteX4-19" fmla="*/ 1282534 w 2728959"/>
                      <a:gd name="connsiteY4-20" fmla="*/ 0 h 1428604"/>
                      <a:gd name="connsiteX0-21" fmla="*/ 1211283 w 2728959"/>
                      <a:gd name="connsiteY0-22" fmla="*/ 0 h 1428604"/>
                      <a:gd name="connsiteX1-23" fmla="*/ 2728959 w 2728959"/>
                      <a:gd name="connsiteY1-24" fmla="*/ 0 h 1428604"/>
                      <a:gd name="connsiteX2-25" fmla="*/ 2728959 w 2728959"/>
                      <a:gd name="connsiteY2-26" fmla="*/ 1428604 h 1428604"/>
                      <a:gd name="connsiteX3-27" fmla="*/ 0 w 2728959"/>
                      <a:gd name="connsiteY3-28" fmla="*/ 1428604 h 1428604"/>
                      <a:gd name="connsiteX4-29" fmla="*/ 1211283 w 2728959"/>
                      <a:gd name="connsiteY4-30" fmla="*/ 0 h 1428604"/>
                      <a:gd name="connsiteX0-31" fmla="*/ 522514 w 2728959"/>
                      <a:gd name="connsiteY0-32" fmla="*/ 0 h 1456342"/>
                      <a:gd name="connsiteX1-33" fmla="*/ 2728959 w 2728959"/>
                      <a:gd name="connsiteY1-34" fmla="*/ 27738 h 1456342"/>
                      <a:gd name="connsiteX2-35" fmla="*/ 2728959 w 2728959"/>
                      <a:gd name="connsiteY2-36" fmla="*/ 1456342 h 1456342"/>
                      <a:gd name="connsiteX3-37" fmla="*/ 0 w 2728959"/>
                      <a:gd name="connsiteY3-38" fmla="*/ 1456342 h 1456342"/>
                      <a:gd name="connsiteX4-39" fmla="*/ 522514 w 2728959"/>
                      <a:gd name="connsiteY4-40" fmla="*/ 0 h 1456342"/>
                      <a:gd name="connsiteX0-41" fmla="*/ 510639 w 2728959"/>
                      <a:gd name="connsiteY0-42" fmla="*/ 0 h 1456342"/>
                      <a:gd name="connsiteX1-43" fmla="*/ 2728959 w 2728959"/>
                      <a:gd name="connsiteY1-44" fmla="*/ 27738 h 1456342"/>
                      <a:gd name="connsiteX2-45" fmla="*/ 2728959 w 2728959"/>
                      <a:gd name="connsiteY2-46" fmla="*/ 1456342 h 1456342"/>
                      <a:gd name="connsiteX3-47" fmla="*/ 0 w 2728959"/>
                      <a:gd name="connsiteY3-48" fmla="*/ 1456342 h 1456342"/>
                      <a:gd name="connsiteX4-49" fmla="*/ 510639 w 2728959"/>
                      <a:gd name="connsiteY4-50" fmla="*/ 0 h 1456342"/>
                      <a:gd name="connsiteX0-51" fmla="*/ 496264 w 2728959"/>
                      <a:gd name="connsiteY0-52" fmla="*/ 0 h 1456342"/>
                      <a:gd name="connsiteX1-53" fmla="*/ 2728959 w 2728959"/>
                      <a:gd name="connsiteY1-54" fmla="*/ 27738 h 1456342"/>
                      <a:gd name="connsiteX2-55" fmla="*/ 2728959 w 2728959"/>
                      <a:gd name="connsiteY2-56" fmla="*/ 1456342 h 1456342"/>
                      <a:gd name="connsiteX3-57" fmla="*/ 0 w 2728959"/>
                      <a:gd name="connsiteY3-58" fmla="*/ 1456342 h 1456342"/>
                      <a:gd name="connsiteX4-59" fmla="*/ 496264 w 2728959"/>
                      <a:gd name="connsiteY4-60" fmla="*/ 0 h 1456342"/>
                      <a:gd name="connsiteX0-61" fmla="*/ 493099 w 2728959"/>
                      <a:gd name="connsiteY0-62" fmla="*/ 3526 h 1428604"/>
                      <a:gd name="connsiteX1-63" fmla="*/ 2728959 w 2728959"/>
                      <a:gd name="connsiteY1-64" fmla="*/ 0 h 1428604"/>
                      <a:gd name="connsiteX2-65" fmla="*/ 2728959 w 2728959"/>
                      <a:gd name="connsiteY2-66" fmla="*/ 1428604 h 1428604"/>
                      <a:gd name="connsiteX3-67" fmla="*/ 0 w 2728959"/>
                      <a:gd name="connsiteY3-68" fmla="*/ 1428604 h 1428604"/>
                      <a:gd name="connsiteX4-69" fmla="*/ 493099 w 2728959"/>
                      <a:gd name="connsiteY4-70" fmla="*/ 3526 h 1428604"/>
                      <a:gd name="connsiteX0-71" fmla="*/ 493099 w 2728959"/>
                      <a:gd name="connsiteY0-72" fmla="*/ 0 h 1440709"/>
                      <a:gd name="connsiteX1-73" fmla="*/ 2728959 w 2728959"/>
                      <a:gd name="connsiteY1-74" fmla="*/ 12105 h 1440709"/>
                      <a:gd name="connsiteX2-75" fmla="*/ 2728959 w 2728959"/>
                      <a:gd name="connsiteY2-76" fmla="*/ 1440709 h 1440709"/>
                      <a:gd name="connsiteX3-77" fmla="*/ 0 w 2728959"/>
                      <a:gd name="connsiteY3-78" fmla="*/ 1440709 h 1440709"/>
                      <a:gd name="connsiteX4-79" fmla="*/ 493099 w 2728959"/>
                      <a:gd name="connsiteY4-80" fmla="*/ 0 h 1440709"/>
                      <a:gd name="connsiteX0-81" fmla="*/ 483603 w 2728959"/>
                      <a:gd name="connsiteY0-82" fmla="*/ 19158 h 1428604"/>
                      <a:gd name="connsiteX1-83" fmla="*/ 2728959 w 2728959"/>
                      <a:gd name="connsiteY1-84" fmla="*/ 0 h 1428604"/>
                      <a:gd name="connsiteX2-85" fmla="*/ 2728959 w 2728959"/>
                      <a:gd name="connsiteY2-86" fmla="*/ 1428604 h 1428604"/>
                      <a:gd name="connsiteX3-87" fmla="*/ 0 w 2728959"/>
                      <a:gd name="connsiteY3-88" fmla="*/ 1428604 h 1428604"/>
                      <a:gd name="connsiteX4-89" fmla="*/ 483603 w 2728959"/>
                      <a:gd name="connsiteY4-90" fmla="*/ 19158 h 1428604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2728959" h="1428604">
                        <a:moveTo>
                          <a:pt x="483603" y="19158"/>
                        </a:moveTo>
                        <a:lnTo>
                          <a:pt x="2728959" y="0"/>
                        </a:lnTo>
                        <a:lnTo>
                          <a:pt x="2728959" y="1428604"/>
                        </a:lnTo>
                        <a:lnTo>
                          <a:pt x="0" y="1428604"/>
                        </a:lnTo>
                        <a:lnTo>
                          <a:pt x="483603" y="19158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6" name="矩形 37"/>
                  <p:cNvSpPr/>
                  <p:nvPr/>
                </p:nvSpPr>
                <p:spPr>
                  <a:xfrm>
                    <a:off x="2722470" y="1244103"/>
                    <a:ext cx="3064535" cy="623478"/>
                  </a:xfrm>
                  <a:custGeom>
                    <a:avLst/>
                    <a:gdLst>
                      <a:gd name="connsiteX0" fmla="*/ 0 w 2728959"/>
                      <a:gd name="connsiteY0" fmla="*/ 0 h 1428604"/>
                      <a:gd name="connsiteX1" fmla="*/ 2728959 w 2728959"/>
                      <a:gd name="connsiteY1" fmla="*/ 0 h 1428604"/>
                      <a:gd name="connsiteX2" fmla="*/ 2728959 w 2728959"/>
                      <a:gd name="connsiteY2" fmla="*/ 1428604 h 1428604"/>
                      <a:gd name="connsiteX3" fmla="*/ 0 w 2728959"/>
                      <a:gd name="connsiteY3" fmla="*/ 1428604 h 1428604"/>
                      <a:gd name="connsiteX4" fmla="*/ 0 w 2728959"/>
                      <a:gd name="connsiteY4" fmla="*/ 0 h 1428604"/>
                      <a:gd name="connsiteX0-1" fmla="*/ 1140031 w 2728959"/>
                      <a:gd name="connsiteY0-2" fmla="*/ 0 h 1428604"/>
                      <a:gd name="connsiteX1-3" fmla="*/ 2728959 w 2728959"/>
                      <a:gd name="connsiteY1-4" fmla="*/ 0 h 1428604"/>
                      <a:gd name="connsiteX2-5" fmla="*/ 2728959 w 2728959"/>
                      <a:gd name="connsiteY2-6" fmla="*/ 1428604 h 1428604"/>
                      <a:gd name="connsiteX3-7" fmla="*/ 0 w 2728959"/>
                      <a:gd name="connsiteY3-8" fmla="*/ 1428604 h 1428604"/>
                      <a:gd name="connsiteX4-9" fmla="*/ 1140031 w 2728959"/>
                      <a:gd name="connsiteY4-10" fmla="*/ 0 h 1428604"/>
                      <a:gd name="connsiteX0-11" fmla="*/ 1282534 w 2728959"/>
                      <a:gd name="connsiteY0-12" fmla="*/ 0 h 1428604"/>
                      <a:gd name="connsiteX1-13" fmla="*/ 2728959 w 2728959"/>
                      <a:gd name="connsiteY1-14" fmla="*/ 0 h 1428604"/>
                      <a:gd name="connsiteX2-15" fmla="*/ 2728959 w 2728959"/>
                      <a:gd name="connsiteY2-16" fmla="*/ 1428604 h 1428604"/>
                      <a:gd name="connsiteX3-17" fmla="*/ 0 w 2728959"/>
                      <a:gd name="connsiteY3-18" fmla="*/ 1428604 h 1428604"/>
                      <a:gd name="connsiteX4-19" fmla="*/ 1282534 w 2728959"/>
                      <a:gd name="connsiteY4-20" fmla="*/ 0 h 1428604"/>
                      <a:gd name="connsiteX0-21" fmla="*/ 1211283 w 2728959"/>
                      <a:gd name="connsiteY0-22" fmla="*/ 0 h 1428604"/>
                      <a:gd name="connsiteX1-23" fmla="*/ 2728959 w 2728959"/>
                      <a:gd name="connsiteY1-24" fmla="*/ 0 h 1428604"/>
                      <a:gd name="connsiteX2-25" fmla="*/ 2728959 w 2728959"/>
                      <a:gd name="connsiteY2-26" fmla="*/ 1428604 h 1428604"/>
                      <a:gd name="connsiteX3-27" fmla="*/ 0 w 2728959"/>
                      <a:gd name="connsiteY3-28" fmla="*/ 1428604 h 1428604"/>
                      <a:gd name="connsiteX4-29" fmla="*/ 1211283 w 2728959"/>
                      <a:gd name="connsiteY4-30" fmla="*/ 0 h 1428604"/>
                      <a:gd name="connsiteX0-31" fmla="*/ 522514 w 2728959"/>
                      <a:gd name="connsiteY0-32" fmla="*/ 0 h 1456342"/>
                      <a:gd name="connsiteX1-33" fmla="*/ 2728959 w 2728959"/>
                      <a:gd name="connsiteY1-34" fmla="*/ 27738 h 1456342"/>
                      <a:gd name="connsiteX2-35" fmla="*/ 2728959 w 2728959"/>
                      <a:gd name="connsiteY2-36" fmla="*/ 1456342 h 1456342"/>
                      <a:gd name="connsiteX3-37" fmla="*/ 0 w 2728959"/>
                      <a:gd name="connsiteY3-38" fmla="*/ 1456342 h 1456342"/>
                      <a:gd name="connsiteX4-39" fmla="*/ 522514 w 2728959"/>
                      <a:gd name="connsiteY4-40" fmla="*/ 0 h 1456342"/>
                      <a:gd name="connsiteX0-41" fmla="*/ 510639 w 2728959"/>
                      <a:gd name="connsiteY0-42" fmla="*/ 0 h 1456342"/>
                      <a:gd name="connsiteX1-43" fmla="*/ 2728959 w 2728959"/>
                      <a:gd name="connsiteY1-44" fmla="*/ 27738 h 1456342"/>
                      <a:gd name="connsiteX2-45" fmla="*/ 2728959 w 2728959"/>
                      <a:gd name="connsiteY2-46" fmla="*/ 1456342 h 1456342"/>
                      <a:gd name="connsiteX3-47" fmla="*/ 0 w 2728959"/>
                      <a:gd name="connsiteY3-48" fmla="*/ 1456342 h 1456342"/>
                      <a:gd name="connsiteX4-49" fmla="*/ 510639 w 2728959"/>
                      <a:gd name="connsiteY4-50" fmla="*/ 0 h 1456342"/>
                      <a:gd name="connsiteX0-51" fmla="*/ 496264 w 2728959"/>
                      <a:gd name="connsiteY0-52" fmla="*/ 0 h 1456342"/>
                      <a:gd name="connsiteX1-53" fmla="*/ 2728959 w 2728959"/>
                      <a:gd name="connsiteY1-54" fmla="*/ 27738 h 1456342"/>
                      <a:gd name="connsiteX2-55" fmla="*/ 2728959 w 2728959"/>
                      <a:gd name="connsiteY2-56" fmla="*/ 1456342 h 1456342"/>
                      <a:gd name="connsiteX3-57" fmla="*/ 0 w 2728959"/>
                      <a:gd name="connsiteY3-58" fmla="*/ 1456342 h 1456342"/>
                      <a:gd name="connsiteX4-59" fmla="*/ 496264 w 2728959"/>
                      <a:gd name="connsiteY4-60" fmla="*/ 0 h 145634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2728959" h="1456342">
                        <a:moveTo>
                          <a:pt x="496264" y="0"/>
                        </a:moveTo>
                        <a:lnTo>
                          <a:pt x="2728959" y="27738"/>
                        </a:lnTo>
                        <a:lnTo>
                          <a:pt x="2728959" y="1456342"/>
                        </a:lnTo>
                        <a:lnTo>
                          <a:pt x="0" y="1456342"/>
                        </a:lnTo>
                        <a:lnTo>
                          <a:pt x="496264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梯形 26"/>
                  <p:cNvSpPr/>
                  <p:nvPr/>
                </p:nvSpPr>
                <p:spPr>
                  <a:xfrm>
                    <a:off x="3046328" y="1283079"/>
                    <a:ext cx="1100537" cy="517575"/>
                  </a:xfrm>
                  <a:prstGeom prst="trapezoid">
                    <a:avLst>
                      <a:gd name="adj" fmla="val 84195"/>
                    </a:avLst>
                  </a:prstGeom>
                  <a:noFill/>
                  <a:ln w="19050" cap="flat" cmpd="sng" algn="ctr">
                    <a:solidFill>
                      <a:srgbClr val="44546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just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8" name="梯形 27"/>
                  <p:cNvSpPr/>
                  <p:nvPr/>
                </p:nvSpPr>
                <p:spPr>
                  <a:xfrm>
                    <a:off x="2238917" y="1974394"/>
                    <a:ext cx="2627785" cy="832430"/>
                  </a:xfrm>
                  <a:prstGeom prst="trapezoid">
                    <a:avLst>
                      <a:gd name="adj" fmla="val 85360"/>
                    </a:avLst>
                  </a:prstGeom>
                  <a:noFill/>
                  <a:ln w="19050" cap="flat" cmpd="sng" algn="ctr">
                    <a:solidFill>
                      <a:srgbClr val="44546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just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9" name="梯形 28"/>
                  <p:cNvSpPr/>
                  <p:nvPr/>
                </p:nvSpPr>
                <p:spPr>
                  <a:xfrm>
                    <a:off x="1342844" y="3009275"/>
                    <a:ext cx="4508960" cy="879343"/>
                  </a:xfrm>
                  <a:prstGeom prst="trapezoid">
                    <a:avLst>
                      <a:gd name="adj" fmla="val 85360"/>
                    </a:avLst>
                  </a:prstGeom>
                  <a:noFill/>
                  <a:ln w="19050" cap="flat" cmpd="sng" algn="ctr">
                    <a:solidFill>
                      <a:srgbClr val="44546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just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梯形 29"/>
                  <p:cNvSpPr/>
                  <p:nvPr/>
                </p:nvSpPr>
                <p:spPr>
                  <a:xfrm>
                    <a:off x="179442" y="4108282"/>
                    <a:ext cx="6909064" cy="1181737"/>
                  </a:xfrm>
                  <a:prstGeom prst="trapezoid">
                    <a:avLst>
                      <a:gd name="adj" fmla="val 84749"/>
                    </a:avLst>
                  </a:prstGeom>
                  <a:noFill/>
                  <a:ln w="19050" cap="flat" cmpd="sng" algn="ctr">
                    <a:solidFill>
                      <a:srgbClr val="44546A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just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650262" y="4121987"/>
                    <a:ext cx="1343894" cy="1040641"/>
                    <a:chOff x="650262" y="4121987"/>
                    <a:chExt cx="1343894" cy="1040641"/>
                  </a:xfrm>
                </p:grpSpPr>
                <p:sp>
                  <p:nvSpPr>
                    <p:cNvPr id="90" name="矩形 89"/>
                    <p:cNvSpPr/>
                    <p:nvPr/>
                  </p:nvSpPr>
                  <p:spPr>
                    <a:xfrm>
                      <a:off x="650262" y="4851245"/>
                      <a:ext cx="1343894" cy="311383"/>
                    </a:xfrm>
                    <a:prstGeom prst="rect">
                      <a:avLst/>
                    </a:prstGeom>
                    <a:noFill/>
                    <a:ln w="1905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Webpack</a:t>
                      </a:r>
                      <a:endPara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pic>
                  <p:nvPicPr>
                    <p:cNvPr id="91" name="Picture 2" descr="Entry and Output - Intro to the Webpack | Reactgo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1" cstate="print">
                      <a:extLst>
                        <a:ext uri="{BEBA8EAE-BF5A-486C-A8C5-ECC9F3942E4B}">
                          <a14:imgProps xmlns:a14="http://schemas.microsoft.com/office/drawing/2010/main">
                            <a14:imgLayer r:embed="rId2">
                              <a14:imgEffect>
                                <a14:backgroundRemoval t="14888" b="82584" l="6180" r="37640">
                                  <a14:foregroundMark x1="17275" y1="26404" x2="17275" y2="26404"/>
                                  <a14:foregroundMark x1="28652" y1="21629" x2="28652" y2="21629"/>
                                  <a14:foregroundMark x1="36376" y1="43820" x2="36376" y2="43820"/>
                                  <a14:foregroundMark x1="28511" y1="57584" x2="28511" y2="57584"/>
                                  <a14:foregroundMark x1="16573" y1="55618" x2="16573" y2="55618"/>
                                  <a14:foregroundMark x1="8567" y1="49157" x2="8567" y2="49157"/>
                                  <a14:foregroundMark x1="15730" y1="71348" x2="15730" y2="71348"/>
                                  <a14:foregroundMark x1="30337" y1="73596" x2="30337" y2="73596"/>
                                  <a14:foregroundMark x1="37079" y1="64607" x2="37079" y2="64607"/>
                                  <a14:foregroundMark x1="36938" y1="63483" x2="36938" y2="63483"/>
                                  <a14:foregroundMark x1="36938" y1="63483" x2="36938" y2="63483"/>
                                  <a14:foregroundMark x1="36938" y1="63483" x2="36938" y2="63483"/>
                                  <a14:foregroundMark x1="37640" y1="66573" x2="37640" y2="66573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602" t="6593" r="59138" b="8408"/>
                    <a:stretch>
                      <a:fillRect/>
                    </a:stretch>
                  </p:blipFill>
                  <p:spPr bwMode="auto">
                    <a:xfrm>
                      <a:off x="990266" y="4121987"/>
                      <a:ext cx="663886" cy="73743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32" name="组合 31"/>
                  <p:cNvGrpSpPr/>
                  <p:nvPr/>
                </p:nvGrpSpPr>
                <p:grpSpPr>
                  <a:xfrm>
                    <a:off x="1969211" y="4143294"/>
                    <a:ext cx="1146533" cy="1127375"/>
                    <a:chOff x="1711715" y="4143294"/>
                    <a:chExt cx="1146533" cy="1127375"/>
                  </a:xfrm>
                </p:grpSpPr>
                <p:sp>
                  <p:nvSpPr>
                    <p:cNvPr id="88" name="文本框 87"/>
                    <p:cNvSpPr txBox="1"/>
                    <p:nvPr/>
                  </p:nvSpPr>
                  <p:spPr>
                    <a:xfrm>
                      <a:off x="1711715" y="4822270"/>
                      <a:ext cx="1146533" cy="4483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Nginx</a:t>
                      </a:r>
                      <a:endPara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pic>
                  <p:nvPicPr>
                    <p:cNvPr id="89" name="Picture 32" descr="SSL Proxy: Splunk &amp; NGINX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900603" y="4143294"/>
                      <a:ext cx="729065" cy="729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33" name="矩形 32"/>
                  <p:cNvSpPr/>
                  <p:nvPr/>
                </p:nvSpPr>
                <p:spPr>
                  <a:xfrm>
                    <a:off x="5490409" y="1255972"/>
                    <a:ext cx="3340751" cy="608768"/>
                  </a:xfrm>
                  <a:prstGeom prst="rect">
                    <a:avLst/>
                  </a:prstGeom>
                  <a:gradFill>
                    <a:gsLst>
                      <a:gs pos="27000">
                        <a:schemeClr val="accent1">
                          <a:lumMod val="20000"/>
                          <a:lumOff val="80000"/>
                        </a:schemeClr>
                      </a:gs>
                      <a:gs pos="54000">
                        <a:schemeClr val="accent1">
                          <a:lumMod val="40000"/>
                          <a:lumOff val="60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6972656" y="1320847"/>
                    <a:ext cx="1805016" cy="560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平台表现层</a:t>
                    </a:r>
                    <a:endParaRPr kumimoji="1"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矩形 34"/>
                  <p:cNvSpPr/>
                  <p:nvPr/>
                </p:nvSpPr>
                <p:spPr>
                  <a:xfrm>
                    <a:off x="5145841" y="1933617"/>
                    <a:ext cx="3685319" cy="961200"/>
                  </a:xfrm>
                  <a:prstGeom prst="rect">
                    <a:avLst/>
                  </a:prstGeom>
                  <a:gradFill>
                    <a:gsLst>
                      <a:gs pos="27000">
                        <a:schemeClr val="accent5">
                          <a:lumMod val="20000"/>
                          <a:lumOff val="80000"/>
                        </a:schemeClr>
                      </a:gs>
                      <a:gs pos="54000">
                        <a:schemeClr val="accent5">
                          <a:lumMod val="40000"/>
                          <a:lumOff val="60000"/>
                        </a:schemeClr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6972656" y="2226914"/>
                    <a:ext cx="1805016" cy="560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用户交互层</a:t>
                    </a:r>
                    <a:endParaRPr kumimoji="1"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7" name="文本框 36"/>
                  <p:cNvSpPr txBox="1"/>
                  <p:nvPr/>
                </p:nvSpPr>
                <p:spPr>
                  <a:xfrm>
                    <a:off x="6972656" y="3251933"/>
                    <a:ext cx="1805016" cy="560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逻辑服务层</a:t>
                    </a:r>
                    <a:endParaRPr kumimoji="1"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8" name="文本框 37"/>
                  <p:cNvSpPr txBox="1"/>
                  <p:nvPr/>
                </p:nvSpPr>
                <p:spPr>
                  <a:xfrm>
                    <a:off x="6972656" y="4468317"/>
                    <a:ext cx="1805016" cy="560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基础设施层</a:t>
                    </a:r>
                    <a:endParaRPr kumimoji="1" lang="zh-CN" altLang="en-US" sz="2400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9" name="圆角矩形 3"/>
                  <p:cNvSpPr/>
                  <p:nvPr/>
                </p:nvSpPr>
                <p:spPr>
                  <a:xfrm>
                    <a:off x="9805573" y="2140640"/>
                    <a:ext cx="1828600" cy="547154"/>
                  </a:xfrm>
                  <a:prstGeom prst="roundRect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赛果可视化</a:t>
                    </a:r>
                    <a:endParaRPr kumimoji="1" lang="en-US" altLang="zh-CN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0" name="圆角矩形 4"/>
                  <p:cNvSpPr/>
                  <p:nvPr/>
                </p:nvSpPr>
                <p:spPr>
                  <a:xfrm>
                    <a:off x="9805573" y="3107895"/>
                    <a:ext cx="1828601" cy="778473"/>
                  </a:xfrm>
                  <a:prstGeom prst="round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多</a:t>
                    </a:r>
                    <a:r>
                      <a:rPr kumimoji="1" lang="en-US" altLang="zh-CN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Agent</a:t>
                    </a:r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博弈</a:t>
                    </a:r>
                    <a:endParaRPr kumimoji="1" lang="en-US" altLang="zh-CN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/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实时赛事推演</a:t>
                    </a:r>
                    <a:endParaRPr kumimoji="1" lang="en-US" altLang="zh-CN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" name="圆角矩形 5"/>
                  <p:cNvSpPr/>
                  <p:nvPr/>
                </p:nvSpPr>
                <p:spPr>
                  <a:xfrm>
                    <a:off x="9806938" y="1172440"/>
                    <a:ext cx="1825869" cy="726806"/>
                  </a:xfrm>
                  <a:prstGeom prst="round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沉浸式赛事视角</a:t>
                    </a:r>
                    <a:endParaRPr kumimoji="1" lang="en-US" altLang="zh-CN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algn="ctr"/>
                    <a:r>
                      <a:rPr kumimoji="1"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战术策略复盘</a:t>
                    </a:r>
                    <a:endPara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" name="上弧形箭头 75"/>
                  <p:cNvSpPr/>
                  <p:nvPr/>
                </p:nvSpPr>
                <p:spPr>
                  <a:xfrm rot="7812846">
                    <a:off x="1209709" y="2532733"/>
                    <a:ext cx="1140387" cy="537327"/>
                  </a:xfrm>
                  <a:prstGeom prst="curvedUpArrow">
                    <a:avLst>
                      <a:gd name="adj1" fmla="val 19516"/>
                      <a:gd name="adj2" fmla="val 35978"/>
                      <a:gd name="adj3" fmla="val 25000"/>
                    </a:avLst>
                  </a:prstGeom>
                  <a:solidFill>
                    <a:srgbClr val="F6F6F6"/>
                  </a:solidFill>
                  <a:ln w="19050" cap="flat" cmpd="sng" algn="ctr">
                    <a:solidFill>
                      <a:srgbClr val="AA1219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just"/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" name="左右箭头 49"/>
                  <p:cNvSpPr/>
                  <p:nvPr/>
                </p:nvSpPr>
                <p:spPr>
                  <a:xfrm>
                    <a:off x="8831160" y="2187759"/>
                    <a:ext cx="1108487" cy="435885"/>
                  </a:xfrm>
                  <a:prstGeom prst="leftRightArrow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4" name="左右箭头 103"/>
                  <p:cNvSpPr/>
                  <p:nvPr/>
                </p:nvSpPr>
                <p:spPr>
                  <a:xfrm>
                    <a:off x="8843526" y="3264821"/>
                    <a:ext cx="1108487" cy="435885"/>
                  </a:xfrm>
                  <a:prstGeom prst="leftRightArrow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>
                    <a:solidFill>
                      <a:schemeClr val="accent3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5" name="左右箭头 105"/>
                  <p:cNvSpPr/>
                  <p:nvPr/>
                </p:nvSpPr>
                <p:spPr>
                  <a:xfrm>
                    <a:off x="8843034" y="1331729"/>
                    <a:ext cx="1108487" cy="435885"/>
                  </a:xfrm>
                  <a:prstGeom prst="leftRightArrow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6" name="右箭头 6"/>
                  <p:cNvSpPr/>
                  <p:nvPr/>
                </p:nvSpPr>
                <p:spPr>
                  <a:xfrm rot="5400000">
                    <a:off x="10704746" y="1931998"/>
                    <a:ext cx="335533" cy="211889"/>
                  </a:xfrm>
                  <a:prstGeom prst="rightArrow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7" name="右箭头 6"/>
                  <p:cNvSpPr/>
                  <p:nvPr/>
                </p:nvSpPr>
                <p:spPr>
                  <a:xfrm rot="16200000">
                    <a:off x="10425927" y="1931997"/>
                    <a:ext cx="335534" cy="211891"/>
                  </a:xfrm>
                  <a:prstGeom prst="rightArrow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8" name="右箭头 6"/>
                  <p:cNvSpPr/>
                  <p:nvPr/>
                </p:nvSpPr>
                <p:spPr>
                  <a:xfrm rot="5400000">
                    <a:off x="10638800" y="2876307"/>
                    <a:ext cx="461995" cy="217318"/>
                  </a:xfrm>
                  <a:prstGeom prst="rightArrow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9" name="右箭头 6"/>
                  <p:cNvSpPr/>
                  <p:nvPr/>
                </p:nvSpPr>
                <p:spPr>
                  <a:xfrm rot="16200000">
                    <a:off x="10359981" y="2876306"/>
                    <a:ext cx="461996" cy="217320"/>
                  </a:xfrm>
                  <a:prstGeom prst="rightArrow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50" name="组合 49"/>
                  <p:cNvGrpSpPr/>
                  <p:nvPr/>
                </p:nvGrpSpPr>
                <p:grpSpPr>
                  <a:xfrm>
                    <a:off x="3090799" y="4206570"/>
                    <a:ext cx="1343894" cy="956058"/>
                    <a:chOff x="2620617" y="4206570"/>
                    <a:chExt cx="1343894" cy="956058"/>
                  </a:xfrm>
                </p:grpSpPr>
                <p:pic>
                  <p:nvPicPr>
                    <p:cNvPr id="86" name="图片 85"/>
                    <p:cNvPicPr/>
                    <p:nvPr/>
                  </p:nvPicPr>
                  <p:blipFill>
                    <a:blip r:embed="rId4"/>
                    <a:srcRect l="26402" r="23667"/>
                    <a:stretch>
                      <a:fillRect/>
                    </a:stretch>
                  </p:blipFill>
                  <p:spPr>
                    <a:xfrm>
                      <a:off x="2860774" y="4206570"/>
                      <a:ext cx="919943" cy="70834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  <p:sp>
                  <p:nvSpPr>
                    <p:cNvPr id="87" name="矩形 86"/>
                    <p:cNvSpPr/>
                    <p:nvPr/>
                  </p:nvSpPr>
                  <p:spPr>
                    <a:xfrm>
                      <a:off x="2620617" y="4851245"/>
                      <a:ext cx="1343894" cy="311383"/>
                    </a:xfrm>
                    <a:prstGeom prst="rect">
                      <a:avLst/>
                    </a:prstGeom>
                    <a:noFill/>
                    <a:ln w="1905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Docker</a:t>
                      </a:r>
                      <a:endPara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51" name="组合 50"/>
                  <p:cNvGrpSpPr/>
                  <p:nvPr/>
                </p:nvGrpSpPr>
                <p:grpSpPr>
                  <a:xfrm>
                    <a:off x="7489042" y="5729618"/>
                    <a:ext cx="4139140" cy="959469"/>
                    <a:chOff x="4683519" y="5729618"/>
                    <a:chExt cx="4638281" cy="959469"/>
                  </a:xfrm>
                </p:grpSpPr>
                <p:sp>
                  <p:nvSpPr>
                    <p:cNvPr id="78" name="圆角矩形 136"/>
                    <p:cNvSpPr/>
                    <p:nvPr/>
                  </p:nvSpPr>
                  <p:spPr>
                    <a:xfrm>
                      <a:off x="4683519" y="5729618"/>
                      <a:ext cx="4638281" cy="959469"/>
                    </a:xfrm>
                    <a:prstGeom prst="roundRect">
                      <a:avLst>
                        <a:gd name="adj" fmla="val 7589"/>
                      </a:avLst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79" name="组合 78"/>
                    <p:cNvGrpSpPr/>
                    <p:nvPr/>
                  </p:nvGrpSpPr>
                  <p:grpSpPr>
                    <a:xfrm>
                      <a:off x="4803278" y="5861732"/>
                      <a:ext cx="4388407" cy="706712"/>
                      <a:chOff x="4667448" y="5861732"/>
                      <a:chExt cx="4388407" cy="706712"/>
                    </a:xfrm>
                    <a:noFill/>
                  </p:grpSpPr>
                  <p:sp>
                    <p:nvSpPr>
                      <p:cNvPr id="80" name="矩形 79"/>
                      <p:cNvSpPr/>
                      <p:nvPr/>
                    </p:nvSpPr>
                    <p:spPr>
                      <a:xfrm>
                        <a:off x="4667448" y="6275366"/>
                        <a:ext cx="877167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流量削峰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1" name="矩形 80"/>
                      <p:cNvSpPr/>
                      <p:nvPr/>
                    </p:nvSpPr>
                    <p:spPr>
                      <a:xfrm>
                        <a:off x="4667448" y="5861732"/>
                        <a:ext cx="4388407" cy="413634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600" b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消息队列</a:t>
                        </a:r>
                        <a:endPara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2" name="矩形 81"/>
                      <p:cNvSpPr/>
                      <p:nvPr/>
                    </p:nvSpPr>
                    <p:spPr>
                      <a:xfrm>
                        <a:off x="5548064" y="6275366"/>
                        <a:ext cx="877167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异步处理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3" name="矩形 82"/>
                      <p:cNvSpPr/>
                      <p:nvPr/>
                    </p:nvSpPr>
                    <p:spPr>
                      <a:xfrm>
                        <a:off x="6425231" y="6275366"/>
                        <a:ext cx="877167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数据同步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4" name="矩形 83"/>
                      <p:cNvSpPr/>
                      <p:nvPr/>
                    </p:nvSpPr>
                    <p:spPr>
                      <a:xfrm>
                        <a:off x="7302398" y="6275366"/>
                        <a:ext cx="877167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事务处理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85" name="矩形 84"/>
                      <p:cNvSpPr/>
                      <p:nvPr/>
                    </p:nvSpPr>
                    <p:spPr>
                      <a:xfrm>
                        <a:off x="8178688" y="6275366"/>
                        <a:ext cx="877167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缓冲请求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</p:grpSp>
              </p:grpSp>
              <p:grpSp>
                <p:nvGrpSpPr>
                  <p:cNvPr id="52" name="组合 51"/>
                  <p:cNvGrpSpPr/>
                  <p:nvPr/>
                </p:nvGrpSpPr>
                <p:grpSpPr>
                  <a:xfrm>
                    <a:off x="3093601" y="5729618"/>
                    <a:ext cx="4139140" cy="959469"/>
                    <a:chOff x="59462" y="5729618"/>
                    <a:chExt cx="4388407" cy="959469"/>
                  </a:xfrm>
                </p:grpSpPr>
                <p:sp>
                  <p:nvSpPr>
                    <p:cNvPr id="71" name="圆角矩形 135"/>
                    <p:cNvSpPr/>
                    <p:nvPr/>
                  </p:nvSpPr>
                  <p:spPr>
                    <a:xfrm>
                      <a:off x="59462" y="5729618"/>
                      <a:ext cx="4388407" cy="959469"/>
                    </a:xfrm>
                    <a:prstGeom prst="roundRect">
                      <a:avLst>
                        <a:gd name="adj" fmla="val 7589"/>
                      </a:avLst>
                    </a:prstGeom>
                    <a:solidFill>
                      <a:schemeClr val="tx2">
                        <a:lumMod val="10000"/>
                        <a:lumOff val="9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grpSp>
                  <p:nvGrpSpPr>
                    <p:cNvPr id="72" name="组合 71"/>
                    <p:cNvGrpSpPr/>
                    <p:nvPr/>
                  </p:nvGrpSpPr>
                  <p:grpSpPr>
                    <a:xfrm>
                      <a:off x="150034" y="5862354"/>
                      <a:ext cx="4237306" cy="706090"/>
                      <a:chOff x="150034" y="5862354"/>
                      <a:chExt cx="4237306" cy="706090"/>
                    </a:xfrm>
                    <a:noFill/>
                  </p:grpSpPr>
                  <p:sp>
                    <p:nvSpPr>
                      <p:cNvPr id="73" name="矩形 72"/>
                      <p:cNvSpPr/>
                      <p:nvPr/>
                    </p:nvSpPr>
                    <p:spPr>
                      <a:xfrm>
                        <a:off x="150034" y="6275366"/>
                        <a:ext cx="1039015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页面部署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74" name="矩形 73"/>
                      <p:cNvSpPr/>
                      <p:nvPr/>
                    </p:nvSpPr>
                    <p:spPr>
                      <a:xfrm>
                        <a:off x="152327" y="5862354"/>
                        <a:ext cx="4235013" cy="413634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600" b="1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容器化部署</a:t>
                        </a:r>
                        <a:endParaRPr lang="zh-CN" altLang="en-US" sz="16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75" name="矩形 74"/>
                      <p:cNvSpPr/>
                      <p:nvPr/>
                    </p:nvSpPr>
                    <p:spPr>
                      <a:xfrm>
                        <a:off x="1189049" y="6275366"/>
                        <a:ext cx="1325951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后端服务容器化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76" name="矩形 75"/>
                      <p:cNvSpPr/>
                      <p:nvPr/>
                    </p:nvSpPr>
                    <p:spPr>
                      <a:xfrm>
                        <a:off x="2515000" y="6275366"/>
                        <a:ext cx="936170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r>
                          <a:rPr lang="zh-CN" altLang="en-US" sz="105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ea"/>
                            <a:sym typeface="+mn-lt"/>
                          </a:rPr>
                          <a:t>负载均衡</a:t>
                        </a:r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  <p:sp>
                    <p:nvSpPr>
                      <p:cNvPr id="77" name="矩形 76"/>
                      <p:cNvSpPr/>
                      <p:nvPr/>
                    </p:nvSpPr>
                    <p:spPr>
                      <a:xfrm>
                        <a:off x="3448878" y="6275366"/>
                        <a:ext cx="936171" cy="293078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wrap="square" anchor="ctr">
                        <a:noAutofit/>
                      </a:bodyPr>
                      <a:lstStyle/>
                      <a:p>
                        <a:pPr algn="ctr"/>
                        <a:endParaRPr lang="zh-CN" altLang="en-US" sz="105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endParaRPr>
                      </a:p>
                    </p:txBody>
                  </p:sp>
                </p:grpSp>
              </p:grpSp>
              <p:sp>
                <p:nvSpPr>
                  <p:cNvPr id="53" name="文本框 52"/>
                  <p:cNvSpPr txBox="1"/>
                  <p:nvPr/>
                </p:nvSpPr>
                <p:spPr>
                  <a:xfrm>
                    <a:off x="9805573" y="4022200"/>
                    <a:ext cx="1704290" cy="179359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API</a:t>
                    </a:r>
                    <a:r>
                      <a: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网关</a:t>
                    </a:r>
                    <a:endParaRPr kumimoji="1"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容器化部署</a:t>
                    </a:r>
                    <a:endParaRPr kumimoji="1"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消息队列</a:t>
                    </a:r>
                    <a:endParaRPr kumimoji="1"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配置管理</a:t>
                    </a:r>
                    <a:endParaRPr kumimoji="1"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...</a:t>
                    </a:r>
                    <a:endParaRPr kumimoji="1"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3216477" y="1490231"/>
                    <a:ext cx="806147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Unity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" name="文本框 54"/>
                  <p:cNvSpPr txBox="1"/>
                  <p:nvPr/>
                </p:nvSpPr>
                <p:spPr>
                  <a:xfrm>
                    <a:off x="2522258" y="2468288"/>
                    <a:ext cx="633635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Vue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pic>
                <p:nvPicPr>
                  <p:cNvPr id="56" name="Picture 4" descr="Tutorial Review - Learn Vue.js - Beginner to Expert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2425" t="26043" r="22854" b="26464"/>
                  <a:stretch>
                    <a:fillRect/>
                  </a:stretch>
                </p:blipFill>
                <p:spPr bwMode="auto">
                  <a:xfrm>
                    <a:off x="2468249" y="2020806"/>
                    <a:ext cx="630834" cy="54751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7" name="Picture 6" descr="Golang tutorial for beginners | learn golang from scratch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779776" y="2670343"/>
                    <a:ext cx="1316631" cy="116311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8" name="文本框 57"/>
                  <p:cNvSpPr txBox="1"/>
                  <p:nvPr/>
                </p:nvSpPr>
                <p:spPr>
                  <a:xfrm>
                    <a:off x="2217518" y="3552743"/>
                    <a:ext cx="527471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Go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59" name="组合 58"/>
                  <p:cNvGrpSpPr/>
                  <p:nvPr/>
                </p:nvGrpSpPr>
                <p:grpSpPr>
                  <a:xfrm>
                    <a:off x="4409748" y="4087085"/>
                    <a:ext cx="989336" cy="1075543"/>
                    <a:chOff x="3957655" y="4087085"/>
                    <a:chExt cx="989336" cy="1075543"/>
                  </a:xfrm>
                </p:grpSpPr>
                <p:pic>
                  <p:nvPicPr>
                    <p:cNvPr id="69" name="Picture 2" descr="Milvus – Medium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7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992353" y="4087085"/>
                      <a:ext cx="919941" cy="91994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70" name="矩形 69"/>
                    <p:cNvSpPr/>
                    <p:nvPr/>
                  </p:nvSpPr>
                  <p:spPr>
                    <a:xfrm>
                      <a:off x="3957655" y="4851245"/>
                      <a:ext cx="989336" cy="311383"/>
                    </a:xfrm>
                    <a:prstGeom prst="rect">
                      <a:avLst/>
                    </a:prstGeom>
                    <a:noFill/>
                    <a:ln w="1905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/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Milvus</a:t>
                      </a:r>
                      <a:endParaRPr kumimoji="1"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5374137" y="4186057"/>
                    <a:ext cx="1071773" cy="976571"/>
                    <a:chOff x="5086693" y="4186057"/>
                    <a:chExt cx="1071773" cy="976571"/>
                  </a:xfrm>
                </p:grpSpPr>
                <p:pic>
                  <p:nvPicPr>
                    <p:cNvPr id="67" name="图片 66"/>
                    <p:cNvPicPr>
                      <a:picLocks noChangeAspect="1"/>
                    </p:cNvPicPr>
                    <p:nvPr/>
                  </p:nvPicPr>
                  <p:blipFill rotWithShape="1">
                    <a:blip r:embed="rId8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1054" t="12625" r="13663" b="5838"/>
                    <a:stretch>
                      <a:fillRect/>
                    </a:stretch>
                  </p:blipFill>
                  <p:spPr>
                    <a:xfrm>
                      <a:off x="5290911" y="4186057"/>
                      <a:ext cx="663337" cy="71844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68" name="矩形 67"/>
                    <p:cNvSpPr/>
                    <p:nvPr/>
                  </p:nvSpPr>
                  <p:spPr>
                    <a:xfrm>
                      <a:off x="5086693" y="4851245"/>
                      <a:ext cx="1071773" cy="311383"/>
                    </a:xfrm>
                    <a:prstGeom prst="rect">
                      <a:avLst/>
                    </a:prstGeom>
                    <a:noFill/>
                    <a:ln w="1905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algn="ctr"/>
                      <a:r>
                        <a:rPr kumimoji="1"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文心一言</a:t>
                      </a:r>
                      <a:endParaRPr kumimoji="1"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pic>
                <p:nvPicPr>
                  <p:cNvPr id="61" name="Picture 4" descr="Go] มาดูสิ่งที่น่าสนใจใน Echo framework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9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5296" r="67805" b="29156"/>
                  <a:stretch>
                    <a:fillRect/>
                  </a:stretch>
                </p:blipFill>
                <p:spPr bwMode="auto">
                  <a:xfrm>
                    <a:off x="3160138" y="2903992"/>
                    <a:ext cx="815772" cy="79859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3225623" y="3552743"/>
                    <a:ext cx="755783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echo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pic>
                <p:nvPicPr>
                  <p:cNvPr id="63" name="Picture 6" descr="gRPC vs. REST 效能測試. gPRC 與REST 的效能測試| by Chung-chun Lo | Skyler Record |  Medium"/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186644" y="3082638"/>
                    <a:ext cx="1171741" cy="4895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4" name="文本框 63"/>
                  <p:cNvSpPr txBox="1"/>
                  <p:nvPr/>
                </p:nvSpPr>
                <p:spPr>
                  <a:xfrm>
                    <a:off x="4372405" y="3552743"/>
                    <a:ext cx="814540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 err="1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gRPC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pic>
                <p:nvPicPr>
                  <p:cNvPr id="65" name="Picture 8" descr="WebGL | Logopedia | Fandom"/>
                  <p:cNvPicPr>
                    <a:picLocks noChangeAspect="1" noChangeArrowheads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392998" y="2032473"/>
                    <a:ext cx="1151541" cy="51819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6" name="文本框 65"/>
                  <p:cNvSpPr txBox="1"/>
                  <p:nvPr/>
                </p:nvSpPr>
                <p:spPr>
                  <a:xfrm>
                    <a:off x="3510951" y="2468288"/>
                    <a:ext cx="1029894" cy="4483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zh-CN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WebGL</a:t>
                    </a:r>
                    <a:endParaRPr kumimoji="1"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pic>
              <p:nvPicPr>
                <p:cNvPr id="18" name="Picture 2" descr="آموزش تخصصی بازی سازی با Unity"/>
                <p:cNvPicPr>
                  <a:picLocks noChangeAspect="1" noChangeArrowheads="1"/>
                </p:cNvPicPr>
                <p:nvPr/>
              </p:nvPicPr>
              <p:blipFill rotWithShape="1"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575" r="25696"/>
                <a:stretch>
                  <a:fillRect/>
                </a:stretch>
              </p:blipFill>
              <p:spPr bwMode="auto">
                <a:xfrm>
                  <a:off x="3272924" y="919580"/>
                  <a:ext cx="633951" cy="7317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" name="组合 10"/>
              <p:cNvGrpSpPr/>
              <p:nvPr/>
            </p:nvGrpSpPr>
            <p:grpSpPr>
              <a:xfrm>
                <a:off x="96708" y="5729618"/>
                <a:ext cx="2730432" cy="959469"/>
                <a:chOff x="96708" y="5729618"/>
                <a:chExt cx="2730432" cy="959469"/>
              </a:xfrm>
            </p:grpSpPr>
            <p:sp>
              <p:nvSpPr>
                <p:cNvPr id="12" name="圆角矩形 140"/>
                <p:cNvSpPr/>
                <p:nvPr/>
              </p:nvSpPr>
              <p:spPr>
                <a:xfrm>
                  <a:off x="96708" y="5729618"/>
                  <a:ext cx="2730432" cy="959469"/>
                </a:xfrm>
                <a:prstGeom prst="roundRect">
                  <a:avLst>
                    <a:gd name="adj" fmla="val 7589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224603" y="6275366"/>
                  <a:ext cx="824996" cy="2930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noAutofit/>
                </a:bodyPr>
                <a:lstStyle/>
                <a:p>
                  <a:pPr algn="ctr"/>
                  <a:r>
                    <a:rPr lang="zh-CN" altLang="en-US" sz="105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熔断降级</a:t>
                  </a:r>
                  <a:endParaRPr lang="zh-CN" altLang="en-US" sz="105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224602" y="5861732"/>
                  <a:ext cx="2475791" cy="41363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noAutofit/>
                </a:bodyPr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API</a:t>
                  </a:r>
                  <a:r>
                    <a:rPr lang="zh-CN" altLang="en-US" sz="16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网关</a:t>
                  </a:r>
                  <a:endParaRPr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1053132" y="6275366"/>
                  <a:ext cx="824996" cy="2930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noAutofit/>
                </a:bodyPr>
                <a:lstStyle/>
                <a:p>
                  <a:pPr algn="ctr"/>
                  <a:r>
                    <a:rPr lang="zh-CN" altLang="en-US" sz="105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流量控制</a:t>
                  </a:r>
                  <a:endParaRPr lang="zh-CN" altLang="en-US" sz="105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1877301" y="6275366"/>
                  <a:ext cx="824996" cy="2930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anchor="ctr">
                  <a:noAutofit/>
                </a:bodyPr>
                <a:lstStyle/>
                <a:p>
                  <a:pPr algn="ctr"/>
                  <a:r>
                    <a:rPr lang="zh-CN" altLang="en-US" sz="105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服务聚合</a:t>
                  </a:r>
                  <a:endParaRPr lang="zh-CN" altLang="en-US" sz="105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93" name="文本框 92"/>
          <p:cNvSpPr txBox="1"/>
          <p:nvPr/>
        </p:nvSpPr>
        <p:spPr>
          <a:xfrm>
            <a:off x="6491812" y="5145327"/>
            <a:ext cx="10389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环境标准化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数据模型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算法逻辑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107235" y="240366"/>
            <a:ext cx="1124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解决方案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50625" y="919164"/>
            <a:ext cx="11110586" cy="657713"/>
          </a:xfrm>
          <a:prstGeom prst="rect">
            <a:avLst/>
          </a:prstGeom>
          <a:noFill/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83083" y="1043022"/>
            <a:ext cx="1755731" cy="409998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F1</a:t>
            </a: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官方规则库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050609" y="1043022"/>
            <a:ext cx="1755731" cy="409998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赛道三维建模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218135" y="1043022"/>
            <a:ext cx="1755731" cy="409998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车辆工程参数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385661" y="1043022"/>
            <a:ext cx="1755731" cy="409998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实时天气数据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9553186" y="1043022"/>
            <a:ext cx="1755731" cy="409998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赛事道德规范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550625" y="3602780"/>
            <a:ext cx="1967345" cy="1792197"/>
          </a:xfrm>
          <a:prstGeom prst="roundRect">
            <a:avLst>
              <a:gd name="adj" fmla="val 7503"/>
            </a:avLst>
          </a:prstGeom>
          <a:solidFill>
            <a:srgbClr val="FAFAFA"/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676064" y="3313357"/>
            <a:ext cx="1675820" cy="563671"/>
          </a:xfrm>
          <a:prstGeom prst="roundRect">
            <a:avLst/>
          </a:prstGeom>
          <a:solidFill>
            <a:srgbClr val="1F4D78">
              <a:lumMod val="75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赛前战术决策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86366" y="3996144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车辆调校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86366" y="4421777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天气状态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86366" y="4847411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车队战术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102534" y="5793851"/>
            <a:ext cx="2651644" cy="565459"/>
          </a:xfrm>
          <a:prstGeom prst="roundRect">
            <a:avLst/>
          </a:prstGeom>
          <a:gradFill>
            <a:gsLst>
              <a:gs pos="0">
                <a:srgbClr val="84B3FA"/>
              </a:gs>
              <a:gs pos="55000">
                <a:srgbClr val="4074E3"/>
              </a:gs>
              <a:gs pos="100000">
                <a:srgbClr val="133988"/>
              </a:gs>
            </a:gsLst>
            <a:lin ang="5400000" scaled="0"/>
          </a:gra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模拟推演：策略协同化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8161E">
                  <a:lumMod val="20000"/>
                  <a:lumOff val="80000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下箭头 56"/>
          <p:cNvSpPr/>
          <p:nvPr/>
        </p:nvSpPr>
        <p:spPr>
          <a:xfrm>
            <a:off x="8008306" y="1575553"/>
            <a:ext cx="485349" cy="2027226"/>
          </a:xfrm>
          <a:prstGeom prst="downArrow">
            <a:avLst/>
          </a:prstGeom>
          <a:gradFill>
            <a:gsLst>
              <a:gs pos="50000">
                <a:srgbClr val="4074E3"/>
              </a:gs>
              <a:gs pos="100000">
                <a:srgbClr val="133988"/>
              </a:gs>
              <a:gs pos="0">
                <a:srgbClr val="6AA8EA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下箭头 57"/>
          <p:cNvSpPr/>
          <p:nvPr/>
        </p:nvSpPr>
        <p:spPr>
          <a:xfrm>
            <a:off x="3698344" y="1586125"/>
            <a:ext cx="485349" cy="2016654"/>
          </a:xfrm>
          <a:prstGeom prst="downArrow">
            <a:avLst/>
          </a:prstGeom>
          <a:gradFill>
            <a:gsLst>
              <a:gs pos="50000">
                <a:srgbClr val="4074E3"/>
              </a:gs>
              <a:gs pos="100000">
                <a:srgbClr val="133988"/>
              </a:gs>
              <a:gs pos="0">
                <a:srgbClr val="6AA8EA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下箭头 58"/>
          <p:cNvSpPr/>
          <p:nvPr/>
        </p:nvSpPr>
        <p:spPr>
          <a:xfrm>
            <a:off x="5853325" y="1584716"/>
            <a:ext cx="485349" cy="2027226"/>
          </a:xfrm>
          <a:prstGeom prst="downArrow">
            <a:avLst/>
          </a:prstGeom>
          <a:gradFill>
            <a:gsLst>
              <a:gs pos="50000">
                <a:srgbClr val="4074E3"/>
              </a:gs>
              <a:gs pos="100000">
                <a:srgbClr val="133988"/>
              </a:gs>
              <a:gs pos="0">
                <a:srgbClr val="6AA8EA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3186700" y="3602781"/>
            <a:ext cx="5838436" cy="1792196"/>
          </a:xfrm>
          <a:prstGeom prst="roundRect">
            <a:avLst/>
          </a:prstGeom>
          <a:solidFill>
            <a:srgbClr val="FAFAFA"/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682" y="4009140"/>
            <a:ext cx="893320" cy="893320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3735921" y="4954061"/>
            <a:ext cx="150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状态监控</a:t>
            </a:r>
            <a:endParaRPr kumimoji="1"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>
            <a:duotone>
              <a:srgbClr val="DBDBDB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061" y="4061350"/>
            <a:ext cx="788901" cy="788901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5553133" y="4954061"/>
            <a:ext cx="14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策略执行</a:t>
            </a:r>
            <a:endParaRPr kumimoji="1"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81" t="20970" r="23152" b="20910"/>
          <a:stretch>
            <a:fillRect/>
          </a:stretch>
        </p:blipFill>
        <p:spPr>
          <a:xfrm>
            <a:off x="7508021" y="4050981"/>
            <a:ext cx="788901" cy="809638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7370344" y="4954061"/>
            <a:ext cx="1506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赛果生成</a:t>
            </a:r>
            <a:endParaRPr kumimoji="1"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4588286" y="3313307"/>
            <a:ext cx="2990592" cy="563672"/>
          </a:xfrm>
          <a:prstGeom prst="roundRect">
            <a:avLst/>
          </a:prstGeom>
          <a:solidFill>
            <a:srgbClr val="1F4D78">
              <a:lumMod val="75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赛中实时推演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右箭头 67"/>
          <p:cNvSpPr/>
          <p:nvPr/>
        </p:nvSpPr>
        <p:spPr>
          <a:xfrm>
            <a:off x="2457885" y="4525466"/>
            <a:ext cx="788901" cy="524408"/>
          </a:xfrm>
          <a:prstGeom prst="rightArrow">
            <a:avLst/>
          </a:prstGeom>
          <a:gradFill>
            <a:gsLst>
              <a:gs pos="50000">
                <a:srgbClr val="4074E3"/>
              </a:gs>
              <a:gs pos="100000">
                <a:srgbClr val="133988"/>
              </a:gs>
              <a:gs pos="0">
                <a:srgbClr val="6AA8EA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9" name="直线箭头连接符 68"/>
          <p:cNvCxnSpPr/>
          <p:nvPr/>
        </p:nvCxnSpPr>
        <p:spPr>
          <a:xfrm flipV="1">
            <a:off x="4831392" y="4515366"/>
            <a:ext cx="604904" cy="1"/>
          </a:xfrm>
          <a:prstGeom prst="straightConnector1">
            <a:avLst/>
          </a:prstGeom>
          <a:noFill/>
          <a:ln w="31750" cap="flat" cmpd="sng" algn="ctr">
            <a:solidFill>
              <a:srgbClr val="1B1C21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0" name="直线箭头连接符 69"/>
          <p:cNvCxnSpPr/>
          <p:nvPr/>
        </p:nvCxnSpPr>
        <p:spPr>
          <a:xfrm flipV="1">
            <a:off x="6681784" y="4515366"/>
            <a:ext cx="604904" cy="1"/>
          </a:xfrm>
          <a:prstGeom prst="straightConnector1">
            <a:avLst/>
          </a:prstGeom>
          <a:noFill/>
          <a:ln w="31750" cap="flat" cmpd="sng" algn="ctr">
            <a:solidFill>
              <a:srgbClr val="1B1C21">
                <a:lumMod val="50000"/>
                <a:lumOff val="5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71" name="圆角矩形 70"/>
          <p:cNvSpPr/>
          <p:nvPr/>
        </p:nvSpPr>
        <p:spPr>
          <a:xfrm>
            <a:off x="257328" y="5793851"/>
            <a:ext cx="2651644" cy="565459"/>
          </a:xfrm>
          <a:prstGeom prst="roundRect">
            <a:avLst/>
          </a:prstGeom>
          <a:gradFill>
            <a:gsLst>
              <a:gs pos="0">
                <a:srgbClr val="84B3FA"/>
              </a:gs>
              <a:gs pos="55000">
                <a:srgbClr val="4074E3"/>
              </a:gs>
              <a:gs pos="100000">
                <a:srgbClr val="133988"/>
              </a:gs>
            </a:gsLst>
            <a:lin ang="5400000" scaled="0"/>
          </a:gra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世界建模：规则具象化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8161E">
                  <a:lumMod val="20000"/>
                  <a:lumOff val="80000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50625" y="1705178"/>
            <a:ext cx="11110586" cy="1458907"/>
          </a:xfrm>
          <a:prstGeom prst="rect">
            <a:avLst/>
          </a:prstGeom>
          <a:gradFill>
            <a:gsLst>
              <a:gs pos="96000">
                <a:srgbClr val="DBDBDB">
                  <a:lumMod val="90000"/>
                  <a:alpha val="15000"/>
                </a:srgbClr>
              </a:gs>
              <a:gs pos="24000">
                <a:srgbClr val="84B3FA"/>
              </a:gs>
              <a:gs pos="60000">
                <a:srgbClr val="DBDBDB">
                  <a:lumMod val="90000"/>
                  <a:alpha val="15000"/>
                </a:srgbClr>
              </a:gs>
            </a:gsLst>
            <a:lin ang="5400000" scaled="1"/>
          </a:gradFill>
          <a:ln w="12700" cap="flat" cmpd="sng" algn="ctr">
            <a:solidFill>
              <a:srgbClr val="000000">
                <a:alpha val="26232"/>
              </a:srgbClr>
            </a:solidFill>
            <a:prstDash val="solid"/>
            <a:miter lim="800000"/>
          </a:ln>
          <a:effectLst/>
        </p:spPr>
        <p:txBody>
          <a:bodyPr tIns="108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赛前世界建模</a:t>
            </a:r>
            <a:endParaRPr kumimoji="1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3278811" y="2070469"/>
            <a:ext cx="1324416" cy="330252"/>
          </a:xfrm>
          <a:prstGeom prst="round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规则库编译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5421374" y="2070469"/>
            <a:ext cx="1324416" cy="330252"/>
          </a:xfrm>
          <a:prstGeom prst="round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环境创建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587503" y="2070469"/>
            <a:ext cx="1324416" cy="330252"/>
          </a:xfrm>
          <a:prstGeom prst="round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博弈策略模拟</a:t>
            </a:r>
            <a:endParaRPr kumimoji="1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9025136" y="5793851"/>
            <a:ext cx="2651644" cy="565459"/>
          </a:xfrm>
          <a:prstGeom prst="roundRect">
            <a:avLst/>
          </a:prstGeom>
          <a:gradFill>
            <a:gsLst>
              <a:gs pos="0">
                <a:srgbClr val="84B3FA"/>
              </a:gs>
              <a:gs pos="55000">
                <a:srgbClr val="4074E3"/>
              </a:gs>
              <a:gs pos="100000">
                <a:srgbClr val="133988"/>
              </a:gs>
            </a:gsLst>
            <a:lin ang="5400000" scaled="0"/>
          </a:gra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交互优化：体验沉浸化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8161E">
                  <a:lumMod val="20000"/>
                  <a:lumOff val="80000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9693866" y="3602779"/>
            <a:ext cx="1967345" cy="1792197"/>
          </a:xfrm>
          <a:prstGeom prst="roundRect">
            <a:avLst>
              <a:gd name="adj" fmla="val 7503"/>
            </a:avLst>
          </a:prstGeom>
          <a:solidFill>
            <a:srgbClr val="FAFAFA"/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9896951" y="3313308"/>
            <a:ext cx="1695863" cy="563672"/>
          </a:xfrm>
          <a:prstGeom prst="roundRect">
            <a:avLst/>
          </a:prstGeom>
          <a:solidFill>
            <a:srgbClr val="1F4D78">
              <a:lumMod val="75000"/>
            </a:srgbClr>
          </a:soli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赛后策略复盘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861285" y="4001654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策略演化记录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9861285" y="4428961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赛事时空数据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861285" y="4856268"/>
            <a:ext cx="1695863" cy="32412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智能体交互日志</a:t>
            </a:r>
            <a:endParaRPr kumimoji="1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右箭头 81"/>
          <p:cNvSpPr/>
          <p:nvPr/>
        </p:nvSpPr>
        <p:spPr>
          <a:xfrm>
            <a:off x="8972834" y="4525466"/>
            <a:ext cx="788901" cy="524408"/>
          </a:xfrm>
          <a:prstGeom prst="rightArrow">
            <a:avLst/>
          </a:prstGeom>
          <a:gradFill>
            <a:gsLst>
              <a:gs pos="50000">
                <a:srgbClr val="4074E3"/>
              </a:gs>
              <a:gs pos="100000">
                <a:srgbClr val="133988"/>
              </a:gs>
              <a:gs pos="0">
                <a:srgbClr val="6AA8EA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3179931" y="5793851"/>
            <a:ext cx="2651644" cy="565459"/>
          </a:xfrm>
          <a:prstGeom prst="roundRect">
            <a:avLst/>
          </a:prstGeom>
          <a:gradFill>
            <a:gsLst>
              <a:gs pos="0">
                <a:srgbClr val="84B3FA"/>
              </a:gs>
              <a:gs pos="55000">
                <a:srgbClr val="4074E3"/>
              </a:gs>
              <a:gs pos="100000">
                <a:srgbClr val="133988"/>
              </a:gs>
            </a:gsLst>
            <a:lin ang="5400000" scaled="0"/>
          </a:gradFill>
          <a:ln w="12700" cap="flat" cmpd="sng" algn="ctr">
            <a:solidFill>
              <a:srgbClr val="44546A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数据注入：环境动态化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8161E">
                  <a:lumMod val="20000"/>
                  <a:lumOff val="80000"/>
                </a:srgb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111477" y="2529022"/>
            <a:ext cx="1659084" cy="577000"/>
          </a:xfrm>
          <a:prstGeom prst="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规则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-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伦理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权重矩阵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254040" y="2529022"/>
            <a:ext cx="1659084" cy="577000"/>
          </a:xfrm>
          <a:prstGeom prst="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三维动态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赛道模型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420169" y="2529022"/>
            <a:ext cx="1659084" cy="577000"/>
          </a:xfrm>
          <a:prstGeom prst="rect">
            <a:avLst/>
          </a:prstGeom>
          <a:solidFill>
            <a:srgbClr val="1B1C21">
              <a:lumMod val="10000"/>
              <a:lumOff val="9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战术策略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决策树</a:t>
            </a:r>
            <a:endParaRPr kumimoji="1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107235" y="240366"/>
            <a:ext cx="112487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核心控制流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: 形状 63"/>
          <p:cNvSpPr/>
          <p:nvPr/>
        </p:nvSpPr>
        <p:spPr>
          <a:xfrm>
            <a:off x="746975" y="1035955"/>
            <a:ext cx="11078190" cy="587054"/>
          </a:xfrm>
          <a:custGeom>
            <a:avLst/>
            <a:gdLst>
              <a:gd name="connsiteX0" fmla="*/ 2648927 w 3668665"/>
              <a:gd name="connsiteY0" fmla="*/ 0 h 539262"/>
              <a:gd name="connsiteX1" fmla="*/ 3608616 w 3668665"/>
              <a:gd name="connsiteY1" fmla="*/ 359507 h 539262"/>
              <a:gd name="connsiteX2" fmla="*/ 3668665 w 3668665"/>
              <a:gd name="connsiteY2" fmla="*/ 359507 h 539262"/>
              <a:gd name="connsiteX3" fmla="*/ 3668665 w 3668665"/>
              <a:gd name="connsiteY3" fmla="*/ 382002 h 539262"/>
              <a:gd name="connsiteX4" fmla="*/ 3668665 w 3668665"/>
              <a:gd name="connsiteY4" fmla="*/ 539262 h 539262"/>
              <a:gd name="connsiteX5" fmla="*/ 0 w 3668665"/>
              <a:gd name="connsiteY5" fmla="*/ 539262 h 539262"/>
              <a:gd name="connsiteX6" fmla="*/ 0 w 3668665"/>
              <a:gd name="connsiteY6" fmla="*/ 359507 h 539262"/>
              <a:gd name="connsiteX7" fmla="*/ 2648927 w 3668665"/>
              <a:gd name="connsiteY7" fmla="*/ 359507 h 539262"/>
              <a:gd name="connsiteX0-1" fmla="*/ 2648927 w 3668665"/>
              <a:gd name="connsiteY0-2" fmla="*/ 0 h 539262"/>
              <a:gd name="connsiteX1-3" fmla="*/ 3668665 w 3668665"/>
              <a:gd name="connsiteY1-4" fmla="*/ 359507 h 539262"/>
              <a:gd name="connsiteX2-5" fmla="*/ 3668665 w 3668665"/>
              <a:gd name="connsiteY2-6" fmla="*/ 382002 h 539262"/>
              <a:gd name="connsiteX3-7" fmla="*/ 3668665 w 3668665"/>
              <a:gd name="connsiteY3-8" fmla="*/ 539262 h 539262"/>
              <a:gd name="connsiteX4-9" fmla="*/ 0 w 3668665"/>
              <a:gd name="connsiteY4-10" fmla="*/ 539262 h 539262"/>
              <a:gd name="connsiteX5-11" fmla="*/ 0 w 3668665"/>
              <a:gd name="connsiteY5-12" fmla="*/ 359507 h 539262"/>
              <a:gd name="connsiteX6-13" fmla="*/ 2648927 w 3668665"/>
              <a:gd name="connsiteY6-14" fmla="*/ 359507 h 539262"/>
              <a:gd name="connsiteX7-15" fmla="*/ 2648927 w 3668665"/>
              <a:gd name="connsiteY7-16" fmla="*/ 0 h 539262"/>
              <a:gd name="connsiteX0-17" fmla="*/ 2648927 w 3668665"/>
              <a:gd name="connsiteY0-18" fmla="*/ 0 h 539262"/>
              <a:gd name="connsiteX1-19" fmla="*/ 3668665 w 3668665"/>
              <a:gd name="connsiteY1-20" fmla="*/ 359507 h 539262"/>
              <a:gd name="connsiteX2-21" fmla="*/ 3668665 w 3668665"/>
              <a:gd name="connsiteY2-22" fmla="*/ 539262 h 539262"/>
              <a:gd name="connsiteX3-23" fmla="*/ 0 w 3668665"/>
              <a:gd name="connsiteY3-24" fmla="*/ 539262 h 539262"/>
              <a:gd name="connsiteX4-25" fmla="*/ 0 w 3668665"/>
              <a:gd name="connsiteY4-26" fmla="*/ 359507 h 539262"/>
              <a:gd name="connsiteX5-27" fmla="*/ 2648927 w 3668665"/>
              <a:gd name="connsiteY5-28" fmla="*/ 359507 h 539262"/>
              <a:gd name="connsiteX6-29" fmla="*/ 2648927 w 3668665"/>
              <a:gd name="connsiteY6-30" fmla="*/ 0 h 539262"/>
              <a:gd name="connsiteX0-31" fmla="*/ 2648927 w 3668665"/>
              <a:gd name="connsiteY0-32" fmla="*/ 0 h 539262"/>
              <a:gd name="connsiteX1-33" fmla="*/ 3668665 w 3668665"/>
              <a:gd name="connsiteY1-34" fmla="*/ 539262 h 539262"/>
              <a:gd name="connsiteX2-35" fmla="*/ 0 w 3668665"/>
              <a:gd name="connsiteY2-36" fmla="*/ 539262 h 539262"/>
              <a:gd name="connsiteX3-37" fmla="*/ 0 w 3668665"/>
              <a:gd name="connsiteY3-38" fmla="*/ 359507 h 539262"/>
              <a:gd name="connsiteX4-39" fmla="*/ 2648927 w 3668665"/>
              <a:gd name="connsiteY4-40" fmla="*/ 359507 h 539262"/>
              <a:gd name="connsiteX5-41" fmla="*/ 2648927 w 3668665"/>
              <a:gd name="connsiteY5-42" fmla="*/ 0 h 539262"/>
              <a:gd name="connsiteX0-1-1" fmla="*/ 2648927 w 3668665"/>
              <a:gd name="connsiteY0-2-2" fmla="*/ 0 h 539262"/>
              <a:gd name="connsiteX1-3-3" fmla="*/ 3668665 w 3668665"/>
              <a:gd name="connsiteY1-4-4" fmla="*/ 539262 h 539262"/>
              <a:gd name="connsiteX2-5-5" fmla="*/ 0 w 3668665"/>
              <a:gd name="connsiteY2-6-6" fmla="*/ 539262 h 539262"/>
              <a:gd name="connsiteX3-7-7" fmla="*/ 0 w 3668665"/>
              <a:gd name="connsiteY3-8-8" fmla="*/ 359507 h 539262"/>
              <a:gd name="connsiteX4-9-9" fmla="*/ 3283880 w 3668665"/>
              <a:gd name="connsiteY4-10-10" fmla="*/ 368360 h 539262"/>
              <a:gd name="connsiteX5-11-11" fmla="*/ 2648927 w 3668665"/>
              <a:gd name="connsiteY5-12-12" fmla="*/ 0 h 539262"/>
              <a:gd name="connsiteX0-13" fmla="*/ 3277334 w 3668665"/>
              <a:gd name="connsiteY0-14" fmla="*/ 0 h 565819"/>
              <a:gd name="connsiteX1-15" fmla="*/ 3668665 w 3668665"/>
              <a:gd name="connsiteY1-16" fmla="*/ 565819 h 565819"/>
              <a:gd name="connsiteX2-17" fmla="*/ 0 w 3668665"/>
              <a:gd name="connsiteY2-18" fmla="*/ 565819 h 565819"/>
              <a:gd name="connsiteX3-19" fmla="*/ 0 w 3668665"/>
              <a:gd name="connsiteY3-20" fmla="*/ 386064 h 565819"/>
              <a:gd name="connsiteX4-21" fmla="*/ 3283880 w 3668665"/>
              <a:gd name="connsiteY4-22" fmla="*/ 394917 h 565819"/>
              <a:gd name="connsiteX5-23" fmla="*/ 3277334 w 3668665"/>
              <a:gd name="connsiteY5-24" fmla="*/ 0 h 565819"/>
              <a:gd name="connsiteX0-25" fmla="*/ 3283880 w 3668665"/>
              <a:gd name="connsiteY0-26" fmla="*/ 0 h 556967"/>
              <a:gd name="connsiteX1-27" fmla="*/ 3668665 w 3668665"/>
              <a:gd name="connsiteY1-28" fmla="*/ 556967 h 556967"/>
              <a:gd name="connsiteX2-29" fmla="*/ 0 w 3668665"/>
              <a:gd name="connsiteY2-30" fmla="*/ 556967 h 556967"/>
              <a:gd name="connsiteX3-31" fmla="*/ 0 w 3668665"/>
              <a:gd name="connsiteY3-32" fmla="*/ 377212 h 556967"/>
              <a:gd name="connsiteX4-33" fmla="*/ 3283880 w 3668665"/>
              <a:gd name="connsiteY4-34" fmla="*/ 386065 h 556967"/>
              <a:gd name="connsiteX5-35" fmla="*/ 3283880 w 3668665"/>
              <a:gd name="connsiteY5-36" fmla="*/ 0 h 556967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  <a:cxn ang="0">
                <a:pos x="connsiteX5-11-11" y="connsiteY5-12-12"/>
              </a:cxn>
            </a:cxnLst>
            <a:rect l="l" t="t" r="r" b="b"/>
            <a:pathLst>
              <a:path w="3668665" h="556967">
                <a:moveTo>
                  <a:pt x="3283880" y="0"/>
                </a:moveTo>
                <a:lnTo>
                  <a:pt x="3668665" y="556967"/>
                </a:lnTo>
                <a:lnTo>
                  <a:pt x="0" y="556967"/>
                </a:lnTo>
                <a:lnTo>
                  <a:pt x="0" y="377212"/>
                </a:lnTo>
                <a:lnTo>
                  <a:pt x="3283880" y="386065"/>
                </a:lnTo>
                <a:lnTo>
                  <a:pt x="3283880" y="0"/>
                </a:lnTo>
                <a:close/>
              </a:path>
            </a:pathLst>
          </a:custGeom>
          <a:gradFill>
            <a:gsLst>
              <a:gs pos="100000">
                <a:srgbClr val="1F92EE">
                  <a:lumMod val="60000"/>
                  <a:lumOff val="40000"/>
                </a:srgbClr>
              </a:gs>
              <a:gs pos="0">
                <a:srgbClr val="1F92EE">
                  <a:lumMod val="60000"/>
                  <a:lumOff val="40000"/>
                  <a:alpha val="0"/>
                </a:srgbClr>
              </a:gs>
              <a:gs pos="61000">
                <a:srgbClr val="4174E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95098" tIns="47549" rIns="95098" bIns="47549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7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 panose="020B0400000000000000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"/>
            </p:custDataLst>
          </p:nvPr>
        </p:nvSpPr>
        <p:spPr>
          <a:xfrm>
            <a:off x="1194917" y="895684"/>
            <a:ext cx="9060173" cy="430887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  <a:scene3d>
              <a:camera prst="orthographicFront"/>
              <a:lightRig rig="glow" dir="t"/>
            </a:scene3d>
            <a:sp3d>
              <a:bevelT w="0" h="0"/>
              <a:bevelB w="39624" h="13208"/>
            </a:sp3d>
          </a:bodyPr>
          <a:lstStyle/>
          <a:p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effectLst>
                  <a:reflection blurRad="6350" stA="50000" endA="300" endPos="50000" dist="109849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以智能决策为核心的多</a:t>
            </a:r>
            <a:r>
              <a:rPr lang="en-GB" altLang="zh-CN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effectLst>
                  <a:reflection blurRad="6350" stA="50000" endA="300" endPos="50000" dist="109849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effectLst>
                  <a:reflection blurRad="6350" stA="50000" endA="300" endPos="50000" dist="109849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协同的</a:t>
            </a:r>
            <a:r>
              <a:rPr lang="en-GB" altLang="zh-CN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effectLst>
                  <a:reflection blurRad="6350" stA="50000" endA="300" endPos="50000" dist="109849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800" b="1" dirty="0">
                <a:gradFill>
                  <a:gsLst>
                    <a:gs pos="20000">
                      <a:srgbClr val="4074E3"/>
                    </a:gs>
                    <a:gs pos="79000">
                      <a:srgbClr val="133988"/>
                    </a:gs>
                  </a:gsLst>
                  <a:lin ang="5400000" scaled="0"/>
                </a:gradFill>
                <a:effectLst>
                  <a:reflection blurRad="6350" stA="50000" endA="300" endPos="50000" dist="109849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赛事生态模拟系统</a:t>
            </a:r>
            <a:endParaRPr lang="zh-CN" altLang="en-US" sz="2800" b="1" dirty="0">
              <a:gradFill>
                <a:gsLst>
                  <a:gs pos="20000">
                    <a:srgbClr val="4074E3"/>
                  </a:gs>
                  <a:gs pos="79000">
                    <a:srgbClr val="133988"/>
                  </a:gs>
                </a:gsLst>
                <a:lin ang="5400000" scaled="0"/>
              </a:gradFill>
              <a:effectLst>
                <a:reflection blurRad="6350" stA="50000" endA="300" endPos="50000" dist="109849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1" name="组合 230"/>
          <p:cNvGrpSpPr/>
          <p:nvPr/>
        </p:nvGrpSpPr>
        <p:grpSpPr>
          <a:xfrm>
            <a:off x="366834" y="1686069"/>
            <a:ext cx="11458331" cy="4826750"/>
            <a:chOff x="381368" y="1770628"/>
            <a:chExt cx="11458331" cy="4826750"/>
          </a:xfrm>
        </p:grpSpPr>
        <p:sp>
          <p:nvSpPr>
            <p:cNvPr id="3" name="圆角矩形 2"/>
            <p:cNvSpPr/>
            <p:nvPr/>
          </p:nvSpPr>
          <p:spPr>
            <a:xfrm>
              <a:off x="381368" y="1770628"/>
              <a:ext cx="11458331" cy="4826750"/>
            </a:xfrm>
            <a:prstGeom prst="roundRect">
              <a:avLst>
                <a:gd name="adj" fmla="val 10006"/>
              </a:avLst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kumimoji="1" lang="zh-CN" altLang="en-US" sz="2000" b="1" dirty="0">
                <a:solidFill>
                  <a:srgbClr val="C0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0246467" y="2070992"/>
              <a:ext cx="1385395" cy="381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r>
                <a:rPr kumimoji="1" lang="en-US" altLang="zh-CN" sz="1400" b="1" dirty="0">
                  <a:solidFill>
                    <a:srgbClr val="133988"/>
                  </a:solidFill>
                </a:rPr>
                <a:t>Agent</a:t>
              </a:r>
              <a:r>
                <a:rPr kumimoji="1" lang="zh-CN" altLang="en-US" sz="1400" b="1" dirty="0">
                  <a:solidFill>
                    <a:srgbClr val="133988"/>
                  </a:solidFill>
                </a:rPr>
                <a:t> </a:t>
              </a:r>
              <a:r>
                <a:rPr kumimoji="1" lang="en-US" altLang="zh-CN" sz="1400" b="1" dirty="0">
                  <a:solidFill>
                    <a:srgbClr val="133988"/>
                  </a:solidFill>
                </a:rPr>
                <a:t>community</a:t>
              </a:r>
              <a:endParaRPr kumimoji="1" lang="zh-CN" altLang="en-US" sz="1400" b="1" dirty="0">
                <a:solidFill>
                  <a:srgbClr val="133988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381578" y="2814515"/>
              <a:ext cx="1116637" cy="7530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9899" y="3051427"/>
              <a:ext cx="210613" cy="21061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7949" y="3289811"/>
              <a:ext cx="210613" cy="210613"/>
            </a:xfrm>
            <a:prstGeom prst="rect">
              <a:avLst/>
            </a:prstGeom>
          </p:spPr>
        </p:pic>
        <p:sp>
          <p:nvSpPr>
            <p:cNvPr id="9" name="圆角矩形 8"/>
            <p:cNvSpPr/>
            <p:nvPr/>
          </p:nvSpPr>
          <p:spPr>
            <a:xfrm>
              <a:off x="10806883" y="3063612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Context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0806883" y="3301996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Memory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0743641" y="2618260"/>
              <a:ext cx="392511" cy="392511"/>
              <a:chOff x="5406654" y="2170430"/>
              <a:chExt cx="1905000" cy="1905000"/>
            </a:xfrm>
          </p:grpSpPr>
          <p:sp>
            <p:nvSpPr>
              <p:cNvPr id="13" name="圆角矩形 12"/>
              <p:cNvSpPr/>
              <p:nvPr/>
            </p:nvSpPr>
            <p:spPr>
              <a:xfrm>
                <a:off x="5738980" y="2652337"/>
                <a:ext cx="1293531" cy="1060165"/>
              </a:xfrm>
              <a:prstGeom prst="roundRect">
                <a:avLst>
                  <a:gd name="adj" fmla="val 26169"/>
                </a:avLst>
              </a:prstGeom>
              <a:solidFill>
                <a:srgbClr val="F9F1E7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4" name="图形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406654" y="2170430"/>
                <a:ext cx="1905000" cy="1905000"/>
              </a:xfrm>
              <a:prstGeom prst="rect">
                <a:avLst/>
              </a:prstGeom>
            </p:spPr>
          </p:pic>
        </p:grpSp>
        <p:sp>
          <p:nvSpPr>
            <p:cNvPr id="16" name="文本框 15"/>
            <p:cNvSpPr txBox="1"/>
            <p:nvPr/>
          </p:nvSpPr>
          <p:spPr>
            <a:xfrm>
              <a:off x="10731416" y="444322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 dirty="0"/>
                <a:t>…</a:t>
              </a:r>
              <a:endParaRPr kumimoji="1" lang="zh-CN" altLang="en-US" b="1" dirty="0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0381578" y="4978316"/>
              <a:ext cx="1116637" cy="7530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9899" y="5215228"/>
              <a:ext cx="210613" cy="2106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7949" y="5453612"/>
              <a:ext cx="210613" cy="210613"/>
            </a:xfrm>
            <a:prstGeom prst="rect">
              <a:avLst/>
            </a:prstGeom>
          </p:spPr>
        </p:pic>
        <p:sp>
          <p:nvSpPr>
            <p:cNvPr id="21" name="圆角矩形 20"/>
            <p:cNvSpPr/>
            <p:nvPr/>
          </p:nvSpPr>
          <p:spPr>
            <a:xfrm>
              <a:off x="10806883" y="5227413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Context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10806883" y="5465797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Memory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0743641" y="4782061"/>
              <a:ext cx="392511" cy="392511"/>
              <a:chOff x="10743641" y="5089050"/>
              <a:chExt cx="392511" cy="392511"/>
            </a:xfrm>
          </p:grpSpPr>
          <p:sp>
            <p:nvSpPr>
              <p:cNvPr id="28" name="圆角矩形 27"/>
              <p:cNvSpPr/>
              <p:nvPr/>
            </p:nvSpPr>
            <p:spPr>
              <a:xfrm>
                <a:off x="10812114" y="5188343"/>
                <a:ext cx="266522" cy="218439"/>
              </a:xfrm>
              <a:prstGeom prst="roundRect">
                <a:avLst>
                  <a:gd name="adj" fmla="val 2616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29" name="图形 2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43641" y="5089050"/>
                <a:ext cx="392511" cy="392511"/>
              </a:xfrm>
              <a:prstGeom prst="rect">
                <a:avLst/>
              </a:prstGeom>
            </p:spPr>
          </p:pic>
        </p:grpSp>
        <p:sp>
          <p:nvSpPr>
            <p:cNvPr id="30" name="圆角矩形 29"/>
            <p:cNvSpPr/>
            <p:nvPr/>
          </p:nvSpPr>
          <p:spPr>
            <a:xfrm>
              <a:off x="10381578" y="3812376"/>
              <a:ext cx="1116637" cy="7530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t"/>
            <a:lstStyle/>
            <a:p>
              <a:pPr algn="ctr"/>
              <a:endParaRPr kumimoji="1"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9899" y="4049288"/>
              <a:ext cx="210613" cy="210613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7949" y="4287672"/>
              <a:ext cx="210613" cy="210613"/>
            </a:xfrm>
            <a:prstGeom prst="rect">
              <a:avLst/>
            </a:prstGeom>
          </p:spPr>
        </p:pic>
        <p:sp>
          <p:nvSpPr>
            <p:cNvPr id="34" name="圆角矩形 33"/>
            <p:cNvSpPr/>
            <p:nvPr/>
          </p:nvSpPr>
          <p:spPr>
            <a:xfrm>
              <a:off x="10806883" y="4299857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Memory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0743641" y="3616121"/>
              <a:ext cx="392511" cy="392511"/>
              <a:chOff x="10743641" y="3923110"/>
              <a:chExt cx="392511" cy="392511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10812114" y="4022403"/>
                <a:ext cx="266522" cy="218439"/>
              </a:xfrm>
              <a:prstGeom prst="roundRect">
                <a:avLst>
                  <a:gd name="adj" fmla="val 26169"/>
                </a:avLst>
              </a:prstGeom>
              <a:solidFill>
                <a:srgbClr val="DFECD4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40" name="图形 39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743641" y="3923110"/>
                <a:ext cx="392511" cy="392511"/>
              </a:xfrm>
              <a:prstGeom prst="rect">
                <a:avLst/>
              </a:prstGeom>
            </p:spPr>
          </p:pic>
        </p:grpSp>
        <p:sp>
          <p:nvSpPr>
            <p:cNvPr id="43" name="圆角矩形 42"/>
            <p:cNvSpPr/>
            <p:nvPr/>
          </p:nvSpPr>
          <p:spPr>
            <a:xfrm>
              <a:off x="10806883" y="4061473"/>
              <a:ext cx="631925" cy="186243"/>
            </a:xfrm>
            <a:prstGeom prst="roundRect">
              <a:avLst/>
            </a:prstGeom>
            <a:solidFill>
              <a:srgbClr val="7272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bg1"/>
                  </a:solidFill>
                </a:rPr>
                <a:t>Context</a:t>
              </a:r>
              <a:endParaRPr kumimoji="1" lang="zh-CN" altLang="en-US" sz="1000" dirty="0">
                <a:solidFill>
                  <a:schemeClr val="bg1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6024635" y="2070992"/>
              <a:ext cx="3817316" cy="3848692"/>
              <a:chOff x="6160478" y="2377981"/>
              <a:chExt cx="3817316" cy="3848692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6160478" y="2377981"/>
                <a:ext cx="3794096" cy="2342426"/>
                <a:chOff x="6160478" y="2377981"/>
                <a:chExt cx="3794096" cy="2342426"/>
              </a:xfrm>
            </p:grpSpPr>
            <p:grpSp>
              <p:nvGrpSpPr>
                <p:cNvPr id="112" name="组合 111"/>
                <p:cNvGrpSpPr/>
                <p:nvPr/>
              </p:nvGrpSpPr>
              <p:grpSpPr>
                <a:xfrm>
                  <a:off x="6526588" y="2460323"/>
                  <a:ext cx="564024" cy="564024"/>
                  <a:chOff x="5406654" y="2170430"/>
                  <a:chExt cx="1905000" cy="1905000"/>
                </a:xfrm>
              </p:grpSpPr>
              <p:sp>
                <p:nvSpPr>
                  <p:cNvPr id="188" name="圆角矩形 187"/>
                  <p:cNvSpPr/>
                  <p:nvPr/>
                </p:nvSpPr>
                <p:spPr>
                  <a:xfrm>
                    <a:off x="5738980" y="2652337"/>
                    <a:ext cx="1293531" cy="1060165"/>
                  </a:xfrm>
                  <a:prstGeom prst="roundRect">
                    <a:avLst>
                      <a:gd name="adj" fmla="val 26169"/>
                    </a:avLst>
                  </a:prstGeom>
                  <a:solidFill>
                    <a:srgbClr val="F9F1E7"/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189" name="图形 188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06654" y="2170430"/>
                    <a:ext cx="1905000" cy="19050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4" name="圆角矩形 113"/>
                <p:cNvSpPr/>
                <p:nvPr/>
              </p:nvSpPr>
              <p:spPr>
                <a:xfrm>
                  <a:off x="6160478" y="2377981"/>
                  <a:ext cx="3794096" cy="2342426"/>
                </a:xfrm>
                <a:prstGeom prst="roundRect">
                  <a:avLst>
                    <a:gd name="adj" fmla="val 6162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t"/>
                <a:lstStyle/>
                <a:p>
                  <a:pPr algn="ctr"/>
                  <a:r>
                    <a:rPr kumimoji="1" lang="en-US" altLang="zh-CN" sz="1400" b="1" dirty="0">
                      <a:solidFill>
                        <a:schemeClr val="tx1"/>
                      </a:solidFill>
                    </a:rPr>
                    <a:t>Action</a:t>
                  </a:r>
                  <a:r>
                    <a:rPr kumimoji="1" lang="zh-CN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CN" sz="1400" b="1" dirty="0">
                      <a:solidFill>
                        <a:schemeClr val="tx1"/>
                      </a:solidFill>
                    </a:rPr>
                    <a:t>Module</a:t>
                  </a:r>
                  <a:endParaRPr kumimoji="1"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19" name="组合 118"/>
                <p:cNvGrpSpPr/>
                <p:nvPr/>
              </p:nvGrpSpPr>
              <p:grpSpPr>
                <a:xfrm>
                  <a:off x="8162310" y="2727720"/>
                  <a:ext cx="1600200" cy="902332"/>
                  <a:chOff x="4157118" y="3429000"/>
                  <a:chExt cx="1600200" cy="902332"/>
                </a:xfrm>
              </p:grpSpPr>
              <p:sp>
                <p:nvSpPr>
                  <p:cNvPr id="185" name="圆角矩形 184"/>
                  <p:cNvSpPr/>
                  <p:nvPr/>
                </p:nvSpPr>
                <p:spPr>
                  <a:xfrm>
                    <a:off x="4157118" y="3429000"/>
                    <a:ext cx="1600200" cy="639977"/>
                  </a:xfrm>
                  <a:prstGeom prst="roundRect">
                    <a:avLst>
                      <a:gd name="adj" fmla="val 24004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tIns="0" rtlCol="0" anchor="t"/>
                  <a:lstStyle/>
                  <a:p>
                    <a:pPr algn="ctr"/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Step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1.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Agent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Selection</a:t>
                    </a:r>
                    <a:endPara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6" name="圆角矩形 185"/>
                  <p:cNvSpPr/>
                  <p:nvPr/>
                </p:nvSpPr>
                <p:spPr>
                  <a:xfrm>
                    <a:off x="4157118" y="3684966"/>
                    <a:ext cx="1600200" cy="646366"/>
                  </a:xfrm>
                  <a:prstGeom prst="roundRect">
                    <a:avLst>
                      <a:gd name="adj" fmla="val 1896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t"/>
                  <a:lstStyle/>
                  <a:p>
                    <a:pPr algn="ctr"/>
                    <a:endParaRPr kumimoji="1" lang="zh-CN" altLang="en-US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87" name="圆角矩形 186"/>
                  <p:cNvSpPr/>
                  <p:nvPr/>
                </p:nvSpPr>
                <p:spPr>
                  <a:xfrm>
                    <a:off x="4157118" y="3653616"/>
                    <a:ext cx="1600200" cy="14786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t"/>
                  <a:lstStyle/>
                  <a:p>
                    <a:pPr algn="ctr"/>
                    <a:endParaRPr kumimoji="1" lang="zh-CN" altLang="en-US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20" name="组合 119"/>
                <p:cNvGrpSpPr/>
                <p:nvPr/>
              </p:nvGrpSpPr>
              <p:grpSpPr>
                <a:xfrm>
                  <a:off x="8286445" y="3025999"/>
                  <a:ext cx="519465" cy="519465"/>
                  <a:chOff x="6972588" y="5987568"/>
                  <a:chExt cx="1525419" cy="1525419"/>
                </a:xfrm>
              </p:grpSpPr>
              <p:sp>
                <p:nvSpPr>
                  <p:cNvPr id="171" name="圆角矩形 170"/>
                  <p:cNvSpPr/>
                  <p:nvPr/>
                </p:nvSpPr>
                <p:spPr>
                  <a:xfrm>
                    <a:off x="6972588" y="5987568"/>
                    <a:ext cx="1525419" cy="1525419"/>
                  </a:xfrm>
                  <a:prstGeom prst="roundRect">
                    <a:avLst/>
                  </a:prstGeom>
                  <a:noFill/>
                  <a:ln w="9525">
                    <a:solidFill>
                      <a:schemeClr val="bg1">
                        <a:lumMod val="95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/>
                  </a:p>
                </p:txBody>
              </p:sp>
              <p:grpSp>
                <p:nvGrpSpPr>
                  <p:cNvPr id="172" name="组合 171"/>
                  <p:cNvGrpSpPr/>
                  <p:nvPr/>
                </p:nvGrpSpPr>
                <p:grpSpPr>
                  <a:xfrm>
                    <a:off x="7079333" y="6143735"/>
                    <a:ext cx="1311928" cy="1213085"/>
                    <a:chOff x="6984356" y="-506708"/>
                    <a:chExt cx="2548398" cy="2356397"/>
                  </a:xfrm>
                </p:grpSpPr>
                <p:grpSp>
                  <p:nvGrpSpPr>
                    <p:cNvPr id="173" name="组合 172"/>
                    <p:cNvGrpSpPr/>
                    <p:nvPr/>
                  </p:nvGrpSpPr>
                  <p:grpSpPr>
                    <a:xfrm>
                      <a:off x="6984356" y="-506707"/>
                      <a:ext cx="1213085" cy="1213085"/>
                      <a:chOff x="5406654" y="2170430"/>
                      <a:chExt cx="1905000" cy="1905000"/>
                    </a:xfrm>
                  </p:grpSpPr>
                  <p:sp>
                    <p:nvSpPr>
                      <p:cNvPr id="183" name="圆角矩形 182"/>
                      <p:cNvSpPr/>
                      <p:nvPr/>
                    </p:nvSpPr>
                    <p:spPr>
                      <a:xfrm>
                        <a:off x="5738980" y="2652337"/>
                        <a:ext cx="1293531" cy="1060165"/>
                      </a:xfrm>
                      <a:prstGeom prst="roundRect">
                        <a:avLst>
                          <a:gd name="adj" fmla="val 26169"/>
                        </a:avLst>
                      </a:prstGeom>
                      <a:solidFill>
                        <a:srgbClr val="F9F1E7"/>
                      </a:solidFill>
                      <a:ln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CN" altLang="en-US"/>
                      </a:p>
                    </p:txBody>
                  </p:sp>
                  <p:pic>
                    <p:nvPicPr>
                      <p:cNvPr id="184" name="图形 183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406654" y="2170430"/>
                        <a:ext cx="1905000" cy="1905000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74" name="组合 173"/>
                    <p:cNvGrpSpPr/>
                    <p:nvPr/>
                  </p:nvGrpSpPr>
                  <p:grpSpPr>
                    <a:xfrm>
                      <a:off x="8319669" y="-506708"/>
                      <a:ext cx="1213085" cy="1213085"/>
                      <a:chOff x="5406652" y="2170431"/>
                      <a:chExt cx="1904999" cy="1905001"/>
                    </a:xfrm>
                  </p:grpSpPr>
                  <p:sp>
                    <p:nvSpPr>
                      <p:cNvPr id="181" name="圆角矩形 180"/>
                      <p:cNvSpPr/>
                      <p:nvPr/>
                    </p:nvSpPr>
                    <p:spPr>
                      <a:xfrm>
                        <a:off x="5738980" y="2652337"/>
                        <a:ext cx="1293531" cy="1060165"/>
                      </a:xfrm>
                      <a:prstGeom prst="roundRect">
                        <a:avLst>
                          <a:gd name="adj" fmla="val 26169"/>
                        </a:avLst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CN" altLang="en-US"/>
                      </a:p>
                    </p:txBody>
                  </p:sp>
                  <p:pic>
                    <p:nvPicPr>
                      <p:cNvPr id="182" name="图形 181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406652" y="2170431"/>
                        <a:ext cx="1904999" cy="1905001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75" name="组合 174"/>
                    <p:cNvGrpSpPr/>
                    <p:nvPr/>
                  </p:nvGrpSpPr>
                  <p:grpSpPr>
                    <a:xfrm>
                      <a:off x="6984356" y="636604"/>
                      <a:ext cx="1213085" cy="1213085"/>
                      <a:chOff x="5406654" y="2170430"/>
                      <a:chExt cx="1905000" cy="1905000"/>
                    </a:xfrm>
                  </p:grpSpPr>
                  <p:sp>
                    <p:nvSpPr>
                      <p:cNvPr id="179" name="圆角矩形 178"/>
                      <p:cNvSpPr/>
                      <p:nvPr/>
                    </p:nvSpPr>
                    <p:spPr>
                      <a:xfrm>
                        <a:off x="5738980" y="2652337"/>
                        <a:ext cx="1293531" cy="1060165"/>
                      </a:xfrm>
                      <a:prstGeom prst="roundRect">
                        <a:avLst>
                          <a:gd name="adj" fmla="val 26169"/>
                        </a:avLst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CN" altLang="en-US"/>
                      </a:p>
                    </p:txBody>
                  </p:sp>
                  <p:pic>
                    <p:nvPicPr>
                      <p:cNvPr id="180" name="图形 179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406654" y="2170430"/>
                        <a:ext cx="1905000" cy="1905000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76" name="组合 175"/>
                    <p:cNvGrpSpPr/>
                    <p:nvPr/>
                  </p:nvGrpSpPr>
                  <p:grpSpPr>
                    <a:xfrm>
                      <a:off x="8319669" y="636604"/>
                      <a:ext cx="1213085" cy="1213085"/>
                      <a:chOff x="5406654" y="2170430"/>
                      <a:chExt cx="1905000" cy="1905000"/>
                    </a:xfrm>
                  </p:grpSpPr>
                  <p:sp>
                    <p:nvSpPr>
                      <p:cNvPr id="177" name="圆角矩形 176"/>
                      <p:cNvSpPr/>
                      <p:nvPr/>
                    </p:nvSpPr>
                    <p:spPr>
                      <a:xfrm>
                        <a:off x="5738980" y="2652337"/>
                        <a:ext cx="1293531" cy="1060165"/>
                      </a:xfrm>
                      <a:prstGeom prst="roundRect">
                        <a:avLst>
                          <a:gd name="adj" fmla="val 26169"/>
                        </a:avLst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  <a:prstDash val="dash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zh-CN" altLang="en-US"/>
                      </a:p>
                    </p:txBody>
                  </p:sp>
                  <p:pic>
                    <p:nvPicPr>
                      <p:cNvPr id="178" name="图形 177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406654" y="2170430"/>
                        <a:ext cx="1905000" cy="1905000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grpSp>
              <p:nvGrpSpPr>
                <p:cNvPr id="121" name="组合 120"/>
                <p:cNvGrpSpPr/>
                <p:nvPr/>
              </p:nvGrpSpPr>
              <p:grpSpPr>
                <a:xfrm>
                  <a:off x="9246689" y="3089476"/>
                  <a:ext cx="392511" cy="392511"/>
                  <a:chOff x="10743641" y="5089050"/>
                  <a:chExt cx="392511" cy="392511"/>
                </a:xfrm>
              </p:grpSpPr>
              <p:sp>
                <p:nvSpPr>
                  <p:cNvPr id="169" name="圆角矩形 168"/>
                  <p:cNvSpPr/>
                  <p:nvPr/>
                </p:nvSpPr>
                <p:spPr>
                  <a:xfrm>
                    <a:off x="10812114" y="5188343"/>
                    <a:ext cx="266522" cy="218439"/>
                  </a:xfrm>
                  <a:prstGeom prst="roundRect">
                    <a:avLst>
                      <a:gd name="adj" fmla="val 26169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170" name="图形 169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743641" y="5089050"/>
                    <a:ext cx="392511" cy="39251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22" name="右箭头 121"/>
                <p:cNvSpPr/>
                <p:nvPr/>
              </p:nvSpPr>
              <p:spPr>
                <a:xfrm>
                  <a:off x="8833635" y="3295306"/>
                  <a:ext cx="393310" cy="89142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23" name="文本框 122"/>
                    <p:cNvSpPr txBox="1"/>
                    <p:nvPr/>
                  </p:nvSpPr>
                  <p:spPr>
                    <a:xfrm>
                      <a:off x="8725610" y="3160024"/>
                      <a:ext cx="605422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1" lang="en-US" altLang="zh-CN" sz="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sz="6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zh-CN" sz="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zh-CN" altLang="en-US" sz="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600" b="0" i="0" smtClean="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kumimoji="1" lang="zh-CN" altLang="en-US" sz="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zh-CN" sz="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oMath>
                        </m:oMathPara>
                      </a14:m>
                      <a:endParaRPr kumimoji="1" lang="zh-CN" altLang="en-US" sz="600" dirty="0"/>
                    </a:p>
                  </p:txBody>
                </p:sp>
              </mc:Choice>
              <mc:Fallback>
                <p:sp>
                  <p:nvSpPr>
                    <p:cNvPr id="123" name="文本框 1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25610" y="3160024"/>
                      <a:ext cx="605422" cy="184666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4" name="圆角矩形 123"/>
                <p:cNvSpPr/>
                <p:nvPr/>
              </p:nvSpPr>
              <p:spPr>
                <a:xfrm>
                  <a:off x="8164435" y="3692329"/>
                  <a:ext cx="1600200" cy="639977"/>
                </a:xfrm>
                <a:prstGeom prst="roundRect">
                  <a:avLst>
                    <a:gd name="adj" fmla="val 24004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/>
                <a:lstStyle/>
                <a:p>
                  <a:pPr algn="ctr"/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Step</a:t>
                  </a:r>
                  <a:r>
                    <a: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</a:t>
                  </a:r>
                  <a:r>
                    <a: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Update</a:t>
                  </a:r>
                  <a:r>
                    <a: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Memory</a:t>
                  </a:r>
                  <a:endParaRPr kumimoji="1" lang="zh-CN" alt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圆角矩形 130"/>
                <p:cNvSpPr/>
                <p:nvPr/>
              </p:nvSpPr>
              <p:spPr>
                <a:xfrm>
                  <a:off x="8164435" y="3948295"/>
                  <a:ext cx="1600200" cy="646366"/>
                </a:xfrm>
                <a:prstGeom prst="roundRect">
                  <a:avLst>
                    <a:gd name="adj" fmla="val 1896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t"/>
                <a:lstStyle/>
                <a:p>
                  <a:pPr algn="ctr"/>
                  <a:endParaRPr kumimoji="1"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圆角矩形 131"/>
                <p:cNvSpPr/>
                <p:nvPr/>
              </p:nvSpPr>
              <p:spPr>
                <a:xfrm>
                  <a:off x="8164435" y="3916945"/>
                  <a:ext cx="1600200" cy="147865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t"/>
                <a:lstStyle/>
                <a:p>
                  <a:pPr algn="ctr"/>
                  <a:endParaRPr kumimoji="1"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33" name="图片 132"/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6305" y="4212342"/>
                  <a:ext cx="146618" cy="146618"/>
                </a:xfrm>
                <a:prstGeom prst="rect">
                  <a:avLst/>
                </a:prstGeom>
              </p:spPr>
            </p:pic>
            <p:pic>
              <p:nvPicPr>
                <p:cNvPr id="134" name="图片 133"/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4948" y="4378293"/>
                  <a:ext cx="146618" cy="146618"/>
                </a:xfrm>
                <a:prstGeom prst="rect">
                  <a:avLst/>
                </a:prstGeom>
              </p:spPr>
            </p:pic>
            <p:sp>
              <p:nvSpPr>
                <p:cNvPr id="135" name="圆角矩形 134"/>
                <p:cNvSpPr/>
                <p:nvPr/>
              </p:nvSpPr>
              <p:spPr>
                <a:xfrm>
                  <a:off x="8446353" y="4220825"/>
                  <a:ext cx="439914" cy="129653"/>
                </a:xfrm>
                <a:prstGeom prst="roundRect">
                  <a:avLst/>
                </a:prstGeom>
                <a:solidFill>
                  <a:srgbClr val="7272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700" dirty="0">
                      <a:solidFill>
                        <a:schemeClr val="bg1"/>
                      </a:solidFill>
                    </a:rPr>
                    <a:t>Context</a:t>
                  </a:r>
                  <a:endParaRPr kumimoji="1" lang="zh-CN" altLang="en-US" sz="7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" name="圆角矩形 135"/>
                <p:cNvSpPr/>
                <p:nvPr/>
              </p:nvSpPr>
              <p:spPr>
                <a:xfrm>
                  <a:off x="8446353" y="4386776"/>
                  <a:ext cx="439914" cy="129653"/>
                </a:xfrm>
                <a:prstGeom prst="roundRect">
                  <a:avLst/>
                </a:prstGeom>
                <a:solidFill>
                  <a:srgbClr val="7272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700" dirty="0">
                      <a:solidFill>
                        <a:schemeClr val="bg1"/>
                      </a:solidFill>
                    </a:rPr>
                    <a:t>Memory</a:t>
                  </a:r>
                  <a:endParaRPr kumimoji="1" lang="zh-CN" altLang="en-US" sz="7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0" name="圆角矩形 139"/>
                <p:cNvSpPr/>
                <p:nvPr/>
              </p:nvSpPr>
              <p:spPr>
                <a:xfrm>
                  <a:off x="8500615" y="4015334"/>
                  <a:ext cx="185539" cy="152066"/>
                </a:xfrm>
                <a:prstGeom prst="roundRect">
                  <a:avLst>
                    <a:gd name="adj" fmla="val 26169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/>
                </a:p>
              </p:txBody>
            </p:sp>
            <p:pic>
              <p:nvPicPr>
                <p:cNvPr id="141" name="图形 140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52948" y="3946212"/>
                  <a:ext cx="273246" cy="273246"/>
                </a:xfrm>
                <a:prstGeom prst="rect">
                  <a:avLst/>
                </a:prstGeom>
              </p:spPr>
            </p:pic>
            <p:sp>
              <p:nvSpPr>
                <p:cNvPr id="142" name="椭圆 141"/>
                <p:cNvSpPr/>
                <p:nvPr/>
              </p:nvSpPr>
              <p:spPr>
                <a:xfrm rot="10800000">
                  <a:off x="9452005" y="3997767"/>
                  <a:ext cx="175627" cy="318973"/>
                </a:xfrm>
                <a:prstGeom prst="ellipse">
                  <a:avLst/>
                </a:prstGeom>
                <a:solidFill>
                  <a:schemeClr val="accent3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eaVert" lIns="0" tIns="0" rIns="0" bIns="0" rtlCol="0" anchor="ctr"/>
                <a:lstStyle/>
                <a:p>
                  <a:pPr algn="ctr"/>
                  <a:r>
                    <a:rPr kumimoji="1" lang="en-US" altLang="zh-CN" sz="400" dirty="0">
                      <a:solidFill>
                        <a:schemeClr val="bg1"/>
                      </a:solidFill>
                    </a:rPr>
                    <a:t>Message</a:t>
                  </a:r>
                  <a:endParaRPr kumimoji="1" lang="en-US" altLang="zh-CN" sz="400" dirty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kumimoji="1" lang="en-US" altLang="zh-CN" sz="400" dirty="0">
                      <a:solidFill>
                        <a:schemeClr val="bg1"/>
                      </a:solidFill>
                    </a:rPr>
                    <a:t>Pool</a:t>
                  </a:r>
                  <a:endParaRPr kumimoji="1" lang="zh-CN" altLang="en-US" sz="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43" name="直线箭头连接符 142"/>
                <p:cNvCxnSpPr>
                  <a:stCxn id="142" idx="6"/>
                </p:cNvCxnSpPr>
                <p:nvPr/>
              </p:nvCxnSpPr>
              <p:spPr>
                <a:xfrm flipH="1">
                  <a:off x="9228781" y="4157253"/>
                  <a:ext cx="223224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线箭头连接符 143"/>
                <p:cNvCxnSpPr/>
                <p:nvPr/>
              </p:nvCxnSpPr>
              <p:spPr>
                <a:xfrm flipH="1">
                  <a:off x="9228781" y="4446136"/>
                  <a:ext cx="223224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圆角矩形 144"/>
                <p:cNvSpPr/>
                <p:nvPr/>
              </p:nvSpPr>
              <p:spPr>
                <a:xfrm>
                  <a:off x="9371338" y="4388877"/>
                  <a:ext cx="342085" cy="114518"/>
                </a:xfrm>
                <a:prstGeom prst="round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400" dirty="0">
                      <a:solidFill>
                        <a:schemeClr val="bg1"/>
                      </a:solidFill>
                    </a:rPr>
                    <a:t>Agent</a:t>
                  </a:r>
                  <a:r>
                    <a:rPr kumimoji="1" lang="zh-CN" altLang="en-US" sz="4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en-US" altLang="zh-CN" sz="400" dirty="0">
                      <a:solidFill>
                        <a:schemeClr val="bg1"/>
                      </a:solidFill>
                    </a:rPr>
                    <a:t>profile</a:t>
                  </a:r>
                  <a:endParaRPr kumimoji="1" lang="zh-CN" altLang="en-US" sz="4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46" name="直线箭头连接符 145"/>
                <p:cNvCxnSpPr/>
                <p:nvPr/>
              </p:nvCxnSpPr>
              <p:spPr>
                <a:xfrm flipH="1">
                  <a:off x="8886267" y="4279402"/>
                  <a:ext cx="223224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线箭头连接符 146"/>
                <p:cNvCxnSpPr/>
                <p:nvPr/>
              </p:nvCxnSpPr>
              <p:spPr>
                <a:xfrm flipH="1">
                  <a:off x="8886267" y="4450946"/>
                  <a:ext cx="223224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圆角矩形 147"/>
                <p:cNvSpPr/>
                <p:nvPr/>
              </p:nvSpPr>
              <p:spPr>
                <a:xfrm rot="10800000">
                  <a:off x="9028417" y="3968807"/>
                  <a:ext cx="200364" cy="556102"/>
                </a:xfrm>
                <a:prstGeom prst="roundRect">
                  <a:avLst>
                    <a:gd name="adj" fmla="val 24004"/>
                  </a:avLst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eaVert" tIns="180000" rtlCol="0" anchor="ctr"/>
                <a:lstStyle/>
                <a:p>
                  <a:pPr algn="ctr"/>
                  <a:r>
                    <a:rPr kumimoji="1" lang="en-US" altLang="zh-CN" sz="600" dirty="0">
                      <a:solidFill>
                        <a:schemeClr val="tx1"/>
                      </a:solidFill>
                    </a:rPr>
                    <a:t>Context</a:t>
                  </a:r>
                  <a:endParaRPr kumimoji="1" lang="en-US" altLang="zh-CN" sz="6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en-US" altLang="zh-CN" sz="600" dirty="0">
                      <a:solidFill>
                        <a:schemeClr val="tx1"/>
                      </a:solidFill>
                    </a:rPr>
                    <a:t>Model</a:t>
                  </a:r>
                  <a:endParaRPr kumimoji="1" lang="zh-CN" altLang="en-US" sz="600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49" name="图片 148"/>
                <p:cNvPicPr>
                  <a:picLocks noChangeAspect="1"/>
                </p:cNvPicPr>
                <p:nvPr/>
              </p:nvPicPr>
              <p:blipFill rotWithShape="1"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168" t="11203" r="13306" b="8273"/>
                <a:stretch>
                  <a:fillRect/>
                </a:stretch>
              </p:blipFill>
              <p:spPr>
                <a:xfrm rot="16200000">
                  <a:off x="9049683" y="4327987"/>
                  <a:ext cx="152720" cy="169562"/>
                </a:xfrm>
                <a:prstGeom prst="rect">
                  <a:avLst/>
                </a:prstGeom>
              </p:spPr>
            </p:pic>
            <p:sp>
              <p:nvSpPr>
                <p:cNvPr id="150" name="圆角矩形 149"/>
                <p:cNvSpPr/>
                <p:nvPr/>
              </p:nvSpPr>
              <p:spPr>
                <a:xfrm>
                  <a:off x="6367801" y="2727720"/>
                  <a:ext cx="1600200" cy="639977"/>
                </a:xfrm>
                <a:prstGeom prst="roundRect">
                  <a:avLst>
                    <a:gd name="adj" fmla="val 24004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/>
                <a:lstStyle/>
                <a:p>
                  <a:pPr algn="ctr"/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Step</a:t>
                  </a:r>
                  <a:r>
                    <a: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</a:t>
                  </a:r>
                  <a:r>
                    <a: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zh-CN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Observation</a:t>
                  </a:r>
                  <a:endParaRPr kumimoji="1" lang="zh-CN" altLang="en-US" sz="1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" name="圆角矩形 150"/>
                <p:cNvSpPr/>
                <p:nvPr/>
              </p:nvSpPr>
              <p:spPr>
                <a:xfrm>
                  <a:off x="6367801" y="2983686"/>
                  <a:ext cx="1600200" cy="646366"/>
                </a:xfrm>
                <a:prstGeom prst="roundRect">
                  <a:avLst>
                    <a:gd name="adj" fmla="val 1896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t"/>
                <a:lstStyle/>
                <a:p>
                  <a:pPr algn="ctr"/>
                  <a:endParaRPr kumimoji="1" lang="zh-CN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圆角矩形 151"/>
                <p:cNvSpPr/>
                <p:nvPr/>
              </p:nvSpPr>
              <p:spPr>
                <a:xfrm>
                  <a:off x="6367801" y="2952336"/>
                  <a:ext cx="1600200" cy="147865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14400" rIns="0" rtlCol="0" anchor="t"/>
                <a:lstStyle/>
                <a:p>
                  <a:pPr algn="ctr"/>
                  <a:r>
                    <a:rPr kumimoji="1" lang="en-US" altLang="zh-CN" sz="800" b="1" dirty="0">
                      <a:solidFill>
                        <a:schemeClr val="tx1"/>
                      </a:solidFill>
                    </a:rPr>
                    <a:t>Environment</a:t>
                  </a:r>
                  <a:r>
                    <a:rPr kumimoji="1" lang="zh-CN" altLang="en-US" sz="8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CN" sz="800" b="1" dirty="0">
                      <a:solidFill>
                        <a:schemeClr val="tx1"/>
                      </a:solidFill>
                    </a:rPr>
                    <a:t>state</a:t>
                  </a:r>
                  <a:endParaRPr kumimoji="1" lang="zh-CN" altLang="en-US" sz="8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>
                <a:xfrm>
                  <a:off x="6456132" y="3100201"/>
                  <a:ext cx="1461056" cy="4697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"</a:t>
                  </a:r>
                  <a:r>
                    <a:rPr kumimoji="1" lang="en-GB" altLang="zh-CN" sz="400" b="1" dirty="0" err="1">
                      <a:solidFill>
                        <a:schemeClr val="tx1"/>
                      </a:solidFill>
                    </a:rPr>
                    <a:t>scene_type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"</a:t>
                  </a:r>
                  <a:r>
                    <a:rPr kumimoji="1" lang="en-GB" altLang="zh-CN" sz="400" b="1" dirty="0">
                      <a:solidFill>
                        <a:schemeClr val="tx1"/>
                      </a:solidFill>
                    </a:rPr>
                    <a:t>: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"race",</a:t>
                  </a:r>
                  <a:endParaRPr kumimoji="1" lang="en-GB" altLang="zh-CN" sz="400" dirty="0">
                    <a:solidFill>
                      <a:schemeClr val="tx1"/>
                    </a:solidFill>
                  </a:endParaRPr>
                </a:p>
                <a:p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"</a:t>
                  </a:r>
                  <a:r>
                    <a:rPr kumimoji="1" lang="en-GB" altLang="zh-CN" sz="400" b="1" dirty="0" err="1">
                      <a:solidFill>
                        <a:schemeClr val="tx1"/>
                      </a:solidFill>
                    </a:rPr>
                    <a:t>scene_data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": {</a:t>
                  </a:r>
                  <a:endParaRPr kumimoji="1" lang="en-GB" altLang="zh-CN" sz="400" dirty="0">
                    <a:solidFill>
                      <a:schemeClr val="tx1"/>
                    </a:solidFill>
                  </a:endParaRPr>
                </a:p>
                <a:p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    “</a:t>
                  </a:r>
                  <a:r>
                    <a:rPr kumimoji="1" lang="en-GB" altLang="zh-CN" sz="400" b="1" dirty="0">
                      <a:solidFill>
                        <a:schemeClr val="tx1"/>
                      </a:solidFill>
                    </a:rPr>
                    <a:t>sender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”: “unity”,</a:t>
                  </a:r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“receiver”: “environment”,</a:t>
                  </a:r>
                  <a:endParaRPr kumimoji="1" lang="en-US" altLang="zh-CN" sz="400" dirty="0">
                    <a:solidFill>
                      <a:schemeClr val="tx1"/>
                    </a:solidFill>
                  </a:endParaRPr>
                </a:p>
                <a:p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  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“</a:t>
                  </a:r>
                  <a:r>
                    <a:rPr kumimoji="1" lang="en-GB" altLang="zh-CN" sz="400" b="1" dirty="0" err="1">
                      <a:solidFill>
                        <a:schemeClr val="tx1"/>
                      </a:solidFill>
                    </a:rPr>
                    <a:t>track_conditions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”: {</a:t>
                  </a:r>
                  <a:endParaRPr kumimoji="1" lang="en-GB" altLang="zh-CN" sz="400" dirty="0">
                    <a:solidFill>
                      <a:schemeClr val="tx1"/>
                    </a:solidFill>
                  </a:endParaRPr>
                </a:p>
                <a:p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    </a:t>
                  </a:r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  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“</a:t>
                  </a:r>
                  <a:r>
                    <a:rPr kumimoji="1" lang="en-GB" altLang="zh-CN" sz="400" b="1" dirty="0">
                      <a:solidFill>
                        <a:schemeClr val="tx1"/>
                      </a:solidFill>
                    </a:rPr>
                    <a:t>Grip Level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”: 0.5,</a:t>
                  </a:r>
                  <a:r>
                    <a:rPr kumimoji="1" lang="en-US" altLang="zh-CN" sz="400" dirty="0">
                      <a:solidFill>
                        <a:schemeClr val="tx1"/>
                      </a:solidFill>
                    </a:rPr>
                    <a:t> “</a:t>
                  </a:r>
                  <a:r>
                    <a:rPr kumimoji="1" lang="en-GB" altLang="zh-CN" sz="400" b="1" dirty="0">
                      <a:solidFill>
                        <a:schemeClr val="tx1"/>
                      </a:solidFill>
                    </a:rPr>
                    <a:t>Rubber Particles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”: “Medium”</a:t>
                  </a:r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},</a:t>
                  </a:r>
                  <a:endParaRPr kumimoji="1" lang="en-GB" altLang="zh-CN" sz="400" dirty="0">
                    <a:solidFill>
                      <a:schemeClr val="tx1"/>
                    </a:solidFill>
                  </a:endParaRPr>
                </a:p>
                <a:p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    </a:t>
                  </a:r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  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“</a:t>
                  </a:r>
                  <a:r>
                    <a:rPr kumimoji="1" lang="en-GB" altLang="zh-CN" sz="400" b="1" dirty="0">
                      <a:solidFill>
                        <a:schemeClr val="tx1"/>
                      </a:solidFill>
                    </a:rPr>
                    <a:t>signal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 : “</a:t>
                  </a:r>
                  <a:r>
                    <a:rPr kumimoji="1" lang="en-GB" altLang="zh-CN" sz="400" dirty="0" err="1">
                      <a:solidFill>
                        <a:schemeClr val="tx1"/>
                      </a:solidFill>
                    </a:rPr>
                    <a:t>track_conditions_update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”</a:t>
                  </a:r>
                  <a:r>
                    <a:rPr kumimoji="1" lang="zh-CN" altLang="en-US" sz="400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GB" altLang="zh-CN" sz="400" dirty="0">
                      <a:solidFill>
                        <a:schemeClr val="tx1"/>
                      </a:solidFill>
                    </a:rPr>
                    <a:t>}</a:t>
                  </a:r>
                  <a:endParaRPr kumimoji="1" lang="zh-CN" altLang="en-US" sz="4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54" name="组合 153"/>
                <p:cNvGrpSpPr/>
                <p:nvPr/>
              </p:nvGrpSpPr>
              <p:grpSpPr>
                <a:xfrm>
                  <a:off x="6367801" y="3692329"/>
                  <a:ext cx="1600200" cy="902332"/>
                  <a:chOff x="2450412" y="2885241"/>
                  <a:chExt cx="1600200" cy="902332"/>
                </a:xfrm>
              </p:grpSpPr>
              <p:sp>
                <p:nvSpPr>
                  <p:cNvPr id="166" name="圆角矩形 165"/>
                  <p:cNvSpPr/>
                  <p:nvPr/>
                </p:nvSpPr>
                <p:spPr>
                  <a:xfrm>
                    <a:off x="2450412" y="2885241"/>
                    <a:ext cx="1600200" cy="639977"/>
                  </a:xfrm>
                  <a:prstGeom prst="roundRect">
                    <a:avLst>
                      <a:gd name="adj" fmla="val 24004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tIns="0" rtlCol="0" anchor="t"/>
                  <a:lstStyle/>
                  <a:p>
                    <a:pPr algn="ctr"/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Step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4.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Generate</a:t>
                    </a:r>
                    <a:r>
                      <a:rPr kumimoji="1" lang="zh-CN" altLang="en-US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zh-CN" sz="1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Action</a:t>
                    </a:r>
                    <a:endParaRPr kumimoji="1" lang="zh-CN" altLang="en-US" sz="1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7" name="圆角矩形 166"/>
                  <p:cNvSpPr/>
                  <p:nvPr/>
                </p:nvSpPr>
                <p:spPr>
                  <a:xfrm>
                    <a:off x="2450412" y="3141207"/>
                    <a:ext cx="1600200" cy="646366"/>
                  </a:xfrm>
                  <a:prstGeom prst="roundRect">
                    <a:avLst>
                      <a:gd name="adj" fmla="val 1896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t"/>
                  <a:lstStyle/>
                  <a:p>
                    <a:pPr algn="ctr"/>
                    <a:endParaRPr kumimoji="1" lang="zh-CN" altLang="en-US" sz="1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8" name="圆角矩形 167"/>
                  <p:cNvSpPr/>
                  <p:nvPr/>
                </p:nvSpPr>
                <p:spPr>
                  <a:xfrm>
                    <a:off x="2450412" y="3109857"/>
                    <a:ext cx="1600200" cy="14786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rtlCol="0" anchor="t"/>
                  <a:lstStyle/>
                  <a:p>
                    <a:pPr algn="ctr"/>
                    <a:endParaRPr kumimoji="1" lang="zh-CN" altLang="en-US" sz="1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55" name="组合 154"/>
                <p:cNvGrpSpPr/>
                <p:nvPr/>
              </p:nvGrpSpPr>
              <p:grpSpPr>
                <a:xfrm>
                  <a:off x="6816473" y="3984049"/>
                  <a:ext cx="200364" cy="556102"/>
                  <a:chOff x="9180817" y="4121207"/>
                  <a:chExt cx="200364" cy="556102"/>
                </a:xfrm>
              </p:grpSpPr>
              <p:sp>
                <p:nvSpPr>
                  <p:cNvPr id="164" name="圆角矩形 163"/>
                  <p:cNvSpPr/>
                  <p:nvPr/>
                </p:nvSpPr>
                <p:spPr>
                  <a:xfrm rot="10800000">
                    <a:off x="9180817" y="4121207"/>
                    <a:ext cx="200364" cy="556102"/>
                  </a:xfrm>
                  <a:prstGeom prst="roundRect">
                    <a:avLst>
                      <a:gd name="adj" fmla="val 24004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eaVert" tIns="180000" rtlCol="0" anchor="ctr"/>
                  <a:lstStyle/>
                  <a:p>
                    <a:pPr algn="ctr"/>
                    <a:r>
                      <a:rPr kumimoji="1" lang="en-US" altLang="zh-CN" sz="600" dirty="0">
                        <a:solidFill>
                          <a:schemeClr val="tx1"/>
                        </a:solidFill>
                      </a:rPr>
                      <a:t>Context</a:t>
                    </a:r>
                    <a:endParaRPr kumimoji="1" lang="en-US" altLang="zh-CN" sz="6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r>
                      <a:rPr kumimoji="1" lang="en-US" altLang="zh-CN" sz="600" dirty="0">
                        <a:solidFill>
                          <a:schemeClr val="tx1"/>
                        </a:solidFill>
                      </a:rPr>
                      <a:t>Model</a:t>
                    </a:r>
                    <a:endParaRPr kumimoji="1" lang="zh-CN" altLang="en-US" sz="600" dirty="0">
                      <a:solidFill>
                        <a:schemeClr val="tx1"/>
                      </a:solidFill>
                    </a:endParaRPr>
                  </a:p>
                </p:txBody>
              </p:sp>
              <p:pic>
                <p:nvPicPr>
                  <p:cNvPr id="165" name="图片 164"/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4168" t="11203" r="13306" b="8273"/>
                  <a:stretch>
                    <a:fillRect/>
                  </a:stretch>
                </p:blipFill>
                <p:spPr>
                  <a:xfrm rot="16200000">
                    <a:off x="9202083" y="4480387"/>
                    <a:ext cx="152720" cy="16956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6" name="矩形 155"/>
                <p:cNvSpPr/>
                <p:nvPr/>
              </p:nvSpPr>
              <p:spPr>
                <a:xfrm>
                  <a:off x="7206203" y="4063342"/>
                  <a:ext cx="632872" cy="4856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Ins="0" rtlCol="0" anchor="ctr"/>
                <a:lstStyle/>
                <a:p>
                  <a:endParaRPr kumimoji="1" lang="zh-CN" altLang="en-US" sz="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7" name="文本框 156"/>
                <p:cNvSpPr txBox="1"/>
                <p:nvPr/>
              </p:nvSpPr>
              <p:spPr>
                <a:xfrm>
                  <a:off x="7193676" y="3917945"/>
                  <a:ext cx="6767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600" b="1" dirty="0"/>
                    <a:t>Actor</a:t>
                  </a:r>
                  <a:r>
                    <a:rPr kumimoji="1" lang="zh-CN" altLang="en-US" sz="600" b="1" dirty="0"/>
                    <a:t> </a:t>
                  </a:r>
                  <a:r>
                    <a:rPr kumimoji="1" lang="en-US" altLang="zh-CN" sz="600" b="1" dirty="0"/>
                    <a:t>Prompt</a:t>
                  </a:r>
                  <a:endParaRPr kumimoji="1" lang="zh-CN" altLang="en-US" sz="600" b="1" dirty="0"/>
                </a:p>
              </p:txBody>
            </p:sp>
            <p:sp>
              <p:nvSpPr>
                <p:cNvPr id="158" name="圆角矩形 157"/>
                <p:cNvSpPr/>
                <p:nvPr/>
              </p:nvSpPr>
              <p:spPr>
                <a:xfrm>
                  <a:off x="7234698" y="4087529"/>
                  <a:ext cx="566805" cy="121477"/>
                </a:xfrm>
                <a:prstGeom prst="roundRect">
                  <a:avLst/>
                </a:prstGeom>
                <a:solidFill>
                  <a:srgbClr val="7272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Agent</a:t>
                  </a:r>
                  <a:r>
                    <a:rPr kumimoji="1" lang="zh-CN" altLang="en-US" sz="5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profile</a:t>
                  </a:r>
                  <a:endParaRPr kumimoji="1" lang="zh-CN" altLang="en-US" sz="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9" name="圆角矩形 158"/>
                <p:cNvSpPr/>
                <p:nvPr/>
              </p:nvSpPr>
              <p:spPr>
                <a:xfrm>
                  <a:off x="7234698" y="4402745"/>
                  <a:ext cx="566805" cy="121477"/>
                </a:xfrm>
                <a:prstGeom prst="roundRect">
                  <a:avLst/>
                </a:prstGeom>
                <a:solidFill>
                  <a:srgbClr val="7272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Action</a:t>
                  </a:r>
                  <a:r>
                    <a:rPr kumimoji="1" lang="zh-CN" altLang="en-US" sz="5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Objective</a:t>
                  </a:r>
                  <a:endParaRPr kumimoji="1" lang="zh-CN" altLang="en-US" sz="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0" name="圆角矩形 159"/>
                <p:cNvSpPr/>
                <p:nvPr/>
              </p:nvSpPr>
              <p:spPr>
                <a:xfrm>
                  <a:off x="7234698" y="4245137"/>
                  <a:ext cx="566805" cy="121477"/>
                </a:xfrm>
                <a:prstGeom prst="roundRect">
                  <a:avLst/>
                </a:prstGeom>
                <a:solidFill>
                  <a:srgbClr val="72727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API</a:t>
                  </a:r>
                  <a:r>
                    <a:rPr kumimoji="1" lang="zh-CN" altLang="en-US" sz="500" dirty="0">
                      <a:solidFill>
                        <a:schemeClr val="bg1"/>
                      </a:solidFill>
                    </a:rPr>
                    <a:t> </a:t>
                  </a:r>
                  <a:r>
                    <a:rPr kumimoji="1" lang="en-US" altLang="zh-CN" sz="500" dirty="0">
                      <a:solidFill>
                        <a:schemeClr val="bg1"/>
                      </a:solidFill>
                    </a:rPr>
                    <a:t>info</a:t>
                  </a:r>
                  <a:endParaRPr kumimoji="1" lang="zh-CN" altLang="en-US" sz="500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61" name="直线箭头连接符 160"/>
                <p:cNvCxnSpPr>
                  <a:stCxn id="156" idx="1"/>
                </p:cNvCxnSpPr>
                <p:nvPr/>
              </p:nvCxnSpPr>
              <p:spPr>
                <a:xfrm flipH="1">
                  <a:off x="7026342" y="4306161"/>
                  <a:ext cx="179861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线箭头连接符 161"/>
                <p:cNvCxnSpPr/>
                <p:nvPr/>
              </p:nvCxnSpPr>
              <p:spPr>
                <a:xfrm flipH="1">
                  <a:off x="6638183" y="4306161"/>
                  <a:ext cx="179861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3" name="文本框 162"/>
                    <p:cNvSpPr txBox="1"/>
                    <p:nvPr/>
                  </p:nvSpPr>
                  <p:spPr>
                    <a:xfrm>
                      <a:off x="6294666" y="4186352"/>
                      <a:ext cx="434798" cy="22095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/>
                    </a:p>
                  </p:txBody>
                </p:sp>
              </mc:Choice>
              <mc:Fallback>
                <p:sp>
                  <p:nvSpPr>
                    <p:cNvPr id="163" name="文本框 16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94666" y="4186352"/>
                      <a:ext cx="434798" cy="220958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7" name="组合 46"/>
              <p:cNvGrpSpPr/>
              <p:nvPr/>
            </p:nvGrpSpPr>
            <p:grpSpPr>
              <a:xfrm>
                <a:off x="6160478" y="4941114"/>
                <a:ext cx="3817316" cy="1285559"/>
                <a:chOff x="6160478" y="4941114"/>
                <a:chExt cx="3817316" cy="1285559"/>
              </a:xfrm>
            </p:grpSpPr>
            <p:sp>
              <p:nvSpPr>
                <p:cNvPr id="48" name="文本框 47"/>
                <p:cNvSpPr txBox="1"/>
                <p:nvPr/>
              </p:nvSpPr>
              <p:spPr>
                <a:xfrm>
                  <a:off x="6488563" y="5494569"/>
                  <a:ext cx="90281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zh-CN" altLang="en-US" sz="2800" dirty="0"/>
                    <a:t>车手</a:t>
                  </a:r>
                  <a:endParaRPr kumimoji="1" lang="zh-CN" altLang="en-US" sz="2800" dirty="0"/>
                </a:p>
              </p:txBody>
            </p:sp>
            <p:sp>
              <p:nvSpPr>
                <p:cNvPr id="49" name="圆角矩形 48"/>
                <p:cNvSpPr/>
                <p:nvPr/>
              </p:nvSpPr>
              <p:spPr>
                <a:xfrm>
                  <a:off x="6160478" y="4941114"/>
                  <a:ext cx="3794096" cy="1242834"/>
                </a:xfrm>
                <a:prstGeom prst="roundRect">
                  <a:avLst>
                    <a:gd name="adj" fmla="val 6162"/>
                  </a:avLst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t"/>
                <a:lstStyle/>
                <a:p>
                  <a:pPr algn="ctr"/>
                  <a:r>
                    <a:rPr kumimoji="1" lang="en-US" altLang="zh-CN" sz="1400" b="1" dirty="0">
                      <a:solidFill>
                        <a:schemeClr val="tx1"/>
                      </a:solidFill>
                    </a:rPr>
                    <a:t>Reflection</a:t>
                  </a:r>
                  <a:r>
                    <a:rPr kumimoji="1" lang="zh-CN" altLang="en-US" sz="1400" b="1" dirty="0">
                      <a:solidFill>
                        <a:schemeClr val="tx1"/>
                      </a:solidFill>
                    </a:rPr>
                    <a:t> </a:t>
                  </a:r>
                  <a:r>
                    <a:rPr kumimoji="1" lang="en-US" altLang="zh-CN" sz="1400" b="1" dirty="0">
                      <a:solidFill>
                        <a:schemeClr val="tx1"/>
                      </a:solidFill>
                    </a:rPr>
                    <a:t>Module</a:t>
                  </a:r>
                  <a:endParaRPr kumimoji="1"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0" name="组合 49"/>
                <p:cNvGrpSpPr/>
                <p:nvPr/>
              </p:nvGrpSpPr>
              <p:grpSpPr>
                <a:xfrm>
                  <a:off x="6224752" y="5273862"/>
                  <a:ext cx="392511" cy="392511"/>
                  <a:chOff x="5406654" y="2170430"/>
                  <a:chExt cx="1905000" cy="1905000"/>
                </a:xfrm>
              </p:grpSpPr>
              <p:sp>
                <p:nvSpPr>
                  <p:cNvPr id="108" name="圆角矩形 107"/>
                  <p:cNvSpPr/>
                  <p:nvPr/>
                </p:nvSpPr>
                <p:spPr>
                  <a:xfrm>
                    <a:off x="5738980" y="2652337"/>
                    <a:ext cx="1293531" cy="1060165"/>
                  </a:xfrm>
                  <a:prstGeom prst="roundRect">
                    <a:avLst>
                      <a:gd name="adj" fmla="val 26169"/>
                    </a:avLst>
                  </a:prstGeom>
                  <a:solidFill>
                    <a:srgbClr val="F9F1E7"/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111" name="图形 110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406654" y="2170430"/>
                    <a:ext cx="1905000" cy="19050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6224752" y="5638645"/>
                  <a:ext cx="392511" cy="392511"/>
                  <a:chOff x="10743641" y="3923110"/>
                  <a:chExt cx="392511" cy="392511"/>
                </a:xfrm>
              </p:grpSpPr>
              <p:sp>
                <p:nvSpPr>
                  <p:cNvPr id="87" name="圆角矩形 86"/>
                  <p:cNvSpPr/>
                  <p:nvPr/>
                </p:nvSpPr>
                <p:spPr>
                  <a:xfrm>
                    <a:off x="10812114" y="4022403"/>
                    <a:ext cx="266522" cy="218439"/>
                  </a:xfrm>
                  <a:prstGeom prst="roundRect">
                    <a:avLst>
                      <a:gd name="adj" fmla="val 26169"/>
                    </a:avLst>
                  </a:prstGeom>
                  <a:solidFill>
                    <a:srgbClr val="DFECD4"/>
                  </a:solidFill>
                  <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pic>
                <p:nvPicPr>
                  <p:cNvPr id="89" name="图形 88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743641" y="3923110"/>
                    <a:ext cx="392511" cy="39251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4" name="文本框 53"/>
                <p:cNvSpPr txBox="1"/>
                <p:nvPr/>
              </p:nvSpPr>
              <p:spPr>
                <a:xfrm>
                  <a:off x="6853236" y="5147719"/>
                  <a:ext cx="1018227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zh-CN" sz="800" b="1" dirty="0"/>
                    <a:t>Reflector</a:t>
                  </a:r>
                  <a:r>
                    <a:rPr kumimoji="1" lang="zh-CN" altLang="en-US" sz="800" b="1" dirty="0"/>
                    <a:t> </a:t>
                  </a:r>
                  <a:r>
                    <a:rPr kumimoji="1" lang="en-US" altLang="zh-CN" sz="800" b="1" dirty="0"/>
                    <a:t>Prompt</a:t>
                  </a:r>
                  <a:endParaRPr kumimoji="1" lang="zh-CN" altLang="en-US" sz="800" b="1" dirty="0"/>
                </a:p>
              </p:txBody>
            </p:sp>
            <p:grpSp>
              <p:nvGrpSpPr>
                <p:cNvPr id="55" name="组合 54"/>
                <p:cNvGrpSpPr/>
                <p:nvPr/>
              </p:nvGrpSpPr>
              <p:grpSpPr>
                <a:xfrm>
                  <a:off x="6731728" y="5325007"/>
                  <a:ext cx="1261242" cy="290221"/>
                  <a:chOff x="6881348" y="5316580"/>
                  <a:chExt cx="1261242" cy="290221"/>
                </a:xfrm>
              </p:grpSpPr>
              <p:sp>
                <p:nvSpPr>
                  <p:cNvPr id="77" name="圆角矩形 76"/>
                  <p:cNvSpPr/>
                  <p:nvPr/>
                </p:nvSpPr>
                <p:spPr>
                  <a:xfrm>
                    <a:off x="6881348" y="5316580"/>
                    <a:ext cx="1261242" cy="29022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79" name="圆角矩形 78"/>
                      <p:cNvSpPr/>
                      <p:nvPr/>
                    </p:nvSpPr>
                    <p:spPr>
                      <a:xfrm>
                        <a:off x="6948229" y="53510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tx2">
                          <a:lumMod val="10000"/>
                          <a:lumOff val="9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79" name="圆角矩形 78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948229" y="53510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8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3" name="圆角矩形 82"/>
                      <p:cNvSpPr/>
                      <p:nvPr/>
                    </p:nvSpPr>
                    <p:spPr>
                      <a:xfrm>
                        <a:off x="7342779" y="53510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83" name="圆角矩形 8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42779" y="53510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9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4" name="圆角矩形 83"/>
                      <p:cNvSpPr/>
                      <p:nvPr/>
                    </p:nvSpPr>
                    <p:spPr>
                      <a:xfrm>
                        <a:off x="7737329" y="53510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84" name="圆角矩形 8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37329" y="53510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10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56" name="组合 55"/>
                <p:cNvGrpSpPr/>
                <p:nvPr/>
              </p:nvGrpSpPr>
              <p:grpSpPr>
                <a:xfrm>
                  <a:off x="6731728" y="5689790"/>
                  <a:ext cx="1261242" cy="290221"/>
                  <a:chOff x="6881348" y="5740080"/>
                  <a:chExt cx="1261242" cy="290221"/>
                </a:xfrm>
              </p:grpSpPr>
              <p:sp>
                <p:nvSpPr>
                  <p:cNvPr id="67" name="圆角矩形 66"/>
                  <p:cNvSpPr/>
                  <p:nvPr/>
                </p:nvSpPr>
                <p:spPr>
                  <a:xfrm>
                    <a:off x="6881348" y="5740080"/>
                    <a:ext cx="1261242" cy="290221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8" name="圆角矩形 67"/>
                      <p:cNvSpPr/>
                      <p:nvPr/>
                    </p:nvSpPr>
                    <p:spPr>
                      <a:xfrm>
                        <a:off x="6948229" y="57745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tx2">
                          <a:lumMod val="10000"/>
                          <a:lumOff val="9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8" name="圆角矩形 6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948229" y="57745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8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9" name="圆角矩形 68"/>
                      <p:cNvSpPr/>
                      <p:nvPr/>
                    </p:nvSpPr>
                    <p:spPr>
                      <a:xfrm>
                        <a:off x="7342779" y="57745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9" name="圆角矩形 68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42779" y="57745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9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70" name="圆角矩形 69"/>
                      <p:cNvSpPr/>
                      <p:nvPr/>
                    </p:nvSpPr>
                    <p:spPr>
                      <a:xfrm>
                        <a:off x="7737329" y="5774572"/>
                        <a:ext cx="331455" cy="221421"/>
                      </a:xfrm>
                      <a:prstGeom prst="round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  <a:alpha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CN" sz="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zh-CN" altLang="en-US" sz="8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70" name="圆角矩形 69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737329" y="5774572"/>
                        <a:ext cx="331455" cy="221421"/>
                      </a:xfrm>
                      <a:prstGeom prst="roundRect">
                        <a:avLst/>
                      </a:prstGeom>
                      <a:blipFill rotWithShape="1">
                        <a:blip r:embed="rId10"/>
                      </a:blip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7" name="文本框 56"/>
                <p:cNvSpPr txBox="1"/>
                <p:nvPr/>
              </p:nvSpPr>
              <p:spPr>
                <a:xfrm>
                  <a:off x="6231469" y="5857341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b="1" dirty="0"/>
                    <a:t>…</a:t>
                  </a:r>
                  <a:endParaRPr kumimoji="1" lang="zh-CN" altLang="en-US" b="1" dirty="0"/>
                </a:p>
              </p:txBody>
            </p:sp>
            <p:sp>
              <p:nvSpPr>
                <p:cNvPr id="58" name="圆角矩形 57"/>
                <p:cNvSpPr/>
                <p:nvPr/>
              </p:nvSpPr>
              <p:spPr>
                <a:xfrm rot="10800000">
                  <a:off x="8211340" y="5220693"/>
                  <a:ext cx="409995" cy="915245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eaVert" rtlCol="0" anchor="ctr"/>
                <a:lstStyle/>
                <a:p>
                  <a:pPr algn="ctr"/>
                  <a:r>
                    <a:rPr kumimoji="1" lang="en-US" altLang="zh-CN" sz="1050" b="1" dirty="0">
                      <a:solidFill>
                        <a:schemeClr val="tx1"/>
                      </a:solidFill>
                    </a:rPr>
                    <a:t>Shared</a:t>
                  </a:r>
                  <a:endParaRPr kumimoji="1" lang="en-US" altLang="zh-CN" sz="1050" b="1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kumimoji="1" lang="en-US" altLang="zh-CN" sz="1050" b="1" dirty="0">
                      <a:solidFill>
                        <a:schemeClr val="tx1"/>
                      </a:solidFill>
                    </a:rPr>
                    <a:t>Reflector</a:t>
                  </a:r>
                  <a:endParaRPr kumimoji="1" lang="zh-CN" altLang="en-US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圆角矩形 58"/>
                <p:cNvSpPr/>
                <p:nvPr/>
              </p:nvSpPr>
              <p:spPr>
                <a:xfrm>
                  <a:off x="8858620" y="5323707"/>
                  <a:ext cx="982825" cy="29022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4400" rIns="36000" bIns="36000" rtlCol="0" anchor="t"/>
                <a:lstStyle/>
                <a:p>
                  <a:r>
                    <a:rPr lang="en-GB" altLang="zh-CN" sz="500" dirty="0">
                      <a:solidFill>
                        <a:schemeClr val="tx1"/>
                      </a:solidFill>
                      <a:latin typeface="Menlo" panose="020B0609030804020204" pitchFamily="49" charset="0"/>
                    </a:rPr>
                    <a:t>Telemetry shows front wing angle suboptimal for Turn complex. </a:t>
                  </a:r>
                  <a:endParaRPr lang="zh-CN" altLang="en-US" sz="500" b="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endParaRPr>
                </a:p>
                <a:p>
                  <a:endParaRPr kumimoji="1" lang="zh-CN" altLang="en-US" sz="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圆角矩形 59"/>
                <p:cNvSpPr/>
                <p:nvPr/>
              </p:nvSpPr>
              <p:spPr>
                <a:xfrm>
                  <a:off x="8852540" y="5686324"/>
                  <a:ext cx="982825" cy="29022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000" tIns="14400" rIns="36000" bIns="36000" rtlCol="0" anchor="t"/>
                <a:lstStyle/>
                <a:p>
                  <a:r>
                    <a:rPr lang="en-GB" altLang="zh-CN" sz="500" b="0" dirty="0">
                      <a:solidFill>
                        <a:schemeClr val="tx1"/>
                      </a:solidFill>
                      <a:effectLst/>
                      <a:latin typeface="Menlo" panose="020B0609030804020204" pitchFamily="49" charset="0"/>
                    </a:rPr>
                    <a:t>Current setup induces understeer. Prioritize rear stabilizer tweak</a:t>
                  </a:r>
                  <a:r>
                    <a:rPr lang="en-US" altLang="zh-CN" sz="500" b="0" dirty="0">
                      <a:solidFill>
                        <a:schemeClr val="tx1"/>
                      </a:solidFill>
                      <a:effectLst/>
                      <a:latin typeface="Menlo" panose="020B0609030804020204" pitchFamily="49" charset="0"/>
                    </a:rPr>
                    <a:t>.</a:t>
                  </a:r>
                  <a:endParaRPr lang="en-GB" altLang="zh-CN" sz="500" b="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endParaRPr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8699880" y="5147719"/>
                  <a:ext cx="127791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en-US" altLang="zh-CN" sz="800" b="1" dirty="0"/>
                    <a:t>Generated</a:t>
                  </a:r>
                  <a:r>
                    <a:rPr kumimoji="1" lang="zh-CN" altLang="en-US" sz="800" b="1" dirty="0"/>
                    <a:t> </a:t>
                  </a:r>
                  <a:r>
                    <a:rPr kumimoji="1" lang="en-US" altLang="zh-CN" sz="800" b="1" dirty="0"/>
                    <a:t>Reflections</a:t>
                  </a:r>
                  <a:endParaRPr kumimoji="1" lang="zh-CN" altLang="en-US" sz="800" b="1" dirty="0"/>
                </a:p>
              </p:txBody>
            </p:sp>
            <p:cxnSp>
              <p:nvCxnSpPr>
                <p:cNvPr id="62" name="直线箭头连接符 61"/>
                <p:cNvCxnSpPr/>
                <p:nvPr/>
              </p:nvCxnSpPr>
              <p:spPr>
                <a:xfrm>
                  <a:off x="7992970" y="5481561"/>
                  <a:ext cx="218370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线箭头连接符 62"/>
                <p:cNvCxnSpPr/>
                <p:nvPr/>
              </p:nvCxnSpPr>
              <p:spPr>
                <a:xfrm>
                  <a:off x="7992970" y="5826466"/>
                  <a:ext cx="218370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4" name="组合 63"/>
                <p:cNvGrpSpPr/>
                <p:nvPr/>
              </p:nvGrpSpPr>
              <p:grpSpPr>
                <a:xfrm>
                  <a:off x="8621334" y="5481041"/>
                  <a:ext cx="237285" cy="344905"/>
                  <a:chOff x="8621335" y="5481041"/>
                  <a:chExt cx="218370" cy="344905"/>
                </a:xfrm>
              </p:grpSpPr>
              <p:cxnSp>
                <p:nvCxnSpPr>
                  <p:cNvPr id="65" name="直线箭头连接符 64"/>
                  <p:cNvCxnSpPr/>
                  <p:nvPr/>
                </p:nvCxnSpPr>
                <p:spPr>
                  <a:xfrm>
                    <a:off x="8621335" y="5481041"/>
                    <a:ext cx="218370" cy="0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直线箭头连接符 65"/>
                  <p:cNvCxnSpPr/>
                  <p:nvPr/>
                </p:nvCxnSpPr>
                <p:spPr>
                  <a:xfrm>
                    <a:off x="8621335" y="5825946"/>
                    <a:ext cx="218370" cy="0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90" name="组合 189"/>
            <p:cNvGrpSpPr/>
            <p:nvPr/>
          </p:nvGrpSpPr>
          <p:grpSpPr>
            <a:xfrm>
              <a:off x="3048770" y="2067261"/>
              <a:ext cx="2571349" cy="3809697"/>
              <a:chOff x="3058789" y="2374250"/>
              <a:chExt cx="2571349" cy="3809697"/>
            </a:xfrm>
          </p:grpSpPr>
          <p:sp>
            <p:nvSpPr>
              <p:cNvPr id="191" name="圆角矩形 190"/>
              <p:cNvSpPr/>
              <p:nvPr/>
            </p:nvSpPr>
            <p:spPr>
              <a:xfrm>
                <a:off x="3058789" y="2374250"/>
                <a:ext cx="2571349" cy="3809697"/>
              </a:xfrm>
              <a:prstGeom prst="roundRect">
                <a:avLst>
                  <a:gd name="adj" fmla="val 6162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t"/>
              <a:lstStyle/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</a:rPr>
                  <a:t>Representation</a:t>
                </a:r>
                <a:endParaRPr kumimoji="1"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2" name="圆角矩形 191"/>
              <p:cNvSpPr/>
              <p:nvPr/>
            </p:nvSpPr>
            <p:spPr>
              <a:xfrm>
                <a:off x="3251105" y="2727720"/>
                <a:ext cx="2186717" cy="3310625"/>
              </a:xfrm>
              <a:prstGeom prst="roundRect">
                <a:avLst>
                  <a:gd name="adj" fmla="val 6162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t"/>
              <a:lstStyle/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kumimoji="1"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CurrentEnvironmentalContext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": {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WeatherUpdate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": {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"Sender": "Unity",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"Receiver": "Environment",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"Signal":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weather_update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"Data": …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},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TrackConditionsUpdate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": {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"Sender": "Unity",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"Receiver": "Environment",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"Signal":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track_conditions_update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"Data": …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},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GridPositionUpdate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": {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"Sender": "Unity",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"Receiver": "Environment",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"Signal": "</a:t>
                </a:r>
                <a:r>
                  <a:rPr kumimoji="1" lang="en-GB" altLang="zh-CN" sz="1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Grid_Position_update</a:t>
                </a: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",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"Data": …</a:t>
                </a:r>
                <a:endParaRPr kumimoji="1" lang="en-GB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},</a:t>
                </a:r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kumimoji="1"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6000"/>
                  </a:lnSpc>
                </a:pPr>
                <a:r>
                  <a:rPr kumimoji="1" lang="en-GB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kumimoji="1" lang="zh-CN" alt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3" name="组合 192"/>
            <p:cNvGrpSpPr/>
            <p:nvPr/>
          </p:nvGrpSpPr>
          <p:grpSpPr>
            <a:xfrm>
              <a:off x="565291" y="2065857"/>
              <a:ext cx="2078963" cy="3809697"/>
              <a:chOff x="565291" y="2372846"/>
              <a:chExt cx="2078963" cy="3809697"/>
            </a:xfrm>
          </p:grpSpPr>
          <p:sp>
            <p:nvSpPr>
              <p:cNvPr id="194" name="圆角矩形 193"/>
              <p:cNvSpPr/>
              <p:nvPr/>
            </p:nvSpPr>
            <p:spPr>
              <a:xfrm>
                <a:off x="565291" y="2372846"/>
                <a:ext cx="2078963" cy="3809697"/>
              </a:xfrm>
              <a:prstGeom prst="roundRect">
                <a:avLst>
                  <a:gd name="adj" fmla="val 6162"/>
                </a:avLst>
              </a:prstGeom>
              <a:noFill/>
              <a:ln w="19050">
                <a:solidFill>
                  <a:schemeClr val="tx1"/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t"/>
              <a:lstStyle/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</a:rPr>
                  <a:t>Original</a:t>
                </a:r>
                <a:r>
                  <a:rPr kumimoji="1" lang="zh-CN" altLang="en-US" sz="1400" b="1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1400" b="1" dirty="0">
                    <a:solidFill>
                      <a:schemeClr val="tx1"/>
                    </a:solidFill>
                  </a:rPr>
                  <a:t>Game</a:t>
                </a:r>
                <a:endParaRPr kumimoji="1" lang="zh-CN" altLang="en-US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5" name="组合 194"/>
              <p:cNvGrpSpPr/>
              <p:nvPr/>
            </p:nvGrpSpPr>
            <p:grpSpPr>
              <a:xfrm>
                <a:off x="684766" y="2727720"/>
                <a:ext cx="1840013" cy="3310625"/>
                <a:chOff x="688484" y="2727720"/>
                <a:chExt cx="1840013" cy="3310625"/>
              </a:xfrm>
            </p:grpSpPr>
            <p:pic>
              <p:nvPicPr>
                <p:cNvPr id="196" name="图片 195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8484" y="3872305"/>
                  <a:ext cx="1825653" cy="1023991"/>
                </a:xfrm>
                <a:prstGeom prst="rect">
                  <a:avLst/>
                </a:prstGeom>
              </p:spPr>
            </p:pic>
            <p:pic>
              <p:nvPicPr>
                <p:cNvPr id="197" name="图片 196"/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8486" y="5013953"/>
                  <a:ext cx="1825649" cy="1024392"/>
                </a:xfrm>
                <a:prstGeom prst="rect">
                  <a:avLst/>
                </a:prstGeom>
              </p:spPr>
            </p:pic>
            <p:pic>
              <p:nvPicPr>
                <p:cNvPr id="198" name="图片 197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4682" y="2727720"/>
                  <a:ext cx="1823815" cy="1026928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99" name="直线箭头连接符 198"/>
            <p:cNvCxnSpPr>
              <a:stCxn id="196" idx="3"/>
              <a:endCxn id="192" idx="1"/>
            </p:cNvCxnSpPr>
            <p:nvPr/>
          </p:nvCxnSpPr>
          <p:spPr>
            <a:xfrm flipV="1">
              <a:off x="2510419" y="4076044"/>
              <a:ext cx="730667" cy="126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文本框 199"/>
            <p:cNvSpPr txBox="1"/>
            <p:nvPr/>
          </p:nvSpPr>
          <p:spPr>
            <a:xfrm>
              <a:off x="2594457" y="3818757"/>
              <a:ext cx="70403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2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Encode</a:t>
              </a:r>
              <a:endParaRPr kumimoji="1" lang="zh-CN" altLang="en-US" sz="1200" dirty="0"/>
            </a:p>
          </p:txBody>
        </p:sp>
        <p:cxnSp>
          <p:nvCxnSpPr>
            <p:cNvPr id="201" name="直线箭头连接符 200"/>
            <p:cNvCxnSpPr>
              <a:endCxn id="151" idx="1"/>
            </p:cNvCxnSpPr>
            <p:nvPr/>
          </p:nvCxnSpPr>
          <p:spPr>
            <a:xfrm>
              <a:off x="5427803" y="2999880"/>
              <a:ext cx="80415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线箭头连接符 201"/>
            <p:cNvCxnSpPr/>
            <p:nvPr/>
          </p:nvCxnSpPr>
          <p:spPr>
            <a:xfrm flipH="1">
              <a:off x="5427803" y="3912469"/>
              <a:ext cx="80415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文本框 202"/>
            <p:cNvSpPr txBox="1"/>
            <p:nvPr/>
          </p:nvSpPr>
          <p:spPr>
            <a:xfrm>
              <a:off x="5472029" y="2765168"/>
              <a:ext cx="7168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Observe</a:t>
              </a:r>
              <a:endParaRPr kumimoji="1" lang="zh-CN" altLang="en-US" sz="1100" dirty="0"/>
            </a:p>
          </p:txBody>
        </p:sp>
        <p:sp>
          <p:nvSpPr>
            <p:cNvPr id="204" name="文本框 203"/>
            <p:cNvSpPr txBox="1"/>
            <p:nvPr/>
          </p:nvSpPr>
          <p:spPr>
            <a:xfrm>
              <a:off x="5547185" y="3677060"/>
              <a:ext cx="577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100" dirty="0"/>
                <a:t>Action</a:t>
              </a:r>
              <a:endParaRPr kumimoji="1" lang="zh-CN" altLang="en-US" sz="1100" dirty="0"/>
            </a:p>
          </p:txBody>
        </p:sp>
        <p:cxnSp>
          <p:nvCxnSpPr>
            <p:cNvPr id="205" name="直线箭头连接符 204"/>
            <p:cNvCxnSpPr/>
            <p:nvPr/>
          </p:nvCxnSpPr>
          <p:spPr>
            <a:xfrm>
              <a:off x="5421692" y="5318211"/>
              <a:ext cx="602943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本框 205"/>
            <p:cNvSpPr txBox="1"/>
            <p:nvPr/>
          </p:nvSpPr>
          <p:spPr>
            <a:xfrm>
              <a:off x="5388916" y="5083499"/>
              <a:ext cx="6399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/>
                <a:t>Update</a:t>
              </a:r>
              <a:endParaRPr kumimoji="1" lang="zh-CN" altLang="en-US" sz="1100" dirty="0"/>
            </a:p>
          </p:txBody>
        </p:sp>
        <p:cxnSp>
          <p:nvCxnSpPr>
            <p:cNvPr id="207" name="直线箭头连接符 206"/>
            <p:cNvCxnSpPr>
              <a:stCxn id="167" idx="2"/>
            </p:cNvCxnSpPr>
            <p:nvPr/>
          </p:nvCxnSpPr>
          <p:spPr>
            <a:xfrm>
              <a:off x="7032058" y="4287672"/>
              <a:ext cx="0" cy="62603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肘形连接符 207"/>
            <p:cNvCxnSpPr>
              <a:stCxn id="60" idx="3"/>
              <a:endCxn id="33" idx="1"/>
            </p:cNvCxnSpPr>
            <p:nvPr/>
          </p:nvCxnSpPr>
          <p:spPr>
            <a:xfrm flipV="1">
              <a:off x="9699522" y="4392979"/>
              <a:ext cx="788427" cy="1131467"/>
            </a:xfrm>
            <a:prstGeom prst="bentConnector3">
              <a:avLst>
                <a:gd name="adj1" fmla="val 60543"/>
              </a:avLst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肘形连接符 208"/>
            <p:cNvCxnSpPr>
              <a:stCxn id="59" idx="3"/>
              <a:endCxn id="8" idx="1"/>
            </p:cNvCxnSpPr>
            <p:nvPr/>
          </p:nvCxnSpPr>
          <p:spPr>
            <a:xfrm flipV="1">
              <a:off x="9705602" y="3395118"/>
              <a:ext cx="782347" cy="1766711"/>
            </a:xfrm>
            <a:prstGeom prst="bentConnector3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线箭头连接符 209"/>
            <p:cNvCxnSpPr/>
            <p:nvPr/>
          </p:nvCxnSpPr>
          <p:spPr>
            <a:xfrm flipH="1">
              <a:off x="9637057" y="2984858"/>
              <a:ext cx="609039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1" name="组合 210"/>
            <p:cNvGrpSpPr/>
            <p:nvPr/>
          </p:nvGrpSpPr>
          <p:grpSpPr>
            <a:xfrm>
              <a:off x="2416440" y="6015423"/>
              <a:ext cx="7388186" cy="417683"/>
              <a:chOff x="3310376" y="6099503"/>
              <a:chExt cx="7388186" cy="417683"/>
            </a:xfrm>
          </p:grpSpPr>
          <p:sp>
            <p:nvSpPr>
              <p:cNvPr id="212" name="圆角矩形 211"/>
              <p:cNvSpPr/>
              <p:nvPr/>
            </p:nvSpPr>
            <p:spPr>
              <a:xfrm>
                <a:off x="3310376" y="6099503"/>
                <a:ext cx="7388186" cy="417683"/>
              </a:xfrm>
              <a:prstGeom prst="roundRect">
                <a:avLst>
                  <a:gd name="adj" fmla="val 23503"/>
                </a:avLst>
              </a:prstGeom>
              <a:noFill/>
              <a:ln w="28575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t"/>
              <a:lstStyle/>
              <a:p>
                <a:pPr algn="ctr"/>
                <a:endParaRPr kumimoji="1" lang="zh-CN" altLang="en-US" sz="14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13" name="组合 212"/>
              <p:cNvGrpSpPr/>
              <p:nvPr/>
            </p:nvGrpSpPr>
            <p:grpSpPr>
              <a:xfrm>
                <a:off x="3464048" y="6152678"/>
                <a:ext cx="7080843" cy="311333"/>
                <a:chOff x="3486651" y="6152678"/>
                <a:chExt cx="7080843" cy="311333"/>
              </a:xfrm>
            </p:grpSpPr>
            <p:grpSp>
              <p:nvGrpSpPr>
                <p:cNvPr id="214" name="组合 213"/>
                <p:cNvGrpSpPr/>
                <p:nvPr/>
              </p:nvGrpSpPr>
              <p:grpSpPr>
                <a:xfrm>
                  <a:off x="3486651" y="6152678"/>
                  <a:ext cx="876910" cy="311333"/>
                  <a:chOff x="3486651" y="6158841"/>
                  <a:chExt cx="876910" cy="311333"/>
                </a:xfrm>
              </p:grpSpPr>
              <p:grpSp>
                <p:nvGrpSpPr>
                  <p:cNvPr id="222" name="组合 221"/>
                  <p:cNvGrpSpPr/>
                  <p:nvPr/>
                </p:nvGrpSpPr>
                <p:grpSpPr>
                  <a:xfrm>
                    <a:off x="3486651" y="6158841"/>
                    <a:ext cx="311333" cy="311333"/>
                    <a:chOff x="5406654" y="2170430"/>
                    <a:chExt cx="1905000" cy="1905000"/>
                  </a:xfrm>
                </p:grpSpPr>
                <p:sp>
                  <p:nvSpPr>
                    <p:cNvPr id="229" name="圆角矩形 228"/>
                    <p:cNvSpPr/>
                    <p:nvPr/>
                  </p:nvSpPr>
                  <p:spPr>
                    <a:xfrm>
                      <a:off x="5738980" y="2652337"/>
                      <a:ext cx="1293531" cy="1060165"/>
                    </a:xfrm>
                    <a:prstGeom prst="roundRect">
                      <a:avLst>
                        <a:gd name="adj" fmla="val 26169"/>
                      </a:avLst>
                    </a:prstGeom>
                    <a:solidFill>
                      <a:srgbClr val="F9F1E7"/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30" name="图形 229"/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06654" y="2170430"/>
                      <a:ext cx="1905000" cy="1905000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23" name="组合 222"/>
                  <p:cNvGrpSpPr/>
                  <p:nvPr/>
                </p:nvGrpSpPr>
                <p:grpSpPr>
                  <a:xfrm>
                    <a:off x="3769440" y="6158841"/>
                    <a:ext cx="311333" cy="311333"/>
                    <a:chOff x="10743641" y="5089050"/>
                    <a:chExt cx="392511" cy="392511"/>
                  </a:xfrm>
                </p:grpSpPr>
                <p:sp>
                  <p:nvSpPr>
                    <p:cNvPr id="227" name="圆角矩形 226"/>
                    <p:cNvSpPr/>
                    <p:nvPr/>
                  </p:nvSpPr>
                  <p:spPr>
                    <a:xfrm>
                      <a:off x="10812114" y="5188343"/>
                      <a:ext cx="266522" cy="218439"/>
                    </a:xfrm>
                    <a:prstGeom prst="roundRect">
                      <a:avLst>
                        <a:gd name="adj" fmla="val 26169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28" name="图形 227"/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743641" y="5089050"/>
                      <a:ext cx="392511" cy="39251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24" name="组合 223"/>
                  <p:cNvGrpSpPr/>
                  <p:nvPr/>
                </p:nvGrpSpPr>
                <p:grpSpPr>
                  <a:xfrm>
                    <a:off x="4052228" y="6158841"/>
                    <a:ext cx="311333" cy="311333"/>
                    <a:chOff x="10743641" y="3923110"/>
                    <a:chExt cx="392511" cy="392511"/>
                  </a:xfrm>
                </p:grpSpPr>
                <p:sp>
                  <p:nvSpPr>
                    <p:cNvPr id="225" name="圆角矩形 224"/>
                    <p:cNvSpPr/>
                    <p:nvPr/>
                  </p:nvSpPr>
                  <p:spPr>
                    <a:xfrm>
                      <a:off x="10812114" y="4022403"/>
                      <a:ext cx="266522" cy="218439"/>
                    </a:xfrm>
                    <a:prstGeom prst="roundRect">
                      <a:avLst>
                        <a:gd name="adj" fmla="val 26169"/>
                      </a:avLst>
                    </a:prstGeom>
                    <a:solidFill>
                      <a:srgbClr val="DFECD4"/>
                    </a:solidFill>
                    <a:ln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pic>
                  <p:nvPicPr>
                    <p:cNvPr id="226" name="图形 225"/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743641" y="3923110"/>
                      <a:ext cx="392511" cy="392511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215" name="文本框 214"/>
                <p:cNvSpPr txBox="1"/>
                <p:nvPr/>
              </p:nvSpPr>
              <p:spPr>
                <a:xfrm>
                  <a:off x="4334444" y="6169845"/>
                  <a:ext cx="14634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/>
                    <a:t>LLM-based</a:t>
                  </a:r>
                  <a:r>
                    <a:rPr kumimoji="1" lang="zh-CN" altLang="en-US" sz="1200" dirty="0"/>
                    <a:t> </a:t>
                  </a:r>
                  <a:r>
                    <a:rPr kumimoji="1" lang="en-US" altLang="zh-CN" sz="1200" dirty="0"/>
                    <a:t>Agents</a:t>
                  </a:r>
                  <a:endParaRPr kumimoji="1" lang="zh-CN" altLang="en-US" sz="1200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6" name="圆角矩形 215"/>
                    <p:cNvSpPr/>
                    <p:nvPr/>
                  </p:nvSpPr>
                  <p:spPr>
                    <a:xfrm>
                      <a:off x="5878459" y="6197634"/>
                      <a:ext cx="331455" cy="221421"/>
                    </a:xfrm>
                    <a:prstGeom prst="roundRect">
                      <a:avLst/>
                    </a:prstGeom>
                    <a:solidFill>
                      <a:schemeClr val="tx2">
                        <a:lumMod val="10000"/>
                        <a:lumOff val="90000"/>
                        <a:alpha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oMath>
                        </m:oMathPara>
                      </a14:m>
                      <a:endParaRPr kumimoji="1" lang="zh-CN" altLang="en-US" sz="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6" name="圆角矩形 21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78459" y="6197634"/>
                      <a:ext cx="331455" cy="221421"/>
                    </a:xfrm>
                    <a:prstGeom prst="roundRect">
                      <a:avLst/>
                    </a:prstGeom>
                    <a:blipFill rotWithShape="1">
                      <a:blip r:embed="rId8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7" name="文本框 216"/>
                <p:cNvSpPr txBox="1"/>
                <p:nvPr/>
              </p:nvSpPr>
              <p:spPr>
                <a:xfrm>
                  <a:off x="6220448" y="6169845"/>
                  <a:ext cx="10631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/>
                    <a:t>Agent</a:t>
                  </a:r>
                  <a:r>
                    <a:rPr kumimoji="1" lang="zh-CN" altLang="en-US" sz="1200" dirty="0"/>
                    <a:t> </a:t>
                  </a:r>
                  <a:r>
                    <a:rPr kumimoji="1" lang="en-US" altLang="zh-CN" sz="1200" dirty="0"/>
                    <a:t>Profile</a:t>
                  </a:r>
                  <a:endParaRPr kumimoji="1" lang="zh-CN" altLang="en-US" sz="1200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8" name="圆角矩形 217"/>
                    <p:cNvSpPr/>
                    <p:nvPr/>
                  </p:nvSpPr>
                  <p:spPr>
                    <a:xfrm>
                      <a:off x="7364161" y="6197634"/>
                      <a:ext cx="331455" cy="221421"/>
                    </a:xfrm>
                    <a:prstGeom prst="roundRect">
                      <a:avLst/>
                    </a:prstGeom>
                    <a:solidFill>
                      <a:schemeClr val="accent2">
                        <a:lumMod val="20000"/>
                        <a:lumOff val="80000"/>
                        <a:alpha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8" name="圆角矩形 21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64161" y="6197634"/>
                      <a:ext cx="331455" cy="221421"/>
                    </a:xfrm>
                    <a:prstGeom prst="roundRect">
                      <a:avLst/>
                    </a:prstGeom>
                    <a:blipFill rotWithShape="1">
                      <a:blip r:embed="rId9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9" name="文本框 218"/>
                <p:cNvSpPr txBox="1"/>
                <p:nvPr/>
              </p:nvSpPr>
              <p:spPr>
                <a:xfrm>
                  <a:off x="7695616" y="6169845"/>
                  <a:ext cx="96968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/>
                    <a:t>Prior</a:t>
                  </a:r>
                  <a:r>
                    <a:rPr kumimoji="1" lang="zh-CN" altLang="en-US" sz="1200" dirty="0"/>
                    <a:t> </a:t>
                  </a:r>
                  <a:r>
                    <a:rPr kumimoji="1" lang="en-US" altLang="zh-CN" sz="1200" dirty="0"/>
                    <a:t>Action</a:t>
                  </a:r>
                  <a:endParaRPr kumimoji="1" lang="zh-CN" altLang="en-US" sz="1200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0" name="圆角矩形 219"/>
                    <p:cNvSpPr/>
                    <p:nvPr/>
                  </p:nvSpPr>
                  <p:spPr>
                    <a:xfrm>
                      <a:off x="8745907" y="6197634"/>
                      <a:ext cx="331455" cy="221421"/>
                    </a:xfrm>
                    <a:prstGeom prst="roundRect">
                      <a:avLst/>
                    </a:prstGeom>
                    <a:solidFill>
                      <a:schemeClr val="accent3">
                        <a:lumMod val="20000"/>
                        <a:lumOff val="80000"/>
                        <a:alpha val="6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20" name="圆角矩形 21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45907" y="6197634"/>
                      <a:ext cx="331455" cy="221421"/>
                    </a:xfrm>
                    <a:prstGeom prst="roundRect">
                      <a:avLst/>
                    </a:prstGeom>
                    <a:blipFill rotWithShape="1">
                      <a:blip r:embed="rId10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1" name="文本框 220"/>
                <p:cNvSpPr txBox="1"/>
                <p:nvPr/>
              </p:nvSpPr>
              <p:spPr>
                <a:xfrm>
                  <a:off x="9069968" y="6169845"/>
                  <a:ext cx="149752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/>
                    <a:t>Combined</a:t>
                  </a:r>
                  <a:r>
                    <a:rPr kumimoji="1" lang="zh-CN" altLang="en-US" sz="1200" dirty="0"/>
                    <a:t> </a:t>
                  </a:r>
                  <a:r>
                    <a:rPr kumimoji="1" lang="en-US" altLang="zh-CN" sz="1200" dirty="0"/>
                    <a:t>Prompts</a:t>
                  </a:r>
                  <a:endParaRPr kumimoji="1" lang="zh-CN" altLang="en-US" sz="1200" dirty="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4263390" y="2921635"/>
            <a:ext cx="3665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创新点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03880" y="5466647"/>
            <a:ext cx="10276113" cy="983504"/>
            <a:chOff x="340728" y="6063000"/>
            <a:chExt cx="2836029" cy="497561"/>
          </a:xfrm>
        </p:grpSpPr>
        <p:sp>
          <p:nvSpPr>
            <p:cNvPr id="3" name="矩形 2"/>
            <p:cNvSpPr/>
            <p:nvPr/>
          </p:nvSpPr>
          <p:spPr>
            <a:xfrm>
              <a:off x="340728" y="6194782"/>
              <a:ext cx="2836029" cy="365779"/>
            </a:xfrm>
            <a:prstGeom prst="rect">
              <a:avLst/>
            </a:prstGeom>
            <a:gradFill>
              <a:gsLst>
                <a:gs pos="0">
                  <a:srgbClr val="1F92EE">
                    <a:lumMod val="37000"/>
                    <a:lumOff val="63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>
              <a:off x="340728" y="6063000"/>
              <a:ext cx="2836029" cy="138404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203157" y="5765476"/>
            <a:ext cx="101305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构建高度拟真的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赛事世界模型，通过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建模技术与拟真体验设计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赛事的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真实场景与动态细节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20"/>
          <p:cNvSpPr txBox="1"/>
          <p:nvPr/>
        </p:nvSpPr>
        <p:spPr>
          <a:xfrm>
            <a:off x="1290465" y="211112"/>
            <a:ext cx="8453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世界建模：</a:t>
            </a:r>
            <a:r>
              <a:rPr lang="en-US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拟真沉浸式赛事世界构建 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3836" y="875267"/>
            <a:ext cx="11129818" cy="43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官方规则构建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高精度</a:t>
            </a:r>
            <a:r>
              <a:rPr lang="en-US" altLang="zh-CN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赛车世界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，实现物理引擎驱动的动态赛事细节与决策场景还原</a:t>
            </a:r>
            <a:endParaRPr lang="zh-CN" altLang="en-US" dirty="0">
              <a:solidFill>
                <a:srgbClr val="0E0E0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93930" y="1519396"/>
            <a:ext cx="9967502" cy="4129157"/>
            <a:chOff x="752863" y="1876468"/>
            <a:chExt cx="10991278" cy="491979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9794" b="89691" l="2099" r="96296">
                          <a14:foregroundMark x1="5556" y1="57474" x2="13580" y2="52577"/>
                          <a14:foregroundMark x1="3086" y1="59021" x2="2099" y2="60309"/>
                          <a14:foregroundMark x1="75185" y1="39175" x2="86667" y2="48196"/>
                          <a14:foregroundMark x1="86667" y1="48196" x2="93827" y2="46134"/>
                          <a14:foregroundMark x1="93827" y1="46134" x2="96296" y2="63144"/>
                          <a14:foregroundMark x1="96296" y1="63144" x2="89753" y2="8299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1395" y="2712210"/>
              <a:ext cx="8378356" cy="4013336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863" y="5201062"/>
              <a:ext cx="2067817" cy="11604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6324" y="1878719"/>
              <a:ext cx="2067817" cy="11641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829" y="1881597"/>
              <a:ext cx="2067817" cy="116125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8244" y="1876468"/>
              <a:ext cx="2067817" cy="116638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文本框 17"/>
            <p:cNvSpPr txBox="1"/>
            <p:nvPr/>
          </p:nvSpPr>
          <p:spPr>
            <a:xfrm>
              <a:off x="1012506" y="3042855"/>
              <a:ext cx="1476341" cy="44005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团队会议室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98929" y="3042855"/>
              <a:ext cx="1476341" cy="44005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媒体采访室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844794" y="3059668"/>
              <a:ext cx="1730882" cy="44005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赛道直角弯道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48605" y="6356214"/>
              <a:ext cx="1476341" cy="44005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赛道急转弯</a:t>
              </a:r>
              <a:endPara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箭头: 下 8"/>
          <p:cNvSpPr/>
          <p:nvPr/>
        </p:nvSpPr>
        <p:spPr>
          <a:xfrm rot="3600730">
            <a:off x="3485685" y="3842646"/>
            <a:ext cx="456451" cy="1530587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23" name="箭头: 下 8"/>
          <p:cNvSpPr/>
          <p:nvPr/>
        </p:nvSpPr>
        <p:spPr>
          <a:xfrm rot="8035139">
            <a:off x="3117801" y="2454167"/>
            <a:ext cx="456451" cy="1596930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24" name="箭头: 下 8"/>
          <p:cNvSpPr/>
          <p:nvPr/>
        </p:nvSpPr>
        <p:spPr>
          <a:xfrm rot="8531940">
            <a:off x="5070548" y="2511143"/>
            <a:ext cx="456451" cy="665751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  <p:sp>
        <p:nvSpPr>
          <p:cNvPr id="25" name="箭头: 下 8"/>
          <p:cNvSpPr/>
          <p:nvPr/>
        </p:nvSpPr>
        <p:spPr>
          <a:xfrm rot="12726316">
            <a:off x="9581820" y="2835152"/>
            <a:ext cx="456451" cy="1107807"/>
          </a:xfrm>
          <a:prstGeom prst="downArrow">
            <a:avLst/>
          </a:prstGeom>
          <a:gradFill flip="none" rotWithShape="1">
            <a:gsLst>
              <a:gs pos="0">
                <a:srgbClr val="1F92EE">
                  <a:lumMod val="60000"/>
                  <a:lumOff val="40000"/>
                </a:srgbClr>
              </a:gs>
              <a:gs pos="100000">
                <a:srgbClr val="1F92EE">
                  <a:lumMod val="60000"/>
                  <a:lumOff val="40000"/>
                  <a:alpha val="0"/>
                </a:srgbClr>
              </a:gs>
            </a:gsLst>
            <a:lin ang="16200000" scaled="1"/>
            <a:tileRect/>
          </a:gradFill>
          <a:ln w="12700" cap="flat" cmpd="sng" algn="ctr">
            <a:gradFill>
              <a:gsLst>
                <a:gs pos="0">
                  <a:srgbClr val="1F92EE">
                    <a:lumMod val="60000"/>
                    <a:lumOff val="40000"/>
                    <a:alpha val="0"/>
                  </a:srgbClr>
                </a:gs>
                <a:gs pos="100000">
                  <a:srgbClr val="1F92EE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03880" y="5466647"/>
            <a:ext cx="10276113" cy="983504"/>
            <a:chOff x="340728" y="6063000"/>
            <a:chExt cx="2836029" cy="497561"/>
          </a:xfrm>
        </p:grpSpPr>
        <p:sp>
          <p:nvSpPr>
            <p:cNvPr id="3" name="矩形 2"/>
            <p:cNvSpPr/>
            <p:nvPr/>
          </p:nvSpPr>
          <p:spPr>
            <a:xfrm>
              <a:off x="340728" y="6194782"/>
              <a:ext cx="2836029" cy="365779"/>
            </a:xfrm>
            <a:prstGeom prst="rect">
              <a:avLst/>
            </a:prstGeom>
            <a:gradFill>
              <a:gsLst>
                <a:gs pos="0">
                  <a:srgbClr val="1F92EE">
                    <a:lumMod val="37000"/>
                    <a:lumOff val="63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>
              <a:off x="340728" y="6063000"/>
              <a:ext cx="2836029" cy="138404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103880" y="5778469"/>
            <a:ext cx="10130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建立基于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服务器的真实数据联动赛道环境更新，使沙盒具备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真实世界模拟能力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20"/>
          <p:cNvSpPr txBox="1"/>
          <p:nvPr/>
        </p:nvSpPr>
        <p:spPr>
          <a:xfrm>
            <a:off x="1290465" y="211112"/>
            <a:ext cx="8453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数据注入：真实世界数据驱动的动态环境变更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9919" y="833603"/>
            <a:ext cx="11129818" cy="43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通过真实天气、赛道及车队数据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实时联动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，打造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动态演化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的孪生赛道环境，同步物理参数与赛事进程</a:t>
            </a:r>
            <a:endParaRPr lang="zh-CN" altLang="en-US" dirty="0">
              <a:solidFill>
                <a:srgbClr val="0E0E0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97255" y="1401259"/>
            <a:ext cx="11343837" cy="4065388"/>
            <a:chOff x="493667" y="2175830"/>
            <a:chExt cx="11343837" cy="4065388"/>
          </a:xfrm>
        </p:grpSpPr>
        <p:sp>
          <p:nvSpPr>
            <p:cNvPr id="9" name="矩形 8"/>
            <p:cNvSpPr/>
            <p:nvPr/>
          </p:nvSpPr>
          <p:spPr>
            <a:xfrm>
              <a:off x="2662177" y="2175830"/>
              <a:ext cx="7004029" cy="40653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en-US" altLang="zh-CN" b="1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MCP </a:t>
              </a:r>
              <a:r>
                <a:rPr kumimoji="1" lang="zh-CN" altLang="en-US" b="1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工作流</a:t>
              </a:r>
              <a:endParaRPr kumimoji="1" lang="zh-CN" altLang="en-US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74"/>
            <p:cNvSpPr/>
            <p:nvPr/>
          </p:nvSpPr>
          <p:spPr>
            <a:xfrm>
              <a:off x="9758218" y="2768878"/>
              <a:ext cx="2079286" cy="1644566"/>
            </a:xfrm>
            <a:prstGeom prst="roundRect">
              <a:avLst>
                <a:gd name="adj" fmla="val 1105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235015" y="2926315"/>
              <a:ext cx="1711409" cy="154792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Transfer</a:t>
              </a:r>
              <a:endPara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301707" y="2768878"/>
              <a:ext cx="1711409" cy="1834880"/>
              <a:chOff x="7301707" y="3106808"/>
              <a:chExt cx="1711409" cy="1834880"/>
            </a:xfrm>
          </p:grpSpPr>
          <p:sp>
            <p:nvSpPr>
              <p:cNvPr id="87" name="矩形 86"/>
              <p:cNvSpPr/>
              <p:nvPr/>
            </p:nvSpPr>
            <p:spPr>
              <a:xfrm>
                <a:off x="7301707" y="3106808"/>
                <a:ext cx="1711409" cy="183488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MCP</a:t>
                </a:r>
                <a:r>
                  <a:rPr kumimoji="1"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服务器</a:t>
                </a:r>
                <a:endParaRPr kumimoji="1"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8" name="图片 87"/>
              <p:cNvPicPr>
                <a:picLocks noChangeAspect="1"/>
              </p:cNvPicPr>
              <p:nvPr/>
            </p:nvPicPr>
            <p:blipFill rotWithShape="1"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1967" t="24923" r="26259" b="40519"/>
              <a:stretch>
                <a:fillRect/>
              </a:stretch>
            </p:blipFill>
            <p:spPr>
              <a:xfrm>
                <a:off x="7493042" y="3411990"/>
                <a:ext cx="1328737" cy="1400175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493667" y="2584564"/>
              <a:ext cx="1837765" cy="3158884"/>
              <a:chOff x="493667" y="2922494"/>
              <a:chExt cx="1837765" cy="3158884"/>
            </a:xfrm>
            <a:noFill/>
          </p:grpSpPr>
          <p:sp>
            <p:nvSpPr>
              <p:cNvPr id="77" name="矩形 4"/>
              <p:cNvSpPr/>
              <p:nvPr/>
            </p:nvSpPr>
            <p:spPr>
              <a:xfrm>
                <a:off x="493667" y="2922494"/>
                <a:ext cx="1837765" cy="3158884"/>
              </a:xfrm>
              <a:custGeom>
                <a:avLst/>
                <a:gdLst>
                  <a:gd name="connsiteX0" fmla="*/ 0 w 1837765"/>
                  <a:gd name="connsiteY0" fmla="*/ 0 h 3158884"/>
                  <a:gd name="connsiteX1" fmla="*/ 1837765 w 1837765"/>
                  <a:gd name="connsiteY1" fmla="*/ 0 h 3158884"/>
                  <a:gd name="connsiteX2" fmla="*/ 1837765 w 1837765"/>
                  <a:gd name="connsiteY2" fmla="*/ 3158884 h 3158884"/>
                  <a:gd name="connsiteX3" fmla="*/ 0 w 1837765"/>
                  <a:gd name="connsiteY3" fmla="*/ 3158884 h 3158884"/>
                  <a:gd name="connsiteX4" fmla="*/ 0 w 1837765"/>
                  <a:gd name="connsiteY4" fmla="*/ 0 h 3158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7765" h="3158884" fill="none" extrusionOk="0">
                    <a:moveTo>
                      <a:pt x="0" y="0"/>
                    </a:moveTo>
                    <a:cubicBezTo>
                      <a:pt x="340035" y="-139307"/>
                      <a:pt x="1572150" y="160945"/>
                      <a:pt x="1837765" y="0"/>
                    </a:cubicBezTo>
                    <a:cubicBezTo>
                      <a:pt x="1925404" y="395998"/>
                      <a:pt x="1765086" y="2097390"/>
                      <a:pt x="1837765" y="3158884"/>
                    </a:cubicBezTo>
                    <a:cubicBezTo>
                      <a:pt x="1115905" y="3095394"/>
                      <a:pt x="259513" y="3030393"/>
                      <a:pt x="0" y="3158884"/>
                    </a:cubicBezTo>
                    <a:cubicBezTo>
                      <a:pt x="-38581" y="2098827"/>
                      <a:pt x="63341" y="539914"/>
                      <a:pt x="0" y="0"/>
                    </a:cubicBezTo>
                    <a:close/>
                  </a:path>
                  <a:path w="1837765" h="3158884" stroke="0" extrusionOk="0">
                    <a:moveTo>
                      <a:pt x="0" y="0"/>
                    </a:moveTo>
                    <a:cubicBezTo>
                      <a:pt x="268787" y="145119"/>
                      <a:pt x="1487893" y="-81735"/>
                      <a:pt x="1837765" y="0"/>
                    </a:cubicBezTo>
                    <a:cubicBezTo>
                      <a:pt x="1704883" y="1089189"/>
                      <a:pt x="1922716" y="1859183"/>
                      <a:pt x="1837765" y="3158884"/>
                    </a:cubicBezTo>
                    <a:cubicBezTo>
                      <a:pt x="1394293" y="3209841"/>
                      <a:pt x="682588" y="3306996"/>
                      <a:pt x="0" y="3158884"/>
                    </a:cubicBezTo>
                    <a:cubicBezTo>
                      <a:pt x="-20187" y="2558020"/>
                      <a:pt x="-152480" y="885739"/>
                      <a:pt x="0" y="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kumimoji="1" lang="zh-CN" altLang="en-US" sz="1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数据采集</a:t>
                </a:r>
                <a:endParaRPr kumimoji="1"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8" name="组合 77"/>
              <p:cNvGrpSpPr/>
              <p:nvPr/>
            </p:nvGrpSpPr>
            <p:grpSpPr>
              <a:xfrm>
                <a:off x="871382" y="3364423"/>
                <a:ext cx="1082348" cy="883184"/>
                <a:chOff x="871382" y="3173509"/>
                <a:chExt cx="1082348" cy="883184"/>
              </a:xfrm>
              <a:grpFill/>
            </p:grpSpPr>
            <p:pic>
              <p:nvPicPr>
                <p:cNvPr id="85" name="图片 84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3834" y="3173509"/>
                  <a:ext cx="577431" cy="577431"/>
                </a:xfrm>
                <a:prstGeom prst="rect">
                  <a:avLst/>
                </a:prstGeom>
                <a:grpFill/>
              </p:spPr>
            </p:pic>
            <p:sp>
              <p:nvSpPr>
                <p:cNvPr id="86" name="文本框 85"/>
                <p:cNvSpPr txBox="1"/>
                <p:nvPr/>
              </p:nvSpPr>
              <p:spPr>
                <a:xfrm>
                  <a:off x="871382" y="3748916"/>
                  <a:ext cx="1082348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天气传感器</a:t>
                  </a:r>
                  <a:endParaRPr kumimoji="1"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871381" y="4324782"/>
                <a:ext cx="1082348" cy="616906"/>
                <a:chOff x="871381" y="4324782"/>
                <a:chExt cx="1082348" cy="616906"/>
              </a:xfrm>
              <a:grpFill/>
            </p:grpSpPr>
            <p:pic>
              <p:nvPicPr>
                <p:cNvPr id="83" name="图片 82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8405" y="4324782"/>
                  <a:ext cx="788289" cy="315159"/>
                </a:xfrm>
                <a:prstGeom prst="rect">
                  <a:avLst/>
                </a:prstGeom>
                <a:grpFill/>
              </p:spPr>
            </p:pic>
            <p:sp>
              <p:nvSpPr>
                <p:cNvPr id="84" name="文本框 83"/>
                <p:cNvSpPr txBox="1"/>
                <p:nvPr/>
              </p:nvSpPr>
              <p:spPr>
                <a:xfrm>
                  <a:off x="871381" y="4633911"/>
                  <a:ext cx="1082348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跟踪传感器</a:t>
                  </a:r>
                  <a:endParaRPr kumimoji="1"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961152" y="4949070"/>
                <a:ext cx="902811" cy="966896"/>
                <a:chOff x="961152" y="5053994"/>
                <a:chExt cx="902811" cy="966896"/>
              </a:xfrm>
              <a:grpFill/>
            </p:grpSpPr>
            <p:pic>
              <p:nvPicPr>
                <p:cNvPr id="81" name="图片 80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colorTemperature colorTemp="112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8121" y="5053994"/>
                  <a:ext cx="688857" cy="633748"/>
                </a:xfrm>
                <a:prstGeom prst="rect">
                  <a:avLst/>
                </a:prstGeom>
                <a:grpFill/>
              </p:spPr>
            </p:pic>
            <p:sp>
              <p:nvSpPr>
                <p:cNvPr id="82" name="文本框 81"/>
                <p:cNvSpPr txBox="1"/>
                <p:nvPr/>
              </p:nvSpPr>
              <p:spPr>
                <a:xfrm>
                  <a:off x="961152" y="5713113"/>
                  <a:ext cx="902811" cy="307777"/>
                </a:xfrm>
                <a:prstGeom prst="rect">
                  <a:avLst/>
                </a:prstGeom>
                <a:grp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zh-CN" altLang="en-US" sz="14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车辆参数</a:t>
                  </a:r>
                  <a:endParaRPr kumimoji="1" lang="zh-CN" altLang="en-US" sz="14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3168322" y="2768878"/>
              <a:ext cx="1711409" cy="1834880"/>
              <a:chOff x="3168322" y="3106808"/>
              <a:chExt cx="1711409" cy="1834880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3168322" y="3106808"/>
                <a:ext cx="1711409" cy="183488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MCP</a:t>
                </a:r>
                <a:r>
                  <a:rPr kumimoji="1"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主机</a:t>
                </a:r>
                <a:endParaRPr kumimoji="1"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kumimoji="1" lang="en-US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(AI</a:t>
                </a:r>
                <a:r>
                  <a: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Agents)</a:t>
                </a:r>
                <a:endParaRPr kumimoji="1"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3290930" y="3870434"/>
                <a:ext cx="1466193" cy="94173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kumimoji="1"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MCP</a:t>
                </a:r>
                <a:r>
                  <a:rPr kumimoji="1"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客户端</a:t>
                </a:r>
                <a:endParaRPr kumimoji="1"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6" name="图片 75"/>
              <p:cNvPicPr>
                <a:picLocks noChangeAspect="1"/>
              </p:cNvPicPr>
              <p:nvPr/>
            </p:nvPicPr>
            <p:blipFill rotWithShape="1"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6013" t="43965" r="62213" b="42756"/>
              <a:stretch>
                <a:fillRect/>
              </a:stretch>
            </p:blipFill>
            <p:spPr>
              <a:xfrm>
                <a:off x="3359658" y="4213348"/>
                <a:ext cx="1328737" cy="538026"/>
              </a:xfrm>
              <a:prstGeom prst="rect">
                <a:avLst/>
              </a:prstGeom>
            </p:spPr>
          </p:pic>
        </p:grpSp>
        <p:grpSp>
          <p:nvGrpSpPr>
            <p:cNvPr id="15" name="组合 14"/>
            <p:cNvGrpSpPr/>
            <p:nvPr/>
          </p:nvGrpSpPr>
          <p:grpSpPr>
            <a:xfrm>
              <a:off x="4937208" y="3218758"/>
              <a:ext cx="2307022" cy="935120"/>
              <a:chOff x="4942490" y="3512854"/>
              <a:chExt cx="2307022" cy="935120"/>
            </a:xfrm>
          </p:grpSpPr>
          <p:sp>
            <p:nvSpPr>
              <p:cNvPr id="65" name="圆角矩形 21"/>
              <p:cNvSpPr/>
              <p:nvPr/>
            </p:nvSpPr>
            <p:spPr>
              <a:xfrm>
                <a:off x="4942490" y="3512854"/>
                <a:ext cx="244365" cy="935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客户端</a:t>
                </a:r>
                <a:endParaRPr kumimoji="1"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圆角矩形 26"/>
              <p:cNvSpPr/>
              <p:nvPr/>
            </p:nvSpPr>
            <p:spPr>
              <a:xfrm>
                <a:off x="7005147" y="3512854"/>
                <a:ext cx="244365" cy="9351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服务端</a:t>
                </a:r>
                <a:endParaRPr kumimoji="1"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7" name="组合 66"/>
              <p:cNvGrpSpPr/>
              <p:nvPr/>
            </p:nvGrpSpPr>
            <p:grpSpPr>
              <a:xfrm>
                <a:off x="5167531" y="3561555"/>
                <a:ext cx="1838335" cy="837718"/>
                <a:chOff x="5167531" y="3478467"/>
                <a:chExt cx="1838335" cy="837718"/>
              </a:xfrm>
            </p:grpSpPr>
            <p:cxnSp>
              <p:nvCxnSpPr>
                <p:cNvPr id="68" name="直线箭头连接符 25"/>
                <p:cNvCxnSpPr/>
                <p:nvPr/>
              </p:nvCxnSpPr>
              <p:spPr>
                <a:xfrm flipV="1">
                  <a:off x="5187574" y="3754366"/>
                  <a:ext cx="1818292" cy="4074"/>
                </a:xfrm>
                <a:prstGeom prst="straightConnector1">
                  <a:avLst/>
                </a:prstGeom>
                <a:ln w="9525">
                  <a:solidFill>
                    <a:schemeClr val="bg2">
                      <a:lumMod val="10000"/>
                    </a:schemeClr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线箭头连接符 29"/>
                <p:cNvCxnSpPr/>
                <p:nvPr/>
              </p:nvCxnSpPr>
              <p:spPr>
                <a:xfrm flipV="1">
                  <a:off x="5187574" y="4033239"/>
                  <a:ext cx="1818292" cy="4074"/>
                </a:xfrm>
                <a:prstGeom prst="straightConnector1">
                  <a:avLst/>
                </a:prstGeom>
                <a:ln w="9525">
                  <a:solidFill>
                    <a:schemeClr val="bg2">
                      <a:lumMod val="10000"/>
                    </a:schemeClr>
                  </a:solidFill>
                  <a:prstDash val="dash"/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线箭头连接符 30"/>
                <p:cNvCxnSpPr/>
                <p:nvPr/>
              </p:nvCxnSpPr>
              <p:spPr>
                <a:xfrm flipV="1">
                  <a:off x="5187574" y="4312111"/>
                  <a:ext cx="1818292" cy="4074"/>
                </a:xfrm>
                <a:prstGeom prst="straightConnector1">
                  <a:avLst/>
                </a:prstGeom>
                <a:ln w="9525">
                  <a:solidFill>
                    <a:schemeClr val="bg2">
                      <a:lumMod val="10000"/>
                    </a:schemeClr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文本框 70"/>
                <p:cNvSpPr txBox="1"/>
                <p:nvPr/>
              </p:nvSpPr>
              <p:spPr>
                <a:xfrm>
                  <a:off x="5167531" y="3478467"/>
                  <a:ext cx="9989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①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增量触发</a:t>
                  </a:r>
                  <a:endParaRPr kumimoji="1"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2" name="文本框 71"/>
                <p:cNvSpPr txBox="1"/>
                <p:nvPr/>
              </p:nvSpPr>
              <p:spPr>
                <a:xfrm>
                  <a:off x="5167531" y="3757340"/>
                  <a:ext cx="99899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②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数据处理</a:t>
                  </a:r>
                  <a:endParaRPr kumimoji="1"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" name="文本框 72"/>
                <p:cNvSpPr txBox="1"/>
                <p:nvPr/>
              </p:nvSpPr>
              <p:spPr>
                <a:xfrm>
                  <a:off x="5167531" y="4036213"/>
                  <a:ext cx="10386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CN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③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状态反馈</a:t>
                  </a:r>
                  <a:endParaRPr kumimoji="1"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6" name="组合 15"/>
            <p:cNvGrpSpPr/>
            <p:nvPr/>
          </p:nvGrpSpPr>
          <p:grpSpPr>
            <a:xfrm>
              <a:off x="4134263" y="5024437"/>
              <a:ext cx="745468" cy="599090"/>
              <a:chOff x="4937208" y="5325851"/>
              <a:chExt cx="745468" cy="599090"/>
            </a:xfrm>
          </p:grpSpPr>
          <p:sp>
            <p:nvSpPr>
              <p:cNvPr id="63" name="圆角矩形 40"/>
              <p:cNvSpPr/>
              <p:nvPr/>
            </p:nvSpPr>
            <p:spPr>
              <a:xfrm>
                <a:off x="4937208" y="5325851"/>
                <a:ext cx="745468" cy="59909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47176" y="5395811"/>
                <a:ext cx="525532" cy="459841"/>
              </a:xfrm>
              <a:prstGeom prst="rect">
                <a:avLst/>
              </a:prstGeom>
            </p:spPr>
          </p:pic>
        </p:grpSp>
        <p:grpSp>
          <p:nvGrpSpPr>
            <p:cNvPr id="17" name="组合 16"/>
            <p:cNvGrpSpPr/>
            <p:nvPr/>
          </p:nvGrpSpPr>
          <p:grpSpPr>
            <a:xfrm>
              <a:off x="3165169" y="5024437"/>
              <a:ext cx="745468" cy="599090"/>
              <a:chOff x="2293336" y="5361100"/>
              <a:chExt cx="745468" cy="599090"/>
            </a:xfrm>
          </p:grpSpPr>
          <p:sp>
            <p:nvSpPr>
              <p:cNvPr id="61" name="圆角矩形 38"/>
              <p:cNvSpPr/>
              <p:nvPr/>
            </p:nvSpPr>
            <p:spPr>
              <a:xfrm>
                <a:off x="2293336" y="5361100"/>
                <a:ext cx="745468" cy="59909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6639" y="5435594"/>
                <a:ext cx="498862" cy="450101"/>
              </a:xfrm>
              <a:prstGeom prst="rect">
                <a:avLst/>
              </a:prstGeom>
            </p:spPr>
          </p:pic>
        </p:grpSp>
        <p:grpSp>
          <p:nvGrpSpPr>
            <p:cNvPr id="18" name="组合 17"/>
            <p:cNvGrpSpPr/>
            <p:nvPr/>
          </p:nvGrpSpPr>
          <p:grpSpPr>
            <a:xfrm>
              <a:off x="6838647" y="5024437"/>
              <a:ext cx="748925" cy="896598"/>
              <a:chOff x="6838647" y="5362367"/>
              <a:chExt cx="748925" cy="896598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6838647" y="5362367"/>
                <a:ext cx="745468" cy="599090"/>
                <a:chOff x="5871627" y="5316876"/>
                <a:chExt cx="745468" cy="599090"/>
              </a:xfrm>
            </p:grpSpPr>
            <p:sp>
              <p:nvSpPr>
                <p:cNvPr id="59" name="圆角矩形 46"/>
                <p:cNvSpPr/>
                <p:nvPr/>
              </p:nvSpPr>
              <p:spPr>
                <a:xfrm>
                  <a:off x="5871627" y="5316876"/>
                  <a:ext cx="745468" cy="59909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60" name="图片 59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87247" y="5379890"/>
                  <a:ext cx="514227" cy="456598"/>
                </a:xfrm>
                <a:prstGeom prst="rect">
                  <a:avLst/>
                </a:prstGeom>
              </p:spPr>
            </p:pic>
          </p:grpSp>
          <p:sp>
            <p:nvSpPr>
              <p:cNvPr id="58" name="文本框 57"/>
              <p:cNvSpPr txBox="1"/>
              <p:nvPr/>
            </p:nvSpPr>
            <p:spPr>
              <a:xfrm>
                <a:off x="6838649" y="5997355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指令约束</a:t>
                </a:r>
                <a:endParaRPr kumimoji="1"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7782951" y="5024437"/>
              <a:ext cx="748923" cy="896598"/>
              <a:chOff x="7772146" y="5362367"/>
              <a:chExt cx="748923" cy="896598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7775600" y="5362367"/>
                <a:ext cx="745468" cy="599090"/>
                <a:chOff x="6837568" y="5222792"/>
                <a:chExt cx="745468" cy="599090"/>
              </a:xfrm>
            </p:grpSpPr>
            <p:sp>
              <p:nvSpPr>
                <p:cNvPr id="55" name="圆角矩形 51"/>
                <p:cNvSpPr/>
                <p:nvPr/>
              </p:nvSpPr>
              <p:spPr>
                <a:xfrm>
                  <a:off x="6837568" y="5222792"/>
                  <a:ext cx="745468" cy="59909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56" name="图片 55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77570" y="5274448"/>
                  <a:ext cx="465464" cy="487629"/>
                </a:xfrm>
                <a:prstGeom prst="rect">
                  <a:avLst/>
                </a:prstGeom>
              </p:spPr>
            </p:pic>
          </p:grpSp>
          <p:sp>
            <p:nvSpPr>
              <p:cNvPr id="54" name="文本框 53"/>
              <p:cNvSpPr txBox="1"/>
              <p:nvPr/>
            </p:nvSpPr>
            <p:spPr>
              <a:xfrm>
                <a:off x="7772146" y="5997355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资源更新</a:t>
                </a:r>
                <a:endParaRPr kumimoji="1"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8712552" y="5024437"/>
              <a:ext cx="780766" cy="896598"/>
              <a:chOff x="8712552" y="5362367"/>
              <a:chExt cx="780766" cy="896598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8712552" y="5362367"/>
                <a:ext cx="745468" cy="599090"/>
                <a:chOff x="6024027" y="5469276"/>
                <a:chExt cx="745468" cy="599090"/>
              </a:xfrm>
            </p:grpSpPr>
            <p:sp>
              <p:nvSpPr>
                <p:cNvPr id="51" name="圆角矩形 52"/>
                <p:cNvSpPr/>
                <p:nvPr/>
              </p:nvSpPr>
              <p:spPr>
                <a:xfrm>
                  <a:off x="6024027" y="5469276"/>
                  <a:ext cx="745468" cy="59909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52" name="图片 51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43559" y="5539642"/>
                  <a:ext cx="506403" cy="465710"/>
                </a:xfrm>
                <a:prstGeom prst="rect">
                  <a:avLst/>
                </a:prstGeom>
              </p:spPr>
            </p:pic>
          </p:grpSp>
          <p:sp>
            <p:nvSpPr>
              <p:cNvPr id="50" name="文本框 49"/>
              <p:cNvSpPr txBox="1"/>
              <p:nvPr/>
            </p:nvSpPr>
            <p:spPr>
              <a:xfrm>
                <a:off x="8744395" y="5997355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1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工具调用</a:t>
                </a:r>
                <a:endParaRPr kumimoji="1"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4132538" y="5648224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数据采样</a:t>
              </a:r>
              <a:endPara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163442" y="5659425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变更触发</a:t>
              </a:r>
              <a:endPara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9958108" y="2986714"/>
              <a:ext cx="1688947" cy="1208894"/>
              <a:chOff x="9946037" y="3329557"/>
              <a:chExt cx="1688947" cy="1208894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9946038" y="4211727"/>
                <a:ext cx="1688945" cy="326724"/>
                <a:chOff x="10250837" y="3160363"/>
                <a:chExt cx="1688945" cy="326724"/>
              </a:xfrm>
            </p:grpSpPr>
            <p:sp>
              <p:nvSpPr>
                <p:cNvPr id="47" name="圆角矩形 69"/>
                <p:cNvSpPr/>
                <p:nvPr/>
              </p:nvSpPr>
              <p:spPr>
                <a:xfrm>
                  <a:off x="10250837" y="3160363"/>
                  <a:ext cx="1688945" cy="32672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0000" rtlCol="0" anchor="ctr"/>
                <a:lstStyle/>
                <a:p>
                  <a:r>
                    <a:rPr kumimoji="1" lang="zh-CN" altLang="en-US" sz="1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本地文件</a:t>
                  </a:r>
                  <a:endPara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48" name="图片 47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09486" y="3198082"/>
                  <a:ext cx="307912" cy="251285"/>
                </a:xfrm>
                <a:prstGeom prst="rect">
                  <a:avLst/>
                </a:prstGeom>
              </p:spPr>
            </p:pic>
          </p:grpSp>
          <p:grpSp>
            <p:nvGrpSpPr>
              <p:cNvPr id="41" name="组合 40"/>
              <p:cNvGrpSpPr/>
              <p:nvPr/>
            </p:nvGrpSpPr>
            <p:grpSpPr>
              <a:xfrm>
                <a:off x="9946039" y="3770642"/>
                <a:ext cx="1688945" cy="326724"/>
                <a:chOff x="10098437" y="3007963"/>
                <a:chExt cx="1688945" cy="326724"/>
              </a:xfrm>
            </p:grpSpPr>
            <p:sp>
              <p:nvSpPr>
                <p:cNvPr id="45" name="圆角矩形 68"/>
                <p:cNvSpPr/>
                <p:nvPr/>
              </p:nvSpPr>
              <p:spPr>
                <a:xfrm>
                  <a:off x="10098437" y="3007963"/>
                  <a:ext cx="1688945" cy="32672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0000" rtlCol="0" anchor="ctr"/>
                <a:lstStyle/>
                <a:p>
                  <a:r>
                    <a:rPr kumimoji="1" lang="zh-CN" altLang="en-US" sz="1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数据库</a:t>
                  </a:r>
                  <a:endPara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46" name="图片 45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73226" y="3029195"/>
                  <a:ext cx="272520" cy="261902"/>
                </a:xfrm>
                <a:prstGeom prst="rect">
                  <a:avLst/>
                </a:prstGeom>
              </p:spPr>
            </p:pic>
          </p:grpSp>
          <p:grpSp>
            <p:nvGrpSpPr>
              <p:cNvPr id="42" name="组合 41"/>
              <p:cNvGrpSpPr/>
              <p:nvPr/>
            </p:nvGrpSpPr>
            <p:grpSpPr>
              <a:xfrm>
                <a:off x="9946037" y="3329557"/>
                <a:ext cx="1688945" cy="326724"/>
                <a:chOff x="10098435" y="2576578"/>
                <a:chExt cx="1688945" cy="326724"/>
              </a:xfrm>
            </p:grpSpPr>
            <p:sp>
              <p:nvSpPr>
                <p:cNvPr id="43" name="圆角矩形 66"/>
                <p:cNvSpPr/>
                <p:nvPr/>
              </p:nvSpPr>
              <p:spPr>
                <a:xfrm>
                  <a:off x="10098435" y="2576578"/>
                  <a:ext cx="1688945" cy="32672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0000" rIns="0" rtlCol="0" anchor="ctr"/>
                <a:lstStyle/>
                <a:p>
                  <a:r>
                    <a:rPr kumimoji="1" lang="zh-CN" altLang="en-US" sz="1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网络资源</a:t>
                  </a:r>
                  <a:endParaRPr kumimoji="1" lang="zh-CN" altLang="en-US" sz="1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44" name="图片 43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73226" y="2605903"/>
                  <a:ext cx="279598" cy="26898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24" name="肘形连接符 78"/>
            <p:cNvCxnSpPr/>
            <p:nvPr/>
          </p:nvCxnSpPr>
          <p:spPr>
            <a:xfrm rot="5400000">
              <a:off x="7396238" y="4341082"/>
              <a:ext cx="420679" cy="946031"/>
            </a:xfrm>
            <a:prstGeom prst="bentConnector3">
              <a:avLst/>
            </a:prstGeom>
            <a:ln w="127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连接符 79"/>
            <p:cNvCxnSpPr/>
            <p:nvPr/>
          </p:nvCxnSpPr>
          <p:spPr>
            <a:xfrm rot="16200000" flipH="1">
              <a:off x="8456405" y="4350160"/>
              <a:ext cx="420679" cy="9278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83"/>
            <p:cNvCxnSpPr>
              <a:stCxn id="87" idx="2"/>
              <a:endCxn id="55" idx="0"/>
            </p:cNvCxnSpPr>
            <p:nvPr/>
          </p:nvCxnSpPr>
          <p:spPr>
            <a:xfrm>
              <a:off x="8157412" y="4603758"/>
              <a:ext cx="1727" cy="420679"/>
            </a:xfrm>
            <a:prstGeom prst="straightConnector1">
              <a:avLst/>
            </a:prstGeom>
            <a:ln w="127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8190614" y="455063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能力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004014" y="4550638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编排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9" name="肘形连接符 87"/>
            <p:cNvCxnSpPr/>
            <p:nvPr/>
          </p:nvCxnSpPr>
          <p:spPr>
            <a:xfrm rot="5400000">
              <a:off x="3533293" y="4572612"/>
              <a:ext cx="420679" cy="48297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肘形连接符 91"/>
            <p:cNvCxnSpPr/>
            <p:nvPr/>
          </p:nvCxnSpPr>
          <p:spPr>
            <a:xfrm rot="16200000" flipH="1">
              <a:off x="4094083" y="4572612"/>
              <a:ext cx="420679" cy="48297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组合 30"/>
            <p:cNvGrpSpPr/>
            <p:nvPr/>
          </p:nvGrpSpPr>
          <p:grpSpPr>
            <a:xfrm>
              <a:off x="9013116" y="3109978"/>
              <a:ext cx="745102" cy="380610"/>
              <a:chOff x="9013116" y="3591162"/>
              <a:chExt cx="745102" cy="380610"/>
            </a:xfrm>
          </p:grpSpPr>
          <p:cxnSp>
            <p:nvCxnSpPr>
              <p:cNvPr id="38" name="直线箭头连接符 94"/>
              <p:cNvCxnSpPr>
                <a:stCxn id="10" idx="1"/>
              </p:cNvCxnSpPr>
              <p:nvPr/>
            </p:nvCxnSpPr>
            <p:spPr>
              <a:xfrm flipH="1" flipV="1">
                <a:off x="9013116" y="3591162"/>
                <a:ext cx="745102" cy="246864"/>
              </a:xfrm>
              <a:prstGeom prst="straightConnector1">
                <a:avLst/>
              </a:prstGeom>
              <a:ln w="12700">
                <a:solidFill>
                  <a:schemeClr val="bg2">
                    <a:lumMod val="1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文本框 38"/>
              <p:cNvSpPr txBox="1"/>
              <p:nvPr/>
            </p:nvSpPr>
            <p:spPr>
              <a:xfrm>
                <a:off x="9019875" y="3694773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  <a:endPara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32" name="曲线连接符 104"/>
            <p:cNvCxnSpPr>
              <a:endCxn id="75" idx="1"/>
            </p:cNvCxnSpPr>
            <p:nvPr/>
          </p:nvCxnSpPr>
          <p:spPr>
            <a:xfrm>
              <a:off x="2384155" y="3386977"/>
              <a:ext cx="906775" cy="616393"/>
            </a:xfrm>
            <a:prstGeom prst="curvedConnector3">
              <a:avLst/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曲线连接符 106"/>
            <p:cNvCxnSpPr/>
            <p:nvPr/>
          </p:nvCxnSpPr>
          <p:spPr>
            <a:xfrm>
              <a:off x="4752305" y="4313377"/>
              <a:ext cx="2540846" cy="181139"/>
            </a:xfrm>
            <a:prstGeom prst="curvedConnector3">
              <a:avLst>
                <a:gd name="adj1" fmla="val 48633"/>
              </a:avLst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曲线连接符 110"/>
            <p:cNvCxnSpPr>
              <a:endCxn id="10" idx="2"/>
            </p:cNvCxnSpPr>
            <p:nvPr/>
          </p:nvCxnSpPr>
          <p:spPr>
            <a:xfrm>
              <a:off x="9013116" y="4257254"/>
              <a:ext cx="1784745" cy="156190"/>
            </a:xfrm>
            <a:prstGeom prst="curvedConnector4">
              <a:avLst>
                <a:gd name="adj1" fmla="val 20874"/>
                <a:gd name="adj2" fmla="val 246360"/>
              </a:avLst>
            </a:prstGeom>
            <a:ln w="19050">
              <a:solidFill>
                <a:schemeClr val="accent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圆角矩形 113"/>
            <p:cNvSpPr/>
            <p:nvPr/>
          </p:nvSpPr>
          <p:spPr>
            <a:xfrm>
              <a:off x="2326678" y="3520210"/>
              <a:ext cx="836377" cy="44349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</a:t>
              </a:r>
              <a:endPara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圆角矩形 114"/>
            <p:cNvSpPr/>
            <p:nvPr/>
          </p:nvSpPr>
          <p:spPr>
            <a:xfrm>
              <a:off x="5489164" y="4284771"/>
              <a:ext cx="1023794" cy="443494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工具选择</a:t>
              </a:r>
              <a:endPara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圆角矩形 115"/>
            <p:cNvSpPr/>
            <p:nvPr/>
          </p:nvSpPr>
          <p:spPr>
            <a:xfrm>
              <a:off x="9643109" y="4469587"/>
              <a:ext cx="1023794" cy="38601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endPara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03880" y="5466647"/>
            <a:ext cx="10276113" cy="983504"/>
            <a:chOff x="340728" y="6063000"/>
            <a:chExt cx="2836029" cy="497561"/>
          </a:xfrm>
        </p:grpSpPr>
        <p:sp>
          <p:nvSpPr>
            <p:cNvPr id="3" name="矩形 2"/>
            <p:cNvSpPr/>
            <p:nvPr/>
          </p:nvSpPr>
          <p:spPr>
            <a:xfrm>
              <a:off x="340728" y="6194782"/>
              <a:ext cx="2836029" cy="365779"/>
            </a:xfrm>
            <a:prstGeom prst="rect">
              <a:avLst/>
            </a:prstGeom>
            <a:gradFill>
              <a:gsLst>
                <a:gs pos="0">
                  <a:srgbClr val="1F92EE">
                    <a:lumMod val="37000"/>
                    <a:lumOff val="63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>
              <a:off x="340728" y="6063000"/>
              <a:ext cx="2836029" cy="138404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203157" y="5765476"/>
            <a:ext cx="10130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通过历史事件数据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实时环境数据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经验规则三维推演视图构建多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动态博弈系统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策略冲突的认知演化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20"/>
          <p:cNvSpPr txBox="1"/>
          <p:nvPr/>
        </p:nvSpPr>
        <p:spPr>
          <a:xfrm>
            <a:off x="1290465" y="211112"/>
            <a:ext cx="8453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模拟推演：基于三维推演视图的多</a:t>
            </a:r>
            <a:r>
              <a:rPr lang="en-US" altLang="zh-CN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博弈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0004" y="798045"/>
            <a:ext cx="11129818" cy="43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融合历史事件、实时数据与经验规则进行推演，支持多角色博弈策略的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动态演化与冲突智能调解</a:t>
            </a:r>
            <a:endParaRPr lang="zh-CN" altLang="en-US" dirty="0">
              <a:solidFill>
                <a:srgbClr val="0E0E0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92605" y="1313400"/>
            <a:ext cx="10095515" cy="4250163"/>
            <a:chOff x="1337211" y="2131061"/>
            <a:chExt cx="9517578" cy="4562061"/>
          </a:xfrm>
        </p:grpSpPr>
        <p:sp>
          <p:nvSpPr>
            <p:cNvPr id="9" name="圆角矩形 149"/>
            <p:cNvSpPr/>
            <p:nvPr/>
          </p:nvSpPr>
          <p:spPr>
            <a:xfrm>
              <a:off x="1337211" y="2131061"/>
              <a:ext cx="8108434" cy="4562061"/>
            </a:xfrm>
            <a:prstGeom prst="roundRect">
              <a:avLst>
                <a:gd name="adj" fmla="val 9042"/>
              </a:avLst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5076567" y="3816939"/>
              <a:ext cx="1187653" cy="1187653"/>
              <a:chOff x="5390178" y="2022146"/>
              <a:chExt cx="1905000" cy="1905000"/>
            </a:xfrm>
          </p:grpSpPr>
          <p:sp>
            <p:nvSpPr>
              <p:cNvPr id="103" name="圆角矩形 7"/>
              <p:cNvSpPr/>
              <p:nvPr/>
            </p:nvSpPr>
            <p:spPr>
              <a:xfrm>
                <a:off x="5722504" y="2504053"/>
                <a:ext cx="1293531" cy="1060165"/>
              </a:xfrm>
              <a:prstGeom prst="roundRect">
                <a:avLst>
                  <a:gd name="adj" fmla="val 26169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4" name="图形 103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390178" y="2022146"/>
                <a:ext cx="1905000" cy="1905000"/>
              </a:xfrm>
              <a:prstGeom prst="rect">
                <a:avLst/>
              </a:prstGeom>
            </p:spPr>
          </p:pic>
        </p:grpSp>
        <p:cxnSp>
          <p:nvCxnSpPr>
            <p:cNvPr id="11" name="曲线连接符 9"/>
            <p:cNvCxnSpPr>
              <a:endCxn id="12" idx="1"/>
            </p:cNvCxnSpPr>
            <p:nvPr/>
          </p:nvCxnSpPr>
          <p:spPr>
            <a:xfrm rot="5400000" flipH="1" flipV="1">
              <a:off x="2954160" y="2346622"/>
              <a:ext cx="965559" cy="2523866"/>
            </a:xfrm>
            <a:prstGeom prst="curvedConnector2">
              <a:avLst/>
            </a:prstGeom>
            <a:ln w="76200">
              <a:solidFill>
                <a:schemeClr val="tx1">
                  <a:alpha val="25594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圆角矩形 10"/>
            <p:cNvSpPr/>
            <p:nvPr/>
          </p:nvSpPr>
          <p:spPr>
            <a:xfrm>
              <a:off x="4698872" y="2435353"/>
              <a:ext cx="1963587" cy="1380845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noFill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5955972" y="2868397"/>
              <a:ext cx="605984" cy="545182"/>
              <a:chOff x="6800747" y="30740"/>
              <a:chExt cx="972000" cy="874474"/>
            </a:xfrm>
          </p:grpSpPr>
          <p:sp>
            <p:nvSpPr>
              <p:cNvPr id="80" name="双中括号 12"/>
              <p:cNvSpPr/>
              <p:nvPr/>
            </p:nvSpPr>
            <p:spPr>
              <a:xfrm>
                <a:off x="6800747" y="30740"/>
                <a:ext cx="972000" cy="874474"/>
              </a:xfrm>
              <a:prstGeom prst="bracketPair">
                <a:avLst>
                  <a:gd name="adj" fmla="val 8825"/>
                </a:avLst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>
                <a:off x="6857180" y="109981"/>
                <a:ext cx="622298" cy="166160"/>
                <a:chOff x="6832468" y="4952"/>
                <a:chExt cx="622298" cy="166160"/>
              </a:xfrm>
            </p:grpSpPr>
            <p:sp>
              <p:nvSpPr>
                <p:cNvPr id="97" name="矩形 96"/>
                <p:cNvSpPr/>
                <p:nvPr/>
              </p:nvSpPr>
              <p:spPr>
                <a:xfrm>
                  <a:off x="6832468" y="4952"/>
                  <a:ext cx="622298" cy="1661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98" name="组合 97"/>
                <p:cNvGrpSpPr/>
                <p:nvPr/>
              </p:nvGrpSpPr>
              <p:grpSpPr>
                <a:xfrm>
                  <a:off x="6868980" y="41995"/>
                  <a:ext cx="549275" cy="92075"/>
                  <a:chOff x="9065818" y="-640128"/>
                  <a:chExt cx="549275" cy="92075"/>
                </a:xfrm>
              </p:grpSpPr>
              <p:sp>
                <p:nvSpPr>
                  <p:cNvPr id="99" name="椭圆 98"/>
                  <p:cNvSpPr/>
                  <p:nvPr/>
                </p:nvSpPr>
                <p:spPr>
                  <a:xfrm>
                    <a:off x="90658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0" name="椭圆 99"/>
                  <p:cNvSpPr/>
                  <p:nvPr/>
                </p:nvSpPr>
                <p:spPr>
                  <a:xfrm>
                    <a:off x="92182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1" name="椭圆 100"/>
                  <p:cNvSpPr/>
                  <p:nvPr/>
                </p:nvSpPr>
                <p:spPr>
                  <a:xfrm>
                    <a:off x="93706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02" name="椭圆 101"/>
                  <p:cNvSpPr/>
                  <p:nvPr/>
                </p:nvSpPr>
                <p:spPr>
                  <a:xfrm>
                    <a:off x="95230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82" name="矩形 81"/>
              <p:cNvSpPr/>
              <p:nvPr/>
            </p:nvSpPr>
            <p:spPr>
              <a:xfrm>
                <a:off x="6963543" y="475301"/>
                <a:ext cx="763200" cy="59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rtlCol="0" anchor="ctr"/>
              <a:lstStyle/>
              <a:p>
                <a:pPr algn="ctr"/>
                <a:r>
                  <a:rPr kumimoji="1" lang="en-US" altLang="zh-CN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6963543" y="313625"/>
                <a:ext cx="622298" cy="166160"/>
                <a:chOff x="6832468" y="4952"/>
                <a:chExt cx="622298" cy="166160"/>
              </a:xfrm>
            </p:grpSpPr>
            <p:sp>
              <p:nvSpPr>
                <p:cNvPr id="91" name="矩形 90"/>
                <p:cNvSpPr/>
                <p:nvPr/>
              </p:nvSpPr>
              <p:spPr>
                <a:xfrm>
                  <a:off x="6832468" y="4952"/>
                  <a:ext cx="622298" cy="1661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92" name="组合 91"/>
                <p:cNvGrpSpPr/>
                <p:nvPr/>
              </p:nvGrpSpPr>
              <p:grpSpPr>
                <a:xfrm>
                  <a:off x="6868980" y="41995"/>
                  <a:ext cx="549275" cy="92075"/>
                  <a:chOff x="9065818" y="-640128"/>
                  <a:chExt cx="549275" cy="92075"/>
                </a:xfrm>
              </p:grpSpPr>
              <p:sp>
                <p:nvSpPr>
                  <p:cNvPr id="93" name="椭圆 92"/>
                  <p:cNvSpPr/>
                  <p:nvPr/>
                </p:nvSpPr>
                <p:spPr>
                  <a:xfrm>
                    <a:off x="90658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椭圆 93"/>
                  <p:cNvSpPr/>
                  <p:nvPr/>
                </p:nvSpPr>
                <p:spPr>
                  <a:xfrm>
                    <a:off x="92182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椭圆 94"/>
                  <p:cNvSpPr/>
                  <p:nvPr/>
                </p:nvSpPr>
                <p:spPr>
                  <a:xfrm>
                    <a:off x="93706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6" name="椭圆 95"/>
                  <p:cNvSpPr/>
                  <p:nvPr/>
                </p:nvSpPr>
                <p:spPr>
                  <a:xfrm>
                    <a:off x="95230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grpSp>
            <p:nvGrpSpPr>
              <p:cNvPr id="84" name="组合 83"/>
              <p:cNvGrpSpPr/>
              <p:nvPr/>
            </p:nvGrpSpPr>
            <p:grpSpPr>
              <a:xfrm>
                <a:off x="7096942" y="629458"/>
                <a:ext cx="622298" cy="166160"/>
                <a:chOff x="6832468" y="4952"/>
                <a:chExt cx="622298" cy="166160"/>
              </a:xfrm>
            </p:grpSpPr>
            <p:sp>
              <p:nvSpPr>
                <p:cNvPr id="85" name="矩形 84"/>
                <p:cNvSpPr/>
                <p:nvPr/>
              </p:nvSpPr>
              <p:spPr>
                <a:xfrm>
                  <a:off x="6832468" y="4952"/>
                  <a:ext cx="622298" cy="1661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0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86" name="组合 85"/>
                <p:cNvGrpSpPr/>
                <p:nvPr/>
              </p:nvGrpSpPr>
              <p:grpSpPr>
                <a:xfrm>
                  <a:off x="6868980" y="41995"/>
                  <a:ext cx="549275" cy="92075"/>
                  <a:chOff x="9065818" y="-640128"/>
                  <a:chExt cx="549275" cy="92075"/>
                </a:xfrm>
              </p:grpSpPr>
              <p:sp>
                <p:nvSpPr>
                  <p:cNvPr id="87" name="椭圆 86"/>
                  <p:cNvSpPr/>
                  <p:nvPr/>
                </p:nvSpPr>
                <p:spPr>
                  <a:xfrm>
                    <a:off x="90658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8" name="椭圆 87"/>
                  <p:cNvSpPr/>
                  <p:nvPr/>
                </p:nvSpPr>
                <p:spPr>
                  <a:xfrm>
                    <a:off x="92182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9" name="椭圆 88"/>
                  <p:cNvSpPr/>
                  <p:nvPr/>
                </p:nvSpPr>
                <p:spPr>
                  <a:xfrm>
                    <a:off x="93706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0" name="椭圆 89"/>
                  <p:cNvSpPr/>
                  <p:nvPr/>
                </p:nvSpPr>
                <p:spPr>
                  <a:xfrm>
                    <a:off x="9523018" y="-640128"/>
                    <a:ext cx="92075" cy="92075"/>
                  </a:xfrm>
                  <a:prstGeom prst="ellipse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14" name="矩形 13"/>
            <p:cNvSpPr/>
            <p:nvPr/>
          </p:nvSpPr>
          <p:spPr>
            <a:xfrm>
              <a:off x="4820272" y="2641190"/>
              <a:ext cx="912801" cy="1080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4820367" y="2955403"/>
              <a:ext cx="512612" cy="587225"/>
              <a:chOff x="5810972" y="-271939"/>
              <a:chExt cx="822231" cy="941910"/>
            </a:xfrm>
          </p:grpSpPr>
          <p:pic>
            <p:nvPicPr>
              <p:cNvPr id="78" name="图片 77"/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5900131" y="-271939"/>
                <a:ext cx="643912" cy="643912"/>
              </a:xfrm>
              <a:prstGeom prst="rect">
                <a:avLst/>
              </a:prstGeom>
            </p:spPr>
          </p:pic>
          <p:sp>
            <p:nvSpPr>
              <p:cNvPr id="79" name="文本框 78"/>
              <p:cNvSpPr txBox="1"/>
              <p:nvPr/>
            </p:nvSpPr>
            <p:spPr>
              <a:xfrm>
                <a:off x="5810972" y="325534"/>
                <a:ext cx="822231" cy="344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7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配置文件</a:t>
                </a:r>
                <a:endParaRPr kumimoji="1" lang="zh-CN" altLang="en-US" sz="7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5215286" y="2748978"/>
              <a:ext cx="427982" cy="540743"/>
              <a:chOff x="5251873" y="-242954"/>
              <a:chExt cx="686485" cy="867353"/>
            </a:xfrm>
          </p:grpSpPr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5324585" y="-242954"/>
                <a:ext cx="541057" cy="541057"/>
              </a:xfrm>
              <a:prstGeom prst="rect">
                <a:avLst/>
              </a:prstGeom>
            </p:spPr>
          </p:pic>
          <p:sp>
            <p:nvSpPr>
              <p:cNvPr id="77" name="文本框 76"/>
              <p:cNvSpPr txBox="1"/>
              <p:nvPr/>
            </p:nvSpPr>
            <p:spPr>
              <a:xfrm>
                <a:off x="5251873" y="279962"/>
                <a:ext cx="686485" cy="344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7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上下文</a:t>
                </a:r>
                <a:endParaRPr kumimoji="1" lang="zh-CN" altLang="en-US" sz="7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5281832" y="3204754"/>
              <a:ext cx="377609" cy="552651"/>
              <a:chOff x="5076159" y="399959"/>
              <a:chExt cx="605686" cy="886454"/>
            </a:xfrm>
          </p:grpSpPr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6159" y="399959"/>
                <a:ext cx="605686" cy="605686"/>
              </a:xfrm>
              <a:prstGeom prst="rect">
                <a:avLst/>
              </a:prstGeom>
            </p:spPr>
          </p:pic>
          <p:sp>
            <p:nvSpPr>
              <p:cNvPr id="75" name="文本框 74"/>
              <p:cNvSpPr txBox="1"/>
              <p:nvPr/>
            </p:nvSpPr>
            <p:spPr>
              <a:xfrm>
                <a:off x="5103641" y="941975"/>
                <a:ext cx="550740" cy="344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7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记忆</a:t>
                </a:r>
                <a:endParaRPr kumimoji="1" lang="zh-CN" altLang="en-US" sz="7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圆角矩形 47"/>
            <p:cNvSpPr/>
            <p:nvPr/>
          </p:nvSpPr>
          <p:spPr>
            <a:xfrm>
              <a:off x="5224266" y="2324362"/>
              <a:ext cx="912800" cy="21606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kumimoji="1"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右箭头 48"/>
            <p:cNvSpPr/>
            <p:nvPr/>
          </p:nvSpPr>
          <p:spPr>
            <a:xfrm>
              <a:off x="5750876" y="3081758"/>
              <a:ext cx="187294" cy="118460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49"/>
            <p:cNvSpPr/>
            <p:nvPr/>
          </p:nvSpPr>
          <p:spPr>
            <a:xfrm>
              <a:off x="7135285" y="3742850"/>
              <a:ext cx="2192170" cy="2776918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圆角矩形 51"/>
            <p:cNvSpPr/>
            <p:nvPr/>
          </p:nvSpPr>
          <p:spPr>
            <a:xfrm>
              <a:off x="7307956" y="5477416"/>
              <a:ext cx="1843238" cy="8278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" rtlCol="0" anchor="t"/>
            <a:lstStyle/>
            <a:p>
              <a:r>
                <a:rPr kumimoji="1"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决策单元</a:t>
              </a:r>
              <a:endParaRPr kumimoji="1"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圆角矩形 52"/>
            <p:cNvSpPr/>
            <p:nvPr/>
          </p:nvSpPr>
          <p:spPr>
            <a:xfrm>
              <a:off x="7311545" y="3957360"/>
              <a:ext cx="1843238" cy="108396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800" rtlCol="0" anchor="t"/>
            <a:lstStyle/>
            <a:p>
              <a:r>
                <a:rPr kumimoji="1"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记忆单元</a:t>
              </a:r>
              <a:endParaRPr kumimoji="1"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579888" y="4190929"/>
              <a:ext cx="415892" cy="264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工具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396702" y="4190929"/>
              <a:ext cx="533023" cy="711723"/>
              <a:chOff x="10722646" y="1586992"/>
              <a:chExt cx="854972" cy="1141606"/>
            </a:xfrm>
          </p:grpSpPr>
          <p:pic>
            <p:nvPicPr>
              <p:cNvPr id="72" name="图片 7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22646" y="1873626"/>
                <a:ext cx="854972" cy="854972"/>
              </a:xfrm>
              <a:prstGeom prst="rect">
                <a:avLst/>
              </a:prstGeom>
            </p:spPr>
          </p:pic>
          <p:sp>
            <p:nvSpPr>
              <p:cNvPr id="73" name="文本框 72"/>
              <p:cNvSpPr txBox="1"/>
              <p:nvPr/>
            </p:nvSpPr>
            <p:spPr>
              <a:xfrm>
                <a:off x="10816589" y="1586992"/>
                <a:ext cx="667093" cy="423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知识</a:t>
                </a:r>
                <a:endPara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5" name="直线连接符 55"/>
            <p:cNvCxnSpPr/>
            <p:nvPr/>
          </p:nvCxnSpPr>
          <p:spPr>
            <a:xfrm>
              <a:off x="8233163" y="4096461"/>
              <a:ext cx="0" cy="85840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/>
            <p:cNvGrpSpPr/>
            <p:nvPr/>
          </p:nvGrpSpPr>
          <p:grpSpPr>
            <a:xfrm>
              <a:off x="7722335" y="4950328"/>
              <a:ext cx="1035528" cy="533024"/>
              <a:chOff x="9565239" y="2893682"/>
              <a:chExt cx="1660990" cy="986319"/>
            </a:xfrm>
          </p:grpSpPr>
          <p:cxnSp>
            <p:nvCxnSpPr>
              <p:cNvPr id="68" name="直线箭头连接符 62"/>
              <p:cNvCxnSpPr/>
              <p:nvPr/>
            </p:nvCxnSpPr>
            <p:spPr>
              <a:xfrm>
                <a:off x="9565239" y="2893682"/>
                <a:ext cx="0" cy="98631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线箭头连接符 63"/>
              <p:cNvCxnSpPr/>
              <p:nvPr/>
            </p:nvCxnSpPr>
            <p:spPr>
              <a:xfrm>
                <a:off x="9779286" y="2893682"/>
                <a:ext cx="0" cy="98631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线箭头连接符 64"/>
              <p:cNvCxnSpPr/>
              <p:nvPr/>
            </p:nvCxnSpPr>
            <p:spPr>
              <a:xfrm>
                <a:off x="11012182" y="2893682"/>
                <a:ext cx="0" cy="98631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箭头连接符 65"/>
              <p:cNvCxnSpPr/>
              <p:nvPr/>
            </p:nvCxnSpPr>
            <p:spPr>
              <a:xfrm>
                <a:off x="11226229" y="2893682"/>
                <a:ext cx="0" cy="986319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/>
            <p:cNvSpPr txBox="1"/>
            <p:nvPr/>
          </p:nvSpPr>
          <p:spPr>
            <a:xfrm>
              <a:off x="6911127" y="5062849"/>
              <a:ext cx="778589" cy="264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调用与反馈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945169" y="5129360"/>
              <a:ext cx="174156" cy="264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748100" y="5052372"/>
              <a:ext cx="778589" cy="2642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检索与更新</a:t>
              </a:r>
              <a:endPara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084638" y="5794820"/>
              <a:ext cx="1037118" cy="363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Function</a:t>
              </a:r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Calling</a:t>
              </a:r>
              <a:endParaRPr kumimoji="1"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en-US" altLang="zh-CN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kumimoji="1" lang="en-US" altLang="zh-CN" sz="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ToolDoc</a:t>
              </a:r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</a:t>
              </a:r>
              <a:endParaRPr kumimoji="1"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68"/>
            <p:cNvSpPr/>
            <p:nvPr/>
          </p:nvSpPr>
          <p:spPr>
            <a:xfrm>
              <a:off x="7773175" y="3634386"/>
              <a:ext cx="912800" cy="21606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</a:t>
              </a:r>
              <a:endParaRPr kumimoji="1"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三角形 69"/>
            <p:cNvSpPr/>
            <p:nvPr/>
          </p:nvSpPr>
          <p:spPr>
            <a:xfrm rot="16200000">
              <a:off x="6105599" y="3569650"/>
              <a:ext cx="1319337" cy="1819262"/>
            </a:xfrm>
            <a:prstGeom prst="triangle">
              <a:avLst/>
            </a:prstGeom>
            <a:gradFill>
              <a:gsLst>
                <a:gs pos="58000">
                  <a:srgbClr val="92D050">
                    <a:alpha val="20000"/>
                  </a:srgbClr>
                </a:gs>
                <a:gs pos="76000">
                  <a:schemeClr val="accent6">
                    <a:lumMod val="20000"/>
                    <a:lumOff val="80000"/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>
              <a:softEdge rad="86158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下箭头 70"/>
            <p:cNvSpPr/>
            <p:nvPr/>
          </p:nvSpPr>
          <p:spPr>
            <a:xfrm>
              <a:off x="5524294" y="3722166"/>
              <a:ext cx="312744" cy="33300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72"/>
            <p:cNvSpPr/>
            <p:nvPr/>
          </p:nvSpPr>
          <p:spPr>
            <a:xfrm>
              <a:off x="1629399" y="2319971"/>
              <a:ext cx="2192171" cy="4179271"/>
            </a:xfrm>
            <a:prstGeom prst="roundRect">
              <a:avLst>
                <a:gd name="adj" fmla="val 9990"/>
              </a:avLst>
            </a:prstGeom>
            <a:solidFill>
              <a:srgbClr val="E8DED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36567" y="4007983"/>
              <a:ext cx="628664" cy="628664"/>
            </a:xfrm>
            <a:prstGeom prst="rect">
              <a:avLst/>
            </a:prstGeom>
          </p:spPr>
        </p:pic>
        <p:sp>
          <p:nvSpPr>
            <p:cNvPr id="36" name="圆角矩形标注 74"/>
            <p:cNvSpPr/>
            <p:nvPr/>
          </p:nvSpPr>
          <p:spPr>
            <a:xfrm>
              <a:off x="1891418" y="3698518"/>
              <a:ext cx="1148186" cy="864460"/>
            </a:xfrm>
            <a:prstGeom prst="wedgeRoundRectCallout">
              <a:avLst>
                <a:gd name="adj1" fmla="val 63262"/>
                <a:gd name="adj2" fmla="val 23513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altLang="zh-CN" sz="700" b="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Negative. Current setup induces understeer on exit. Prioritize rear stabilizer tweak first.</a:t>
              </a:r>
              <a:endParaRPr lang="zh-CN" altLang="en-US" sz="700" b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圆角矩形标注 75"/>
            <p:cNvSpPr/>
            <p:nvPr/>
          </p:nvSpPr>
          <p:spPr>
            <a:xfrm>
              <a:off x="2314363" y="4777094"/>
              <a:ext cx="1136535" cy="628664"/>
            </a:xfrm>
            <a:prstGeom prst="wedgeRoundRectCallout">
              <a:avLst>
                <a:gd name="adj1" fmla="val -65028"/>
                <a:gd name="adj2" fmla="val 10554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altLang="zh-CN" sz="700" b="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Compromise: Front +0.3° with 2kg fuel shift aft. Confirm lap delta ≤0.15s.</a:t>
              </a:r>
              <a:endParaRPr lang="zh-CN" altLang="en-US" sz="700" b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12944" y="4849119"/>
              <a:ext cx="487098" cy="487098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78870" y="2536163"/>
              <a:ext cx="521172" cy="521172"/>
            </a:xfrm>
            <a:prstGeom prst="rect">
              <a:avLst/>
            </a:prstGeom>
          </p:spPr>
        </p:pic>
        <p:sp>
          <p:nvSpPr>
            <p:cNvPr id="40" name="圆角矩形标注 79"/>
            <p:cNvSpPr/>
            <p:nvPr/>
          </p:nvSpPr>
          <p:spPr>
            <a:xfrm>
              <a:off x="2397237" y="2472765"/>
              <a:ext cx="1053662" cy="932721"/>
            </a:xfrm>
            <a:prstGeom prst="wedgeRoundRectCallout">
              <a:avLst>
                <a:gd name="adj1" fmla="val -66396"/>
                <a:gd name="adj2" fmla="val -15353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altLang="zh-CN" sz="7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Telemetry shows front wing angle suboptimal for Turn 3-4 complex. Adjust to +0.5°?</a:t>
              </a:r>
              <a:endParaRPr lang="zh-CN" altLang="en-US" sz="700" b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133043" y="5656252"/>
              <a:ext cx="628664" cy="628664"/>
            </a:xfrm>
            <a:prstGeom prst="rect">
              <a:avLst/>
            </a:prstGeom>
          </p:spPr>
        </p:pic>
        <p:sp>
          <p:nvSpPr>
            <p:cNvPr id="42" name="圆角矩形标注 81"/>
            <p:cNvSpPr/>
            <p:nvPr/>
          </p:nvSpPr>
          <p:spPr>
            <a:xfrm>
              <a:off x="1887893" y="5607015"/>
              <a:ext cx="1148186" cy="604232"/>
            </a:xfrm>
            <a:prstGeom prst="wedgeRoundRectCallout">
              <a:avLst>
                <a:gd name="adj1" fmla="val 63262"/>
                <a:gd name="adj2" fmla="val 23513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altLang="zh-CN" sz="700" b="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Sim approved. Warm-up lap data validates new balance. Proceed.</a:t>
              </a:r>
              <a:endParaRPr lang="zh-CN" altLang="en-US" sz="700" b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曲线连接符 82"/>
            <p:cNvCxnSpPr>
              <a:stCxn id="46" idx="2"/>
              <a:endCxn id="41" idx="2"/>
            </p:cNvCxnSpPr>
            <p:nvPr/>
          </p:nvCxnSpPr>
          <p:spPr>
            <a:xfrm rot="5400000">
              <a:off x="4198144" y="5261865"/>
              <a:ext cx="272284" cy="1773819"/>
            </a:xfrm>
            <a:prstGeom prst="curvedConnector3">
              <a:avLst>
                <a:gd name="adj1" fmla="val 190117"/>
              </a:avLst>
            </a:prstGeom>
            <a:ln w="76200">
              <a:solidFill>
                <a:schemeClr val="tx1">
                  <a:alpha val="25594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圆角矩形 83"/>
            <p:cNvSpPr/>
            <p:nvPr/>
          </p:nvSpPr>
          <p:spPr>
            <a:xfrm>
              <a:off x="4698872" y="5144397"/>
              <a:ext cx="1963587" cy="1380845"/>
            </a:xfrm>
            <a:prstGeom prst="roundRect">
              <a:avLst/>
            </a:prstGeom>
            <a:solidFill>
              <a:srgbClr val="DFEC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圆角矩形 84"/>
            <p:cNvSpPr/>
            <p:nvPr/>
          </p:nvSpPr>
          <p:spPr>
            <a:xfrm>
              <a:off x="5224266" y="5036365"/>
              <a:ext cx="912800" cy="21606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kumimoji="1"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5025338" y="5764861"/>
              <a:ext cx="391712" cy="2477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</a:t>
              </a:r>
              <a:endParaRPr kumimoji="1"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892725" y="6057795"/>
              <a:ext cx="391712" cy="2477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</a:t>
              </a:r>
              <a:endParaRPr kumimoji="1"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5101785" y="6320843"/>
              <a:ext cx="391712" cy="2477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9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</a:t>
              </a:r>
              <a:endParaRPr kumimoji="1"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9" name="曲线连接符 90"/>
            <p:cNvCxnSpPr>
              <a:stCxn id="35" idx="3"/>
              <a:endCxn id="44" idx="1"/>
            </p:cNvCxnSpPr>
            <p:nvPr/>
          </p:nvCxnSpPr>
          <p:spPr>
            <a:xfrm>
              <a:off x="3765231" y="4322315"/>
              <a:ext cx="933641" cy="1512505"/>
            </a:xfrm>
            <a:prstGeom prst="curvedConnector3">
              <a:avLst>
                <a:gd name="adj1" fmla="val 50000"/>
              </a:avLst>
            </a:prstGeom>
            <a:ln w="34925">
              <a:solidFill>
                <a:srgbClr val="00B05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曲线连接符 91"/>
            <p:cNvCxnSpPr>
              <a:stCxn id="35" idx="3"/>
              <a:endCxn id="104" idx="1"/>
            </p:cNvCxnSpPr>
            <p:nvPr/>
          </p:nvCxnSpPr>
          <p:spPr>
            <a:xfrm>
              <a:off x="3765231" y="4322315"/>
              <a:ext cx="1311336" cy="88451"/>
            </a:xfrm>
            <a:prstGeom prst="curvedConnector3">
              <a:avLst>
                <a:gd name="adj1" fmla="val 50000"/>
              </a:avLst>
            </a:prstGeom>
            <a:ln w="34925">
              <a:solidFill>
                <a:srgbClr val="00B05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曲线连接符 92"/>
            <p:cNvCxnSpPr>
              <a:stCxn id="35" idx="3"/>
              <a:endCxn id="12" idx="1"/>
            </p:cNvCxnSpPr>
            <p:nvPr/>
          </p:nvCxnSpPr>
          <p:spPr>
            <a:xfrm flipV="1">
              <a:off x="3765231" y="3125776"/>
              <a:ext cx="933641" cy="1196539"/>
            </a:xfrm>
            <a:prstGeom prst="curvedConnector3">
              <a:avLst>
                <a:gd name="adj1" fmla="val 50000"/>
              </a:avLst>
            </a:prstGeom>
            <a:ln w="34925">
              <a:solidFill>
                <a:srgbClr val="00B05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19024" y="4382167"/>
              <a:ext cx="536176" cy="536176"/>
            </a:xfrm>
            <a:prstGeom prst="rect">
              <a:avLst/>
            </a:prstGeom>
          </p:spPr>
        </p:pic>
        <p:pic>
          <p:nvPicPr>
            <p:cNvPr id="53" name="图片 52"/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FFFFFF">
                    <a:alpha val="0"/>
                  </a:srgbClr>
                </a:clrFrom>
                <a:clrTo>
                  <a:srgbClr val="FFFFFF">
                    <a:alpha val="0"/>
                  </a:srgbClr>
                </a:clrTo>
              </a:clrChange>
            </a:blip>
            <a:srcRect b="8033"/>
            <a:stretch>
              <a:fillRect/>
            </a:stretch>
          </p:blipFill>
          <p:spPr>
            <a:xfrm>
              <a:off x="4971311" y="5322302"/>
              <a:ext cx="494703" cy="454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图片 53"/>
            <p:cNvPicPr>
              <a:picLocks noChangeAspect="1"/>
            </p:cNvPicPr>
            <p:nvPr/>
          </p:nvPicPr>
          <p:blipFill rotWithShape="1">
            <a:blip r:embed="rId14">
              <a:clrChange>
                <a:clrFrom>
                  <a:srgbClr val="FFFFFF">
                    <a:alpha val="0"/>
                  </a:srgbClr>
                </a:clrFrom>
                <a:clrTo>
                  <a:srgbClr val="FFFFFF">
                    <a:alpha val="0"/>
                  </a:srgbClr>
                </a:clrTo>
              </a:clrChange>
            </a:blip>
            <a:srcRect l="8256" r="8514"/>
            <a:stretch>
              <a:fillRect/>
            </a:stretch>
          </p:blipFill>
          <p:spPr>
            <a:xfrm>
              <a:off x="5829506" y="5456858"/>
              <a:ext cx="516539" cy="620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0"/>
                  </a:srgbClr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3537" y="5964052"/>
              <a:ext cx="381443" cy="3814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566133" y="5694480"/>
              <a:ext cx="489067" cy="489067"/>
            </a:xfrm>
            <a:prstGeom prst="rect">
              <a:avLst/>
            </a:prstGeom>
          </p:spPr>
        </p:pic>
        <p:sp>
          <p:nvSpPr>
            <p:cNvPr id="57" name="圆角矩形 126"/>
            <p:cNvSpPr/>
            <p:nvPr/>
          </p:nvSpPr>
          <p:spPr>
            <a:xfrm>
              <a:off x="7118081" y="2431783"/>
              <a:ext cx="2192170" cy="1074436"/>
            </a:xfrm>
            <a:prstGeom prst="roundRect">
              <a:avLst/>
            </a:prstGeom>
            <a:solidFill>
              <a:srgbClr val="92D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圆角矩形 127"/>
            <p:cNvSpPr/>
            <p:nvPr/>
          </p:nvSpPr>
          <p:spPr>
            <a:xfrm>
              <a:off x="7757766" y="2323752"/>
              <a:ext cx="912800" cy="21606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</a:t>
              </a:r>
              <a:endParaRPr kumimoji="1"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下箭头 71"/>
            <p:cNvSpPr/>
            <p:nvPr/>
          </p:nvSpPr>
          <p:spPr>
            <a:xfrm>
              <a:off x="5514022" y="4768264"/>
              <a:ext cx="312744" cy="322526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圆角矩形 141"/>
            <p:cNvSpPr/>
            <p:nvPr/>
          </p:nvSpPr>
          <p:spPr>
            <a:xfrm>
              <a:off x="7476609" y="2696513"/>
              <a:ext cx="1475113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环境状态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圆角矩形 142"/>
            <p:cNvSpPr/>
            <p:nvPr/>
          </p:nvSpPr>
          <p:spPr>
            <a:xfrm>
              <a:off x="7476609" y="3108380"/>
              <a:ext cx="1475113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环境参数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下箭头 143"/>
            <p:cNvSpPr/>
            <p:nvPr/>
          </p:nvSpPr>
          <p:spPr>
            <a:xfrm>
              <a:off x="8057793" y="3395865"/>
              <a:ext cx="312744" cy="248102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1">
                  <a:lumMod val="65000"/>
                  <a:lumOff val="3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圆角矩形 144"/>
            <p:cNvSpPr/>
            <p:nvPr/>
          </p:nvSpPr>
          <p:spPr>
            <a:xfrm>
              <a:off x="10479056" y="2131062"/>
              <a:ext cx="375733" cy="456206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环境</a:t>
              </a:r>
              <a:endParaRPr kumimoji="1"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左箭头 145"/>
            <p:cNvSpPr/>
            <p:nvPr/>
          </p:nvSpPr>
          <p:spPr>
            <a:xfrm>
              <a:off x="9151194" y="2796749"/>
              <a:ext cx="1424041" cy="224641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左箭头 146"/>
            <p:cNvSpPr/>
            <p:nvPr/>
          </p:nvSpPr>
          <p:spPr>
            <a:xfrm rot="10800000">
              <a:off x="9151194" y="4850928"/>
              <a:ext cx="1424041" cy="224641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9668639" y="2555657"/>
              <a:ext cx="464252" cy="297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观察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9668639" y="4621017"/>
              <a:ext cx="464252" cy="297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变更</a:t>
              </a:r>
              <a:endParaRPr kumimoji="1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03880" y="5466647"/>
            <a:ext cx="10276113" cy="983504"/>
            <a:chOff x="340728" y="6063000"/>
            <a:chExt cx="2836029" cy="497561"/>
          </a:xfrm>
        </p:grpSpPr>
        <p:sp>
          <p:nvSpPr>
            <p:cNvPr id="3" name="矩形 2"/>
            <p:cNvSpPr/>
            <p:nvPr/>
          </p:nvSpPr>
          <p:spPr>
            <a:xfrm>
              <a:off x="340728" y="6194782"/>
              <a:ext cx="2836029" cy="365779"/>
            </a:xfrm>
            <a:prstGeom prst="rect">
              <a:avLst/>
            </a:prstGeom>
            <a:gradFill>
              <a:gsLst>
                <a:gs pos="0">
                  <a:srgbClr val="1F92EE">
                    <a:lumMod val="37000"/>
                    <a:lumOff val="63000"/>
                  </a:srgbClr>
                </a:gs>
                <a:gs pos="100000">
                  <a:srgbClr val="4174E2"/>
                </a:gs>
              </a:gsLst>
              <a:lin ang="4800000" scaled="0"/>
            </a:gradFill>
            <a:ln w="12700" cap="flat" cmpd="sng" algn="ctr">
              <a:noFill/>
              <a:prstDash val="solid"/>
              <a:miter lim="800000"/>
            </a:ln>
            <a:effectLst>
              <a:reflection blurRad="50800" stA="41000" endPos="38000" dir="5400000" sy="-100000" algn="bl" rotWithShape="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" name="梯形 3"/>
            <p:cNvSpPr/>
            <p:nvPr/>
          </p:nvSpPr>
          <p:spPr>
            <a:xfrm>
              <a:off x="340728" y="6063000"/>
              <a:ext cx="2836029" cy="138404"/>
            </a:xfrm>
            <a:prstGeom prst="trapezoid">
              <a:avLst>
                <a:gd name="adj" fmla="val 123909"/>
              </a:avLst>
            </a:prstGeom>
            <a:gradFill flip="none" rotWithShape="1">
              <a:gsLst>
                <a:gs pos="17000">
                  <a:srgbClr val="1F92EE">
                    <a:lumMod val="20000"/>
                    <a:lumOff val="80000"/>
                    <a:alpha val="0"/>
                  </a:srgbClr>
                </a:gs>
                <a:gs pos="100000">
                  <a:srgbClr val="1F92EE">
                    <a:lumMod val="20000"/>
                    <a:lumOff val="80000"/>
                  </a:srgbClr>
                </a:gs>
              </a:gsLst>
              <a:lin ang="5400000" scaled="1"/>
              <a:tileRect/>
            </a:gradFill>
            <a:ln w="9525" cap="rnd" cmpd="sng" algn="ctr">
              <a:gradFill>
                <a:gsLst>
                  <a:gs pos="0">
                    <a:srgbClr val="1F92EE">
                      <a:lumMod val="20000"/>
                      <a:lumOff val="80000"/>
                      <a:alpha val="0"/>
                    </a:srgbClr>
                  </a:gs>
                  <a:gs pos="100000">
                    <a:srgbClr val="4174E2"/>
                  </a:gs>
                </a:gsLst>
                <a:lin ang="5400000" scaled="1"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1203157" y="5765476"/>
            <a:ext cx="10130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构建以多视角贯穿赛事的沉浸式交互系统，支持从会议室讨论、赛中决策到赛后复盘的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全流程视角切换和交互优化</a:t>
            </a:r>
            <a:endParaRPr lang="zh-CN" altLang="en-US" b="1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120"/>
          <p:cNvSpPr txBox="1"/>
          <p:nvPr/>
        </p:nvSpPr>
        <p:spPr>
          <a:xfrm>
            <a:off x="1290465" y="211112"/>
            <a:ext cx="8453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交互优化：多视角驱动的沉浸式交互与决策优化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9852" y="845382"/>
            <a:ext cx="11129818" cy="438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通过模拟系统、</a:t>
            </a:r>
            <a:r>
              <a:rPr lang="en-US" altLang="zh-CN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和文心一言大模型实现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用户指令处理</a:t>
            </a:r>
            <a:r>
              <a:rPr lang="zh-CN" altLang="en-US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rgbClr val="4174E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多环节信息展示和全流程赛事沉浸式体验</a:t>
            </a:r>
            <a:endParaRPr lang="zh-CN" altLang="en-US" b="1" dirty="0">
              <a:solidFill>
                <a:srgbClr val="4174E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4593" y="1352376"/>
            <a:ext cx="10855400" cy="4215974"/>
            <a:chOff x="201647" y="2121595"/>
            <a:chExt cx="11788706" cy="4655013"/>
          </a:xfrm>
        </p:grpSpPr>
        <p:grpSp>
          <p:nvGrpSpPr>
            <p:cNvPr id="9" name="组合 8"/>
            <p:cNvGrpSpPr/>
            <p:nvPr/>
          </p:nvGrpSpPr>
          <p:grpSpPr>
            <a:xfrm>
              <a:off x="5594119" y="5298445"/>
              <a:ext cx="1003764" cy="1003764"/>
              <a:chOff x="5406654" y="2170430"/>
              <a:chExt cx="1905000" cy="1905000"/>
            </a:xfrm>
          </p:grpSpPr>
          <p:sp>
            <p:nvSpPr>
              <p:cNvPr id="51" name="圆角矩形 55"/>
              <p:cNvSpPr/>
              <p:nvPr/>
            </p:nvSpPr>
            <p:spPr>
              <a:xfrm>
                <a:off x="5738980" y="2652337"/>
                <a:ext cx="1293531" cy="1060165"/>
              </a:xfrm>
              <a:prstGeom prst="roundRect">
                <a:avLst>
                  <a:gd name="adj" fmla="val 26169"/>
                </a:avLst>
              </a:prstGeom>
              <a:solidFill>
                <a:srgbClr val="F9F1E7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2" name="图形 51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406654" y="2170430"/>
                <a:ext cx="1905000" cy="1905000"/>
              </a:xfrm>
              <a:prstGeom prst="rect">
                <a:avLst/>
              </a:prstGeom>
            </p:spPr>
          </p:pic>
        </p:grpSp>
        <p:sp>
          <p:nvSpPr>
            <p:cNvPr id="10" name="圆角矩形标注 41"/>
            <p:cNvSpPr/>
            <p:nvPr/>
          </p:nvSpPr>
          <p:spPr>
            <a:xfrm>
              <a:off x="201647" y="2121595"/>
              <a:ext cx="5987611" cy="2994155"/>
            </a:xfrm>
            <a:prstGeom prst="wedgeRoundRectCallou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标注 43"/>
            <p:cNvSpPr/>
            <p:nvPr/>
          </p:nvSpPr>
          <p:spPr>
            <a:xfrm>
              <a:off x="6887747" y="2121595"/>
              <a:ext cx="5102606" cy="2994155"/>
            </a:xfrm>
            <a:prstGeom prst="wedgeRoundRectCallout">
              <a:avLst>
                <a:gd name="adj1" fmla="val -56674"/>
                <a:gd name="adj2" fmla="val 67147"/>
                <a:gd name="adj3" fmla="val 16667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 7"/>
            <p:cNvSpPr/>
            <p:nvPr/>
          </p:nvSpPr>
          <p:spPr>
            <a:xfrm>
              <a:off x="7032781" y="2235809"/>
              <a:ext cx="2315437" cy="2372118"/>
            </a:xfrm>
            <a:prstGeom prst="roundRect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{</a:t>
              </a:r>
              <a:endParaRPr kumimoji="1" lang="en-GB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145"/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kumimoji="1" lang="en-GB" altLang="zh-CN" sz="900" dirty="0" err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scene_type</a:t>
              </a:r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“race”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kumimoji="1" lang="en-GB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145"/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kumimoji="1" lang="en-GB" altLang="zh-CN" sz="900" dirty="0" err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scene_data</a:t>
              </a:r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{</a:t>
              </a:r>
              <a:endParaRPr kumimoji="1" lang="en-GB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8290"/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“sender”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“Wolff”,</a:t>
              </a:r>
              <a:endParaRPr kumimoji="1" lang="en-GB" altLang="zh-CN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8290"/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“receiver”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”</a:t>
              </a:r>
              <a:r>
                <a:rPr kumimoji="1"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Hamilton</a:t>
              </a:r>
              <a:r>
                <a:rPr kumimoji="1" lang="en-US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strategist</a:t>
              </a:r>
              <a:r>
                <a:rPr kumimoji="1" lang="en-US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engineer</a:t>
              </a:r>
              <a:r>
                <a:rPr kumimoji="1"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],</a:t>
              </a:r>
              <a:r>
                <a:rPr kumimoji="1" lang="zh-CN" altLang="en-GB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8290"/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“content”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kumimoji="1" lang="en-US" altLang="zh-CN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&lt;Feel</a:t>
              </a:r>
              <a:r>
                <a:rPr kumimoji="1" lang="zh-CN" altLang="en-US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free</a:t>
              </a:r>
              <a:r>
                <a:rPr kumimoji="1" lang="zh-CN" altLang="en-US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</a:t>
              </a:r>
              <a:r>
                <a:rPr kumimoji="1" lang="zh-CN" altLang="en-US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900" dirty="0">
                  <a:solidFill>
                    <a:srgbClr val="92D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input&gt;</a:t>
              </a:r>
              <a:r>
                <a:rPr kumimoji="1"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8290"/>
              <a:r>
                <a:rPr kumimoji="1" lang="en-US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attitude”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 </a:t>
              </a:r>
              <a:r>
                <a:rPr kumimoji="1"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kumimoji="1" lang="en-GB" altLang="zh-CN" sz="900" dirty="0" err="1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Optimisti</a:t>
              </a:r>
              <a:r>
                <a:rPr kumimoji="1" lang="en-US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Balanced</a:t>
              </a:r>
              <a:r>
                <a:rPr kumimoji="1" lang="en-US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Cautious</a:t>
              </a:r>
              <a:r>
                <a:rPr kumimoji="1"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],</a:t>
              </a:r>
              <a:endPara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8290"/>
              <a:r>
                <a:rPr kumimoji="1" lang="en-GB" altLang="zh-CN" sz="900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"signal"</a:t>
              </a:r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</a:t>
              </a:r>
              <a:r>
                <a:rPr kumimoji="1" lang="en-GB" altLang="zh-CN" sz="900" dirty="0" err="1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attitude_update</a:t>
              </a:r>
              <a:r>
                <a:rPr kumimoji="1" lang="en-GB" altLang="zh-CN" sz="9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 </a:t>
              </a:r>
              <a:endParaRPr kumimoji="1" lang="en-GB" altLang="zh-CN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145"/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endParaRPr kumimoji="1" lang="en-GB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1" lang="en-GB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endPara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4"/>
            <p:cNvSpPr/>
            <p:nvPr/>
          </p:nvSpPr>
          <p:spPr>
            <a:xfrm>
              <a:off x="9445154" y="2235809"/>
              <a:ext cx="2315437" cy="23721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Generate agent responses based on the following race simulation command. [Parameters]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Scene: {</a:t>
              </a:r>
              <a:r>
                <a:rPr lang="en-GB" altLang="zh-CN" sz="700" b="1" i="0" u="none" strike="noStrike" dirty="0" err="1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scene_type</a:t>
              </a:r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}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algn="l">
                <a:buFontTx/>
                <a:buChar char="-"/>
              </a:pPr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From: {sender}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en-US" altLang="zh-CN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[Response Requirements]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buFont typeface="+mj-lt"/>
                <a:buAutoNum type="arabicPeriod"/>
              </a:pPr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Maintain racing technical accuracy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buFont typeface="+mj-lt"/>
                <a:buAutoNum type="arabicPeriod"/>
              </a:pPr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Reflect attitude in decision-making logic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en-US" altLang="zh-CN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GB" altLang="zh-CN" sz="700" b="1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Example for "Optimistic" attitude: &lt;Hamilton&gt; "Push 110% on next lap - we'll gain 0.3s in sector 2!"  </a:t>
              </a:r>
              <a:endParaRPr lang="en-US" altLang="zh-CN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en-GB" altLang="zh-CN" sz="700" b="1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01647" y="2721991"/>
              <a:ext cx="5987611" cy="1565623"/>
              <a:chOff x="440884" y="2461593"/>
              <a:chExt cx="5987611" cy="1565623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440884" y="2617962"/>
                <a:ext cx="5987611" cy="1409254"/>
                <a:chOff x="0" y="2602026"/>
                <a:chExt cx="5987611" cy="1409254"/>
              </a:xfrm>
            </p:grpSpPr>
            <p:pic>
              <p:nvPicPr>
                <p:cNvPr id="47" name="图片 46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2602026"/>
                  <a:ext cx="2494495" cy="1398928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19799996" lon="2100000" rev="0"/>
                  </a:camera>
                  <a:lightRig rig="threePt" dir="t"/>
                </a:scene3d>
              </p:spPr>
            </p:pic>
            <p:pic>
              <p:nvPicPr>
                <p:cNvPr id="48" name="图片 4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7649" y="2602331"/>
                  <a:ext cx="2494495" cy="139914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19799996" lon="2100000" rev="0"/>
                  </a:camera>
                  <a:lightRig rig="threePt" dir="t"/>
                </a:scene3d>
              </p:spPr>
            </p:pic>
            <p:pic>
              <p:nvPicPr>
                <p:cNvPr id="49" name="图片 48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35298" y="2608126"/>
                  <a:ext cx="2491987" cy="140315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19799996" lon="2100000" rev="0"/>
                  </a:camera>
                  <a:lightRig rig="threePt" dir="t"/>
                </a:scene3d>
              </p:spPr>
            </p:pic>
            <p:pic>
              <p:nvPicPr>
                <p:cNvPr id="50" name="图片 49"/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rightnessContrast contrast="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0438" y="2608126"/>
                  <a:ext cx="2487173" cy="1403154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19799996" lon="2100000" rev="0"/>
                  </a:camera>
                  <a:lightRig rig="threePt" dir="t"/>
                </a:scene3d>
              </p:spPr>
            </p:pic>
          </p:grpSp>
          <p:grpSp>
            <p:nvGrpSpPr>
              <p:cNvPr id="42" name="组合 41"/>
              <p:cNvGrpSpPr/>
              <p:nvPr/>
            </p:nvGrpSpPr>
            <p:grpSpPr>
              <a:xfrm>
                <a:off x="920630" y="2461593"/>
                <a:ext cx="5028118" cy="288235"/>
                <a:chOff x="881308" y="2461593"/>
                <a:chExt cx="5028118" cy="288235"/>
              </a:xfrm>
            </p:grpSpPr>
            <p:sp>
              <p:nvSpPr>
                <p:cNvPr id="43" name="圆角矩形 16"/>
                <p:cNvSpPr/>
                <p:nvPr/>
              </p:nvSpPr>
              <p:spPr>
                <a:xfrm>
                  <a:off x="881308" y="2461593"/>
                  <a:ext cx="1454449" cy="28823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20099998" lon="24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媒体采访</a:t>
                  </a:r>
                  <a:endParaRPr kumimoji="1"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" name="圆角矩形 19"/>
                <p:cNvSpPr/>
                <p:nvPr/>
              </p:nvSpPr>
              <p:spPr>
                <a:xfrm>
                  <a:off x="2072531" y="2461593"/>
                  <a:ext cx="1454449" cy="28823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20099998" lon="24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练习赛</a:t>
                  </a:r>
                  <a:endParaRPr kumimoji="1"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" name="圆角矩形 20"/>
                <p:cNvSpPr/>
                <p:nvPr/>
              </p:nvSpPr>
              <p:spPr>
                <a:xfrm>
                  <a:off x="3263754" y="2461593"/>
                  <a:ext cx="1454449" cy="28823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20099998" lon="24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正赛</a:t>
                  </a:r>
                  <a:endParaRPr kumimoji="1"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圆角矩形 21"/>
                <p:cNvSpPr/>
                <p:nvPr/>
              </p:nvSpPr>
              <p:spPr>
                <a:xfrm>
                  <a:off x="4454977" y="2461593"/>
                  <a:ext cx="1454449" cy="288235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>
                    <a:rot lat="20099998" lon="240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赛后会议</a:t>
                  </a:r>
                  <a:endParaRPr kumimoji="1" lang="zh-CN" altLang="en-US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5" name="圆角矩形 23"/>
            <p:cNvSpPr/>
            <p:nvPr/>
          </p:nvSpPr>
          <p:spPr>
            <a:xfrm>
              <a:off x="2457896" y="4766234"/>
              <a:ext cx="1475113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模拟系统截图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 27"/>
            <p:cNvSpPr/>
            <p:nvPr/>
          </p:nvSpPr>
          <p:spPr>
            <a:xfrm>
              <a:off x="7452943" y="4765874"/>
              <a:ext cx="1475113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结构化信息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28"/>
            <p:cNvSpPr/>
            <p:nvPr/>
          </p:nvSpPr>
          <p:spPr>
            <a:xfrm>
              <a:off x="10146760" y="4759990"/>
              <a:ext cx="912225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Prompt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环形箭头 31"/>
            <p:cNvSpPr/>
            <p:nvPr/>
          </p:nvSpPr>
          <p:spPr>
            <a:xfrm>
              <a:off x="1838456" y="2320570"/>
              <a:ext cx="715618" cy="802842"/>
            </a:xfrm>
            <a:prstGeom prst="circularArrow">
              <a:avLst>
                <a:gd name="adj1" fmla="val 5000"/>
                <a:gd name="adj2" fmla="val 1162665"/>
                <a:gd name="adj3" fmla="val 20652858"/>
                <a:gd name="adj4" fmla="val 13013481"/>
                <a:gd name="adj5" fmla="val 806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环形箭头 34"/>
            <p:cNvSpPr/>
            <p:nvPr/>
          </p:nvSpPr>
          <p:spPr>
            <a:xfrm>
              <a:off x="3064624" y="2317788"/>
              <a:ext cx="715618" cy="802842"/>
            </a:xfrm>
            <a:prstGeom prst="circularArrow">
              <a:avLst>
                <a:gd name="adj1" fmla="val 5000"/>
                <a:gd name="adj2" fmla="val 1162665"/>
                <a:gd name="adj3" fmla="val 20652858"/>
                <a:gd name="adj4" fmla="val 13013481"/>
                <a:gd name="adj5" fmla="val 806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环形箭头 35"/>
            <p:cNvSpPr/>
            <p:nvPr/>
          </p:nvSpPr>
          <p:spPr>
            <a:xfrm>
              <a:off x="4249346" y="2320570"/>
              <a:ext cx="715618" cy="802842"/>
            </a:xfrm>
            <a:prstGeom prst="circularArrow">
              <a:avLst>
                <a:gd name="adj1" fmla="val 5000"/>
                <a:gd name="adj2" fmla="val 1162665"/>
                <a:gd name="adj3" fmla="val 20652858"/>
                <a:gd name="adj4" fmla="val 13013481"/>
                <a:gd name="adj5" fmla="val 806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08482" y="2235809"/>
              <a:ext cx="590488" cy="33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心态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565545" y="2237383"/>
              <a:ext cx="590488" cy="33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813604" y="2235809"/>
              <a:ext cx="590488" cy="33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</a:t>
              </a:r>
              <a:endPara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左右箭头 37"/>
            <p:cNvSpPr/>
            <p:nvPr/>
          </p:nvSpPr>
          <p:spPr>
            <a:xfrm>
              <a:off x="6100375" y="3320341"/>
              <a:ext cx="843523" cy="379925"/>
            </a:xfrm>
            <a:prstGeom prst="left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171188" y="3010225"/>
              <a:ext cx="701900" cy="407793"/>
            </a:xfrm>
            <a:prstGeom prst="rect">
              <a:avLst/>
            </a:prstGeom>
            <a:blipFill dpi="0" rotWithShape="1">
              <a:blip r:embed="rId11">
                <a:alphaModFix amt="80000"/>
              </a:blip>
              <a:srcRect/>
              <a:stretch>
                <a:fillRect/>
              </a:stretch>
            </a:blip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</a:t>
              </a:r>
              <a:endParaRPr kumimoji="1"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339" t="25509" r="11971" b="14168"/>
            <a:stretch>
              <a:fillRect/>
            </a:stretch>
          </p:blipFill>
          <p:spPr>
            <a:xfrm>
              <a:off x="1451576" y="5492117"/>
              <a:ext cx="973964" cy="766100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710" y="5492117"/>
              <a:ext cx="766100" cy="766100"/>
            </a:xfrm>
            <a:prstGeom prst="rect">
              <a:avLst/>
            </a:prstGeom>
          </p:spPr>
        </p:pic>
        <p:sp>
          <p:nvSpPr>
            <p:cNvPr id="28" name="圆角矩形 42"/>
            <p:cNvSpPr/>
            <p:nvPr/>
          </p:nvSpPr>
          <p:spPr>
            <a:xfrm>
              <a:off x="1525493" y="6315049"/>
              <a:ext cx="813458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模拟系统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圆角矩形 44"/>
            <p:cNvSpPr/>
            <p:nvPr/>
          </p:nvSpPr>
          <p:spPr>
            <a:xfrm>
              <a:off x="5766085" y="6352068"/>
              <a:ext cx="652951" cy="28748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en-GB" altLang="zh-CN" sz="1200" i="0" u="none" strike="noStrike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角矩形 45"/>
            <p:cNvSpPr/>
            <p:nvPr/>
          </p:nvSpPr>
          <p:spPr>
            <a:xfrm>
              <a:off x="9683730" y="6316690"/>
              <a:ext cx="926060" cy="4599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" rIns="54000"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文心一言大模型</a:t>
              </a:r>
              <a:endParaRPr lang="en-GB" altLang="zh-CN" sz="1200" i="0" u="none" strike="noStrike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环形箭头 47"/>
            <p:cNvSpPr/>
            <p:nvPr/>
          </p:nvSpPr>
          <p:spPr>
            <a:xfrm>
              <a:off x="2665509" y="5229964"/>
              <a:ext cx="2799904" cy="1348804"/>
            </a:xfrm>
            <a:prstGeom prst="circularArrow">
              <a:avLst>
                <a:gd name="adj1" fmla="val 4838"/>
                <a:gd name="adj2" fmla="val 815430"/>
                <a:gd name="adj3" fmla="val 20804551"/>
                <a:gd name="adj4" fmla="val 11095079"/>
                <a:gd name="adj5" fmla="val 1088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环形箭头 48"/>
            <p:cNvSpPr/>
            <p:nvPr/>
          </p:nvSpPr>
          <p:spPr>
            <a:xfrm>
              <a:off x="6726589" y="5191950"/>
              <a:ext cx="2799904" cy="1348804"/>
            </a:xfrm>
            <a:prstGeom prst="circularArrow">
              <a:avLst>
                <a:gd name="adj1" fmla="val 4838"/>
                <a:gd name="adj2" fmla="val 815430"/>
                <a:gd name="adj3" fmla="val 20804551"/>
                <a:gd name="adj4" fmla="val 11095079"/>
                <a:gd name="adj5" fmla="val 1088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环形箭头 49"/>
            <p:cNvSpPr/>
            <p:nvPr/>
          </p:nvSpPr>
          <p:spPr>
            <a:xfrm rot="10800000">
              <a:off x="6726589" y="5358545"/>
              <a:ext cx="2799904" cy="1348804"/>
            </a:xfrm>
            <a:prstGeom prst="circularArrow">
              <a:avLst>
                <a:gd name="adj1" fmla="val 4838"/>
                <a:gd name="adj2" fmla="val 815430"/>
                <a:gd name="adj3" fmla="val 20804551"/>
                <a:gd name="adj4" fmla="val 11095079"/>
                <a:gd name="adj5" fmla="val 1088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环形箭头 50"/>
            <p:cNvSpPr/>
            <p:nvPr/>
          </p:nvSpPr>
          <p:spPr>
            <a:xfrm rot="10800000">
              <a:off x="2648642" y="5353790"/>
              <a:ext cx="2799904" cy="1348804"/>
            </a:xfrm>
            <a:prstGeom prst="circularArrow">
              <a:avLst>
                <a:gd name="adj1" fmla="val 4838"/>
                <a:gd name="adj2" fmla="val 815430"/>
                <a:gd name="adj3" fmla="val 20804551"/>
                <a:gd name="adj4" fmla="val 11095079"/>
                <a:gd name="adj5" fmla="val 1088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3406393" y="5406477"/>
              <a:ext cx="1091843" cy="1100265"/>
              <a:chOff x="3406393" y="5426355"/>
              <a:chExt cx="1091843" cy="1100265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3406393" y="5426355"/>
                <a:ext cx="1091843" cy="373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状态编码</a:t>
                </a:r>
                <a:endParaRPr kumimoji="1"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742365" y="6152810"/>
                <a:ext cx="646194" cy="373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行动</a:t>
                </a:r>
                <a:endParaRPr kumimoji="1"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7610114" y="5354351"/>
              <a:ext cx="1112734" cy="1218644"/>
              <a:chOff x="7610114" y="5354351"/>
              <a:chExt cx="1112734" cy="1218644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7826516" y="5354351"/>
                <a:ext cx="646194" cy="373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检索</a:t>
                </a:r>
                <a:endParaRPr kumimoji="1"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7610114" y="6199185"/>
                <a:ext cx="1112734" cy="373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响应信息</a:t>
                </a:r>
                <a:endParaRPr kumimoji="1"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4" y="211112"/>
            <a:ext cx="10500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项目未来：精准推广拓展市场覆盖，多点支撑确保落地可行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9" name="矩形: 圆角 331"/>
          <p:cNvSpPr/>
          <p:nvPr>
            <p:custDataLst>
              <p:tags r:id="rId1"/>
            </p:custDataLst>
          </p:nvPr>
        </p:nvSpPr>
        <p:spPr>
          <a:xfrm>
            <a:off x="439880" y="5015136"/>
            <a:ext cx="3718643" cy="1631746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 dirty="0">
              <a:latin typeface="+mj-ea"/>
              <a:ea typeface="+mj-ea"/>
              <a:cs typeface="思源黑体 CN Normal" panose="020B0400000000000000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8764" y="5126504"/>
            <a:ext cx="3527534" cy="1520384"/>
            <a:chOff x="8223142" y="1233384"/>
            <a:chExt cx="3527534" cy="1520384"/>
          </a:xfrm>
        </p:grpSpPr>
        <p:sp>
          <p:nvSpPr>
            <p:cNvPr id="4" name="矩形 44"/>
            <p:cNvSpPr>
              <a:spLocks noChangeArrowheads="1"/>
            </p:cNvSpPr>
            <p:nvPr/>
          </p:nvSpPr>
          <p:spPr bwMode="auto">
            <a:xfrm>
              <a:off x="8242191" y="1676550"/>
              <a:ext cx="3508485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通过模块化架构与现有技术组件复用降低开发成本，集中多</a:t>
              </a:r>
              <a:r>
                <a:rPr kumimoji="0" lang="en-GB" altLang="zh-CN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Agent</a:t>
              </a:r>
              <a:r>
                <a:rPr kumimoji="0" lang="zh-CN" altLang="en-US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协作逻辑的底层框架设计与算法优化，长期维护成本可控</a:t>
              </a:r>
              <a:endParaRPr kumimoji="0" lang="zh-CN" altLang="en-US" sz="1600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Box 47"/>
            <p:cNvSpPr txBox="1">
              <a:spLocks noChangeArrowheads="1"/>
            </p:cNvSpPr>
            <p:nvPr/>
          </p:nvSpPr>
          <p:spPr bwMode="auto">
            <a:xfrm>
              <a:off x="8223142" y="1233384"/>
              <a:ext cx="18149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经济可行性</a:t>
              </a:r>
              <a:r>
                <a:rPr kumimoji="0" lang="en-US" altLang="zh-CN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kumimoji="0" lang="zh-CN" altLang="en-US" b="1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1" name="矩形: 圆角 331"/>
          <p:cNvSpPr/>
          <p:nvPr>
            <p:custDataLst>
              <p:tags r:id="rId2"/>
            </p:custDataLst>
          </p:nvPr>
        </p:nvSpPr>
        <p:spPr>
          <a:xfrm>
            <a:off x="8172699" y="5015136"/>
            <a:ext cx="3718643" cy="1631746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 dirty="0">
              <a:latin typeface="+mj-ea"/>
              <a:ea typeface="+mj-ea"/>
              <a:cs typeface="思源黑体 CN Normal" panose="020B0400000000000000" charset="-122"/>
            </a:endParaRPr>
          </a:p>
        </p:txBody>
      </p:sp>
      <p:sp>
        <p:nvSpPr>
          <p:cNvPr id="100" name="矩形: 圆角 331"/>
          <p:cNvSpPr/>
          <p:nvPr>
            <p:custDataLst>
              <p:tags r:id="rId3"/>
            </p:custDataLst>
          </p:nvPr>
        </p:nvSpPr>
        <p:spPr>
          <a:xfrm>
            <a:off x="4265049" y="5015136"/>
            <a:ext cx="3718643" cy="1631746"/>
          </a:xfrm>
          <a:prstGeom prst="roundRect">
            <a:avLst>
              <a:gd name="adj" fmla="val 5785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56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15081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868" tIns="43434" rIns="86868" bIns="43434" rtlCol="0" anchor="ctr"/>
          <a:lstStyle/>
          <a:p>
            <a:pPr algn="ctr"/>
            <a:endParaRPr lang="zh-CN" altLang="en-US" sz="1000" dirty="0">
              <a:latin typeface="+mj-ea"/>
              <a:ea typeface="+mj-ea"/>
              <a:cs typeface="思源黑体 CN Normal" panose="020B0400000000000000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60635" y="5126504"/>
            <a:ext cx="3527534" cy="1026356"/>
            <a:chOff x="8223142" y="5318551"/>
            <a:chExt cx="3527534" cy="1026356"/>
          </a:xfrm>
        </p:grpSpPr>
        <p:sp>
          <p:nvSpPr>
            <p:cNvPr id="7" name="矩形 52"/>
            <p:cNvSpPr>
              <a:spLocks noChangeArrowheads="1"/>
            </p:cNvSpPr>
            <p:nvPr/>
          </p:nvSpPr>
          <p:spPr bwMode="auto">
            <a:xfrm>
              <a:off x="8242191" y="5760132"/>
              <a:ext cx="350848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该项目为独立开发，在技术上使用开放</a:t>
              </a:r>
              <a:r>
                <a:rPr kumimoji="0" lang="en-US" altLang="zh-CN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API</a:t>
              </a:r>
              <a:r>
                <a:rPr kumimoji="0" lang="zh-CN" altLang="en-US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、开源框架。</a:t>
              </a:r>
              <a:endParaRPr kumimoji="0" lang="zh-CN" altLang="en-US" sz="1600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53"/>
            <p:cNvSpPr txBox="1">
              <a:spLocks noChangeArrowheads="1"/>
            </p:cNvSpPr>
            <p:nvPr/>
          </p:nvSpPr>
          <p:spPr bwMode="auto">
            <a:xfrm>
              <a:off x="8223142" y="5318551"/>
              <a:ext cx="23391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政策法律可行性</a:t>
              </a:r>
              <a:endParaRPr kumimoji="0" lang="zh-CN" altLang="en-US" b="1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435007" y="5128091"/>
            <a:ext cx="3527534" cy="1518797"/>
            <a:chOff x="8223142" y="2925167"/>
            <a:chExt cx="3527534" cy="1518797"/>
          </a:xfrm>
        </p:grpSpPr>
        <p:sp>
          <p:nvSpPr>
            <p:cNvPr id="10" name="矩形 58"/>
            <p:cNvSpPr>
              <a:spLocks noChangeArrowheads="1"/>
            </p:cNvSpPr>
            <p:nvPr/>
          </p:nvSpPr>
          <p:spPr bwMode="auto">
            <a:xfrm>
              <a:off x="8242191" y="3366746"/>
              <a:ext cx="3508485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16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采用模块化架构分离环境模拟、智能体决策与交互层，并通过标准化协议确保系统扩展性，权衡动态规则实时更新与计算负载间的平衡。</a:t>
              </a:r>
              <a:endParaRPr kumimoji="0" lang="zh-CN" altLang="en-US" sz="1600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59"/>
            <p:cNvSpPr txBox="1">
              <a:spLocks noChangeArrowheads="1"/>
            </p:cNvSpPr>
            <p:nvPr/>
          </p:nvSpPr>
          <p:spPr bwMode="auto">
            <a:xfrm>
              <a:off x="8223142" y="2925167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技术可行性</a:t>
              </a:r>
              <a:endParaRPr kumimoji="0" lang="zh-CN" altLang="en-US" b="1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39880" y="814211"/>
            <a:ext cx="11312240" cy="4202828"/>
            <a:chOff x="416496" y="878025"/>
            <a:chExt cx="11312240" cy="4202828"/>
          </a:xfrm>
        </p:grpSpPr>
        <p:grpSp>
          <p:nvGrpSpPr>
            <p:cNvPr id="13" name="组合 12"/>
            <p:cNvGrpSpPr/>
            <p:nvPr/>
          </p:nvGrpSpPr>
          <p:grpSpPr>
            <a:xfrm>
              <a:off x="7343473" y="878025"/>
              <a:ext cx="862452" cy="774103"/>
              <a:chOff x="7731526" y="4627154"/>
              <a:chExt cx="2722124" cy="2444498"/>
            </a:xfrm>
          </p:grpSpPr>
          <p:sp>
            <p:nvSpPr>
              <p:cNvPr id="96" name="Freeform 40"/>
              <p:cNvSpPr/>
              <p:nvPr/>
            </p:nvSpPr>
            <p:spPr bwMode="auto">
              <a:xfrm>
                <a:off x="7731526" y="4627154"/>
                <a:ext cx="2722124" cy="2444498"/>
              </a:xfrm>
              <a:custGeom>
                <a:avLst/>
                <a:gdLst>
                  <a:gd name="T0" fmla="*/ 1149 w 1149"/>
                  <a:gd name="T1" fmla="*/ 515 h 1030"/>
                  <a:gd name="T2" fmla="*/ 1020 w 1149"/>
                  <a:gd name="T3" fmla="*/ 412 h 1030"/>
                  <a:gd name="T4" fmla="*/ 515 w 1149"/>
                  <a:gd name="T5" fmla="*/ 0 h 1030"/>
                  <a:gd name="T6" fmla="*/ 0 w 1149"/>
                  <a:gd name="T7" fmla="*/ 515 h 1030"/>
                  <a:gd name="T8" fmla="*/ 515 w 1149"/>
                  <a:gd name="T9" fmla="*/ 1030 h 1030"/>
                  <a:gd name="T10" fmla="*/ 1020 w 1149"/>
                  <a:gd name="T11" fmla="*/ 618 h 1030"/>
                  <a:gd name="T12" fmla="*/ 1149 w 1149"/>
                  <a:gd name="T13" fmla="*/ 515 h 10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49" h="1030">
                    <a:moveTo>
                      <a:pt x="1149" y="515"/>
                    </a:moveTo>
                    <a:cubicBezTo>
                      <a:pt x="1020" y="412"/>
                      <a:pt x="1020" y="412"/>
                      <a:pt x="1020" y="412"/>
                    </a:cubicBezTo>
                    <a:cubicBezTo>
                      <a:pt x="972" y="177"/>
                      <a:pt x="764" y="0"/>
                      <a:pt x="515" y="0"/>
                    </a:cubicBezTo>
                    <a:cubicBezTo>
                      <a:pt x="231" y="0"/>
                      <a:pt x="0" y="231"/>
                      <a:pt x="0" y="515"/>
                    </a:cubicBezTo>
                    <a:cubicBezTo>
                      <a:pt x="0" y="799"/>
                      <a:pt x="231" y="1030"/>
                      <a:pt x="515" y="1030"/>
                    </a:cubicBezTo>
                    <a:cubicBezTo>
                      <a:pt x="764" y="1030"/>
                      <a:pt x="972" y="853"/>
                      <a:pt x="1020" y="618"/>
                    </a:cubicBezTo>
                    <a:lnTo>
                      <a:pt x="1149" y="515"/>
                    </a:lnTo>
                    <a:close/>
                  </a:path>
                </a:pathLst>
              </a:custGeom>
              <a:solidFill>
                <a:srgbClr val="2F5597"/>
              </a:solidFill>
              <a:ln w="19050">
                <a:noFill/>
              </a:ln>
              <a:effectLst>
                <a:outerShdw blurRad="152400" dist="38100" algn="l" rotWithShape="0">
                  <a:prstClr val="black">
                    <a:alpha val="32000"/>
                  </a:prstClr>
                </a:outerShdw>
              </a:effectLst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08" tIns="731520" rIns="475308" bIns="582340" numCol="1" spcCol="1270" anchor="ctr" anchorCtr="0">
                <a:noAutofit/>
              </a:bodyPr>
              <a:lstStyle/>
              <a:p>
                <a:pPr algn="ct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zh-CN" altLang="en-US" sz="11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" name="Freeform 49"/>
              <p:cNvSpPr>
                <a:spLocks noEditPoints="1"/>
              </p:cNvSpPr>
              <p:nvPr/>
            </p:nvSpPr>
            <p:spPr bwMode="auto">
              <a:xfrm>
                <a:off x="8666363" y="5164290"/>
                <a:ext cx="596272" cy="527780"/>
              </a:xfrm>
              <a:custGeom>
                <a:avLst/>
                <a:gdLst>
                  <a:gd name="T0" fmla="*/ 29 w 144"/>
                  <a:gd name="T1" fmla="*/ 53 h 127"/>
                  <a:gd name="T2" fmla="*/ 45 w 144"/>
                  <a:gd name="T3" fmla="*/ 72 h 127"/>
                  <a:gd name="T4" fmla="*/ 65 w 144"/>
                  <a:gd name="T5" fmla="*/ 58 h 127"/>
                  <a:gd name="T6" fmla="*/ 50 w 144"/>
                  <a:gd name="T7" fmla="*/ 39 h 127"/>
                  <a:gd name="T8" fmla="*/ 65 w 144"/>
                  <a:gd name="T9" fmla="*/ 29 h 127"/>
                  <a:gd name="T10" fmla="*/ 8 w 144"/>
                  <a:gd name="T11" fmla="*/ 0 h 127"/>
                  <a:gd name="T12" fmla="*/ 13 w 144"/>
                  <a:gd name="T13" fmla="*/ 63 h 127"/>
                  <a:gd name="T14" fmla="*/ 29 w 144"/>
                  <a:gd name="T15" fmla="*/ 53 h 127"/>
                  <a:gd name="T16" fmla="*/ 115 w 144"/>
                  <a:gd name="T17" fmla="*/ 53 h 127"/>
                  <a:gd name="T18" fmla="*/ 131 w 144"/>
                  <a:gd name="T19" fmla="*/ 63 h 127"/>
                  <a:gd name="T20" fmla="*/ 136 w 144"/>
                  <a:gd name="T21" fmla="*/ 0 h 127"/>
                  <a:gd name="T22" fmla="*/ 80 w 144"/>
                  <a:gd name="T23" fmla="*/ 29 h 127"/>
                  <a:gd name="T24" fmla="*/ 95 w 144"/>
                  <a:gd name="T25" fmla="*/ 39 h 127"/>
                  <a:gd name="T26" fmla="*/ 0 w 144"/>
                  <a:gd name="T27" fmla="*/ 103 h 127"/>
                  <a:gd name="T28" fmla="*/ 5 w 144"/>
                  <a:gd name="T29" fmla="*/ 127 h 127"/>
                  <a:gd name="T30" fmla="*/ 115 w 144"/>
                  <a:gd name="T31" fmla="*/ 53 h 127"/>
                  <a:gd name="T32" fmla="*/ 101 w 144"/>
                  <a:gd name="T33" fmla="*/ 86 h 127"/>
                  <a:gd name="T34" fmla="*/ 81 w 144"/>
                  <a:gd name="T35" fmla="*/ 103 h 127"/>
                  <a:gd name="T36" fmla="*/ 139 w 144"/>
                  <a:gd name="T37" fmla="*/ 127 h 127"/>
                  <a:gd name="T38" fmla="*/ 144 w 144"/>
                  <a:gd name="T39" fmla="*/ 103 h 127"/>
                  <a:gd name="T40" fmla="*/ 101 w 144"/>
                  <a:gd name="T41" fmla="*/ 86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4" h="127">
                    <a:moveTo>
                      <a:pt x="29" y="53"/>
                    </a:moveTo>
                    <a:cubicBezTo>
                      <a:pt x="34" y="60"/>
                      <a:pt x="39" y="66"/>
                      <a:pt x="45" y="72"/>
                    </a:cubicBezTo>
                    <a:cubicBezTo>
                      <a:pt x="51" y="68"/>
                      <a:pt x="58" y="63"/>
                      <a:pt x="65" y="58"/>
                    </a:cubicBezTo>
                    <a:cubicBezTo>
                      <a:pt x="59" y="52"/>
                      <a:pt x="54" y="46"/>
                      <a:pt x="50" y="39"/>
                    </a:cubicBezTo>
                    <a:cubicBezTo>
                      <a:pt x="65" y="29"/>
                      <a:pt x="65" y="29"/>
                      <a:pt x="65" y="29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13" y="63"/>
                      <a:pt x="13" y="63"/>
                      <a:pt x="13" y="63"/>
                    </a:cubicBezTo>
                    <a:lnTo>
                      <a:pt x="29" y="53"/>
                    </a:lnTo>
                    <a:close/>
                    <a:moveTo>
                      <a:pt x="115" y="53"/>
                    </a:moveTo>
                    <a:cubicBezTo>
                      <a:pt x="131" y="63"/>
                      <a:pt x="131" y="63"/>
                      <a:pt x="131" y="63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95" y="39"/>
                      <a:pt x="95" y="39"/>
                      <a:pt x="95" y="39"/>
                    </a:cubicBezTo>
                    <a:cubicBezTo>
                      <a:pt x="61" y="90"/>
                      <a:pt x="1" y="103"/>
                      <a:pt x="0" y="103"/>
                    </a:cubicBezTo>
                    <a:cubicBezTo>
                      <a:pt x="5" y="127"/>
                      <a:pt x="5" y="127"/>
                      <a:pt x="5" y="127"/>
                    </a:cubicBezTo>
                    <a:cubicBezTo>
                      <a:pt x="8" y="127"/>
                      <a:pt x="75" y="112"/>
                      <a:pt x="115" y="53"/>
                    </a:cubicBezTo>
                    <a:close/>
                    <a:moveTo>
                      <a:pt x="101" y="86"/>
                    </a:moveTo>
                    <a:cubicBezTo>
                      <a:pt x="95" y="92"/>
                      <a:pt x="88" y="98"/>
                      <a:pt x="81" y="103"/>
                    </a:cubicBezTo>
                    <a:cubicBezTo>
                      <a:pt x="111" y="121"/>
                      <a:pt x="137" y="127"/>
                      <a:pt x="139" y="127"/>
                    </a:cubicBezTo>
                    <a:cubicBezTo>
                      <a:pt x="144" y="103"/>
                      <a:pt x="144" y="103"/>
                      <a:pt x="144" y="103"/>
                    </a:cubicBezTo>
                    <a:cubicBezTo>
                      <a:pt x="144" y="103"/>
                      <a:pt x="124" y="99"/>
                      <a:pt x="101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8030708" y="5740784"/>
                <a:ext cx="1938800" cy="8261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4000">
                    <a:solidFill>
                      <a:srgbClr val="605E5E"/>
                    </a:solidFill>
                    <a:latin typeface="Impact" panose="020B0806030902050204" pitchFamily="34" charset="0"/>
                    <a:cs typeface="Aharoni" panose="02010803020104030203" pitchFamily="2" charset="-79"/>
                  </a:defRPr>
                </a:lvl1pPr>
              </a:lstStyle>
              <a:p>
                <a:r>
                  <a:rPr lang="en-US" altLang="zh-CN" sz="1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4</a:t>
                </a:r>
                <a:endPara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16496" y="1257291"/>
              <a:ext cx="11312240" cy="3823562"/>
              <a:chOff x="416496" y="1257291"/>
              <a:chExt cx="11312240" cy="3823562"/>
            </a:xfrm>
          </p:grpSpPr>
          <p:sp>
            <p:nvSpPr>
              <p:cNvPr id="15" name="矩形 39"/>
              <p:cNvSpPr>
                <a:spLocks noChangeArrowheads="1"/>
              </p:cNvSpPr>
              <p:nvPr/>
            </p:nvSpPr>
            <p:spPr bwMode="auto">
              <a:xfrm>
                <a:off x="5303927" y="4155454"/>
                <a:ext cx="346605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1305130" y="1257291"/>
                <a:ext cx="10172996" cy="3723933"/>
                <a:chOff x="1044951" y="1220922"/>
                <a:chExt cx="11507235" cy="5644794"/>
              </a:xfrm>
            </p:grpSpPr>
            <p:sp>
              <p:nvSpPr>
                <p:cNvPr id="32" name="Rectangle 76"/>
                <p:cNvSpPr/>
                <p:nvPr/>
              </p:nvSpPr>
              <p:spPr>
                <a:xfrm>
                  <a:off x="10414469" y="2945675"/>
                  <a:ext cx="2131947" cy="2003215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5">
                        <a:lumMod val="20000"/>
                        <a:lumOff val="80000"/>
                      </a:schemeClr>
                    </a:gs>
                    <a:gs pos="100000">
                      <a:schemeClr val="accent5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Rectangle 75"/>
                <p:cNvSpPr/>
                <p:nvPr/>
              </p:nvSpPr>
              <p:spPr>
                <a:xfrm>
                  <a:off x="7849010" y="3448713"/>
                  <a:ext cx="2628502" cy="2003214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4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Rectangle 74"/>
                <p:cNvSpPr/>
                <p:nvPr/>
              </p:nvSpPr>
              <p:spPr>
                <a:xfrm>
                  <a:off x="5234492" y="4495811"/>
                  <a:ext cx="2628502" cy="2003214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Rectangle 73"/>
                <p:cNvSpPr/>
                <p:nvPr/>
              </p:nvSpPr>
              <p:spPr>
                <a:xfrm>
                  <a:off x="2683009" y="5412098"/>
                  <a:ext cx="2572309" cy="145361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0"/>
                        <a:lumOff val="100000"/>
                      </a:schemeClr>
                    </a:gs>
                    <a:gs pos="35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10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d-ID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36" name="Group 9"/>
                <p:cNvGrpSpPr/>
                <p:nvPr/>
              </p:nvGrpSpPr>
              <p:grpSpPr>
                <a:xfrm>
                  <a:off x="1741171" y="5032199"/>
                  <a:ext cx="3521682" cy="1833517"/>
                  <a:chOff x="1741171" y="5032199"/>
                  <a:chExt cx="3521682" cy="1833517"/>
                </a:xfrm>
              </p:grpSpPr>
              <p:sp>
                <p:nvSpPr>
                  <p:cNvPr id="92" name="Round Single Corner Rectangle 11"/>
                  <p:cNvSpPr/>
                  <p:nvPr/>
                </p:nvSpPr>
                <p:spPr>
                  <a:xfrm flipH="1">
                    <a:off x="1741172" y="5032199"/>
                    <a:ext cx="949686" cy="913713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3" name="Rectangle 12"/>
                  <p:cNvSpPr/>
                  <p:nvPr/>
                </p:nvSpPr>
                <p:spPr>
                  <a:xfrm rot="5400000">
                    <a:off x="1751381" y="5934080"/>
                    <a:ext cx="921426" cy="941845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4" name="Rectangle 13"/>
                  <p:cNvSpPr/>
                  <p:nvPr/>
                </p:nvSpPr>
                <p:spPr>
                  <a:xfrm rot="5400000">
                    <a:off x="3070516" y="4657687"/>
                    <a:ext cx="913709" cy="167302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5" name="Round Single Corner Rectangle 10"/>
                  <p:cNvSpPr/>
                  <p:nvPr/>
                </p:nvSpPr>
                <p:spPr>
                  <a:xfrm flipV="1">
                    <a:off x="4349143" y="5037344"/>
                    <a:ext cx="913710" cy="911140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7" name="Group 14"/>
                <p:cNvGrpSpPr/>
                <p:nvPr/>
              </p:nvGrpSpPr>
              <p:grpSpPr>
                <a:xfrm>
                  <a:off x="4349143" y="4118490"/>
                  <a:ext cx="3513851" cy="916281"/>
                  <a:chOff x="4349143" y="4118490"/>
                  <a:chExt cx="3513851" cy="916281"/>
                </a:xfrm>
              </p:grpSpPr>
              <p:sp>
                <p:nvSpPr>
                  <p:cNvPr id="89" name="Round Single Corner Rectangle 15"/>
                  <p:cNvSpPr/>
                  <p:nvPr/>
                </p:nvSpPr>
                <p:spPr>
                  <a:xfrm flipH="1">
                    <a:off x="4349143" y="4126204"/>
                    <a:ext cx="913710" cy="908567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0" name="Round Single Corner Rectangle 16"/>
                  <p:cNvSpPr/>
                  <p:nvPr/>
                </p:nvSpPr>
                <p:spPr>
                  <a:xfrm flipV="1">
                    <a:off x="6949284" y="4121059"/>
                    <a:ext cx="913710" cy="911140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91" name="Rectangle 17"/>
                  <p:cNvSpPr/>
                  <p:nvPr/>
                </p:nvSpPr>
                <p:spPr>
                  <a:xfrm rot="5400000">
                    <a:off x="5653585" y="3727757"/>
                    <a:ext cx="913710" cy="1695175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8" name="Group 18"/>
                <p:cNvGrpSpPr/>
                <p:nvPr/>
              </p:nvGrpSpPr>
              <p:grpSpPr>
                <a:xfrm>
                  <a:off x="6970401" y="3202285"/>
                  <a:ext cx="3507111" cy="918773"/>
                  <a:chOff x="6970401" y="3202285"/>
                  <a:chExt cx="3507111" cy="918773"/>
                </a:xfrm>
              </p:grpSpPr>
              <p:sp>
                <p:nvSpPr>
                  <p:cNvPr id="86" name="Round Single Corner Rectangle 19"/>
                  <p:cNvSpPr/>
                  <p:nvPr/>
                </p:nvSpPr>
                <p:spPr>
                  <a:xfrm flipH="1">
                    <a:off x="6970401" y="3212491"/>
                    <a:ext cx="913710" cy="908567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7" name="Round Single Corner Rectangle 20"/>
                  <p:cNvSpPr/>
                  <p:nvPr/>
                </p:nvSpPr>
                <p:spPr>
                  <a:xfrm flipV="1">
                    <a:off x="9563802" y="3209918"/>
                    <a:ext cx="913710" cy="911140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8" name="Rectangle 21"/>
                  <p:cNvSpPr/>
                  <p:nvPr/>
                </p:nvSpPr>
                <p:spPr>
                  <a:xfrm rot="5400000">
                    <a:off x="8274844" y="2811552"/>
                    <a:ext cx="913710" cy="1695175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9" name="Group 22"/>
                <p:cNvGrpSpPr/>
                <p:nvPr/>
              </p:nvGrpSpPr>
              <p:grpSpPr>
                <a:xfrm>
                  <a:off x="9563802" y="2301350"/>
                  <a:ext cx="2988384" cy="913711"/>
                  <a:chOff x="9563802" y="2301350"/>
                  <a:chExt cx="2988384" cy="913711"/>
                </a:xfrm>
              </p:grpSpPr>
              <p:sp>
                <p:nvSpPr>
                  <p:cNvPr id="84" name="Round Single Corner Rectangle 23"/>
                  <p:cNvSpPr/>
                  <p:nvPr/>
                </p:nvSpPr>
                <p:spPr>
                  <a:xfrm flipH="1">
                    <a:off x="9563802" y="2301350"/>
                    <a:ext cx="913710" cy="908567"/>
                  </a:xfrm>
                  <a:prstGeom prst="round1Rect">
                    <a:avLst>
                      <a:gd name="adj" fmla="val 50000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85" name="Rectangle 24"/>
                  <p:cNvSpPr/>
                  <p:nvPr/>
                </p:nvSpPr>
                <p:spPr>
                  <a:xfrm rot="5400000">
                    <a:off x="11057993" y="1720868"/>
                    <a:ext cx="913709" cy="207467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" name="Group 25"/>
                <p:cNvGrpSpPr/>
                <p:nvPr/>
              </p:nvGrpSpPr>
              <p:grpSpPr>
                <a:xfrm>
                  <a:off x="1044951" y="3861925"/>
                  <a:ext cx="2053642" cy="978009"/>
                  <a:chOff x="5209593" y="1671344"/>
                  <a:chExt cx="658283" cy="244541"/>
                </a:xfrm>
              </p:grpSpPr>
              <p:cxnSp>
                <p:nvCxnSpPr>
                  <p:cNvPr id="82" name="Straight Connector 26"/>
                  <p:cNvCxnSpPr/>
                  <p:nvPr/>
                </p:nvCxnSpPr>
                <p:spPr>
                  <a:xfrm flipH="1">
                    <a:off x="5209593" y="1671344"/>
                    <a:ext cx="653391" cy="0"/>
                  </a:xfrm>
                  <a:prstGeom prst="line">
                    <a:avLst/>
                  </a:prstGeom>
                  <a:ln w="12700">
                    <a:solidFill>
                      <a:schemeClr val="accent2">
                        <a:lumMod val="75000"/>
                      </a:schemeClr>
                    </a:solidFill>
                    <a:prstDash val="sysDash"/>
                    <a:headEnd type="none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27"/>
                  <p:cNvCxnSpPr/>
                  <p:nvPr/>
                </p:nvCxnSpPr>
                <p:spPr>
                  <a:xfrm>
                    <a:off x="5867876" y="1671344"/>
                    <a:ext cx="0" cy="244541"/>
                  </a:xfrm>
                  <a:prstGeom prst="line">
                    <a:avLst/>
                  </a:prstGeom>
                  <a:ln w="12700">
                    <a:solidFill>
                      <a:schemeClr val="accent2">
                        <a:lumMod val="75000"/>
                      </a:schemeClr>
                    </a:solidFill>
                    <a:prstDash val="sysDash"/>
                    <a:tailEnd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" name="Group 28"/>
                <p:cNvGrpSpPr/>
                <p:nvPr/>
              </p:nvGrpSpPr>
              <p:grpSpPr>
                <a:xfrm>
                  <a:off x="3616012" y="2988539"/>
                  <a:ext cx="2053642" cy="936759"/>
                  <a:chOff x="5209593" y="1548441"/>
                  <a:chExt cx="658283" cy="234227"/>
                </a:xfrm>
              </p:grpSpPr>
              <p:cxnSp>
                <p:nvCxnSpPr>
                  <p:cNvPr id="80" name="Straight Connector 29"/>
                  <p:cNvCxnSpPr/>
                  <p:nvPr/>
                </p:nvCxnSpPr>
                <p:spPr>
                  <a:xfrm flipH="1">
                    <a:off x="5209593" y="1548441"/>
                    <a:ext cx="653391" cy="0"/>
                  </a:xfrm>
                  <a:prstGeom prst="line">
                    <a:avLst/>
                  </a:prstGeom>
                  <a:ln w="12700">
                    <a:solidFill>
                      <a:srgbClr val="7C7C7C"/>
                    </a:solidFill>
                    <a:prstDash val="sysDash"/>
                    <a:headEnd type="none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30"/>
                  <p:cNvCxnSpPr/>
                  <p:nvPr/>
                </p:nvCxnSpPr>
                <p:spPr>
                  <a:xfrm>
                    <a:off x="5867876" y="1549469"/>
                    <a:ext cx="0" cy="233199"/>
                  </a:xfrm>
                  <a:prstGeom prst="line">
                    <a:avLst/>
                  </a:prstGeom>
                  <a:ln w="12700">
                    <a:solidFill>
                      <a:srgbClr val="7C7C7C"/>
                    </a:solidFill>
                    <a:prstDash val="sysDash"/>
                    <a:tailEnd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" name="Group 31"/>
                <p:cNvGrpSpPr/>
                <p:nvPr/>
              </p:nvGrpSpPr>
              <p:grpSpPr>
                <a:xfrm>
                  <a:off x="6246052" y="2100960"/>
                  <a:ext cx="2053642" cy="936759"/>
                  <a:chOff x="5209593" y="1548441"/>
                  <a:chExt cx="658283" cy="234227"/>
                </a:xfrm>
              </p:grpSpPr>
              <p:cxnSp>
                <p:nvCxnSpPr>
                  <p:cNvPr id="78" name="Straight Connector 32"/>
                  <p:cNvCxnSpPr/>
                  <p:nvPr/>
                </p:nvCxnSpPr>
                <p:spPr>
                  <a:xfrm flipH="1">
                    <a:off x="5209593" y="1548441"/>
                    <a:ext cx="653391" cy="0"/>
                  </a:xfrm>
                  <a:prstGeom prst="line">
                    <a:avLst/>
                  </a:prstGeom>
                  <a:ln w="12700">
                    <a:solidFill>
                      <a:srgbClr val="BF9000"/>
                    </a:solidFill>
                    <a:prstDash val="sysDash"/>
                    <a:headEnd type="none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33"/>
                  <p:cNvCxnSpPr/>
                  <p:nvPr/>
                </p:nvCxnSpPr>
                <p:spPr>
                  <a:xfrm>
                    <a:off x="5867876" y="1549469"/>
                    <a:ext cx="0" cy="233199"/>
                  </a:xfrm>
                  <a:prstGeom prst="line">
                    <a:avLst/>
                  </a:prstGeom>
                  <a:ln w="12700">
                    <a:solidFill>
                      <a:srgbClr val="BF9000"/>
                    </a:solidFill>
                    <a:prstDash val="sysDash"/>
                    <a:tailEnd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3" name="Group 34"/>
                <p:cNvGrpSpPr/>
                <p:nvPr/>
              </p:nvGrpSpPr>
              <p:grpSpPr>
                <a:xfrm>
                  <a:off x="8850819" y="1220922"/>
                  <a:ext cx="2053642" cy="936759"/>
                  <a:chOff x="5209593" y="1548441"/>
                  <a:chExt cx="658283" cy="234227"/>
                </a:xfrm>
              </p:grpSpPr>
              <p:cxnSp>
                <p:nvCxnSpPr>
                  <p:cNvPr id="76" name="Straight Connector 35"/>
                  <p:cNvCxnSpPr/>
                  <p:nvPr/>
                </p:nvCxnSpPr>
                <p:spPr>
                  <a:xfrm flipH="1">
                    <a:off x="5209593" y="1548441"/>
                    <a:ext cx="653391" cy="0"/>
                  </a:xfrm>
                  <a:prstGeom prst="line">
                    <a:avLst/>
                  </a:prstGeom>
                  <a:ln w="12700">
                    <a:solidFill>
                      <a:srgbClr val="2F5597"/>
                    </a:solidFill>
                    <a:prstDash val="sysDash"/>
                    <a:headEnd type="none"/>
                    <a:tailEnd type="oval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36"/>
                  <p:cNvCxnSpPr/>
                  <p:nvPr/>
                </p:nvCxnSpPr>
                <p:spPr>
                  <a:xfrm>
                    <a:off x="5867876" y="1549469"/>
                    <a:ext cx="0" cy="233199"/>
                  </a:xfrm>
                  <a:prstGeom prst="line">
                    <a:avLst/>
                  </a:prstGeom>
                  <a:ln w="12700">
                    <a:solidFill>
                      <a:srgbClr val="2F5597"/>
                    </a:solidFill>
                    <a:prstDash val="sysDash"/>
                    <a:tailEnd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" name="Title 13"/>
                <p:cNvSpPr txBox="1"/>
                <p:nvPr/>
              </p:nvSpPr>
              <p:spPr>
                <a:xfrm>
                  <a:off x="1229222" y="4077958"/>
                  <a:ext cx="1802657" cy="76889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spcBef>
                      <a:spcPct val="0"/>
                    </a:spcBef>
                    <a:buNone/>
                    <a:defRPr sz="3200" b="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ource Sans Pro Light" pitchFamily="34" charset="0"/>
                      <a:ea typeface="+mj-ea"/>
                      <a:cs typeface="+mj-cs"/>
                    </a:defRPr>
                  </a:lvl1pPr>
                </a:lstStyle>
                <a:p>
                  <a:pPr algn="r"/>
                  <a:r>
                    <a:rPr lang="zh-CN" altLang="en-US" sz="1400" dirty="0">
                      <a:solidFill>
                        <a:srgbClr val="C55A1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模拟平台教学</a:t>
                  </a:r>
                  <a:endParaRPr lang="zh-CN" altLang="en-US" sz="14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zh-CN" altLang="en-US" sz="1400" dirty="0">
                      <a:solidFill>
                        <a:srgbClr val="C55A1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线上免费体验</a:t>
                  </a:r>
                  <a:endParaRPr lang="zh-CN" altLang="en-US" sz="14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en-US" altLang="zh-CN" sz="1400" dirty="0">
                      <a:solidFill>
                        <a:srgbClr val="C55A1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…</a:t>
                  </a:r>
                  <a:endParaRPr lang="en-US" altLang="zh-CN" sz="14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" name="Title 13"/>
                <p:cNvSpPr txBox="1"/>
                <p:nvPr/>
              </p:nvSpPr>
              <p:spPr>
                <a:xfrm>
                  <a:off x="3791276" y="3197105"/>
                  <a:ext cx="1802657" cy="76889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spcBef>
                      <a:spcPct val="0"/>
                    </a:spcBef>
                    <a:buNone/>
                    <a:defRPr sz="3200" b="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ource Sans Pro Light" pitchFamily="34" charset="0"/>
                      <a:ea typeface="+mj-ea"/>
                      <a:cs typeface="+mj-cs"/>
                    </a:defRPr>
                  </a:lvl1pPr>
                </a:lstStyle>
                <a:p>
                  <a:pPr algn="r"/>
                  <a:r>
                    <a:rPr lang="zh-CN" altLang="en-US" sz="1400" dirty="0">
                      <a:solidFill>
                        <a:srgbClr val="7C7C7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线下体验店推广</a:t>
                  </a:r>
                  <a:endParaRPr lang="zh-CN" altLang="en-US" sz="1400" dirty="0">
                    <a:solidFill>
                      <a:srgbClr val="7C7C7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zh-CN" altLang="en-US" sz="1400" dirty="0">
                      <a:solidFill>
                        <a:srgbClr val="7C7C7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线上互动社区</a:t>
                  </a:r>
                  <a:endParaRPr lang="zh-CN" altLang="en-US" sz="1400" dirty="0">
                    <a:solidFill>
                      <a:srgbClr val="7C7C7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en-US" altLang="zh-CN" sz="1400" dirty="0">
                      <a:solidFill>
                        <a:srgbClr val="7C7C7C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…</a:t>
                  </a:r>
                  <a:endParaRPr lang="en-US" altLang="zh-CN" sz="1400" dirty="0">
                    <a:solidFill>
                      <a:srgbClr val="7C7C7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" name="Title 13"/>
                <p:cNvSpPr txBox="1"/>
                <p:nvPr/>
              </p:nvSpPr>
              <p:spPr>
                <a:xfrm>
                  <a:off x="6448801" y="2289802"/>
                  <a:ext cx="1802657" cy="76889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spcBef>
                      <a:spcPct val="0"/>
                    </a:spcBef>
                    <a:buNone/>
                    <a:defRPr sz="3200" b="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ource Sans Pro Light" pitchFamily="34" charset="0"/>
                      <a:ea typeface="+mj-ea"/>
                      <a:cs typeface="+mj-cs"/>
                    </a:defRPr>
                  </a:lvl1pPr>
                </a:lstStyle>
                <a:p>
                  <a:pPr algn="r"/>
                  <a:r>
                    <a:rPr lang="zh-CN" altLang="en-US" sz="1400" dirty="0">
                      <a:solidFill>
                        <a:srgbClr val="BF9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实时客服支持</a:t>
                  </a:r>
                  <a:endParaRPr lang="zh-CN" altLang="en-US" sz="1400" dirty="0">
                    <a:solidFill>
                      <a:srgbClr val="BF9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zh-CN" altLang="en-US" sz="1400" dirty="0">
                      <a:solidFill>
                        <a:srgbClr val="BF9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用户反馈改进</a:t>
                  </a:r>
                  <a:endParaRPr lang="zh-CN" altLang="en-US" sz="1400" dirty="0">
                    <a:solidFill>
                      <a:srgbClr val="BF9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en-US" altLang="zh-CN" sz="1400" dirty="0">
                      <a:solidFill>
                        <a:srgbClr val="BF9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…</a:t>
                  </a:r>
                  <a:endParaRPr lang="en-US" altLang="zh-CN" sz="1400" dirty="0">
                    <a:solidFill>
                      <a:srgbClr val="BF9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Title 13"/>
                <p:cNvSpPr txBox="1"/>
                <p:nvPr/>
              </p:nvSpPr>
              <p:spPr>
                <a:xfrm>
                  <a:off x="8820981" y="1400414"/>
                  <a:ext cx="2005403" cy="76889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spcBef>
                      <a:spcPct val="0"/>
                    </a:spcBef>
                    <a:buNone/>
                    <a:defRPr sz="3200" b="0" kern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ource Sans Pro Light" pitchFamily="34" charset="0"/>
                      <a:ea typeface="+mj-ea"/>
                      <a:cs typeface="+mj-cs"/>
                    </a:defRPr>
                  </a:lvl1pPr>
                </a:lstStyle>
                <a:p>
                  <a:pPr algn="r"/>
                  <a:r>
                    <a:rPr lang="en-US" altLang="zh-CN" sz="1400" dirty="0">
                      <a:solidFill>
                        <a:srgbClr val="2F5597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XR</a:t>
                  </a:r>
                  <a:r>
                    <a:rPr lang="zh-CN" altLang="en-US" sz="1400" dirty="0">
                      <a:solidFill>
                        <a:srgbClr val="2F5597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设备厂商联动</a:t>
                  </a:r>
                  <a:endParaRPr lang="zh-CN" altLang="en-US" sz="1400" dirty="0">
                    <a:solidFill>
                      <a:srgbClr val="2F55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zh-CN" altLang="en-US" sz="1400" dirty="0">
                      <a:solidFill>
                        <a:srgbClr val="2F5597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赛事教学课程引入</a:t>
                  </a:r>
                  <a:endParaRPr lang="zh-CN" altLang="en-US" sz="1400" dirty="0">
                    <a:solidFill>
                      <a:srgbClr val="2F55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r"/>
                  <a:r>
                    <a:rPr lang="en-US" altLang="zh-CN" sz="1400" dirty="0">
                      <a:solidFill>
                        <a:srgbClr val="2F5597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…</a:t>
                  </a:r>
                  <a:endParaRPr lang="en-US" altLang="zh-CN" sz="1400" dirty="0">
                    <a:solidFill>
                      <a:srgbClr val="2F55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48" name="Group 45"/>
                <p:cNvGrpSpPr/>
                <p:nvPr/>
              </p:nvGrpSpPr>
              <p:grpSpPr>
                <a:xfrm>
                  <a:off x="2651857" y="4910733"/>
                  <a:ext cx="1594272" cy="1573786"/>
                  <a:chOff x="2651856" y="4910733"/>
                  <a:chExt cx="1594272" cy="1573786"/>
                </a:xfrm>
              </p:grpSpPr>
              <p:grpSp>
                <p:nvGrpSpPr>
                  <p:cNvPr id="70" name="Group 46"/>
                  <p:cNvGrpSpPr/>
                  <p:nvPr/>
                </p:nvGrpSpPr>
                <p:grpSpPr>
                  <a:xfrm rot="16200000">
                    <a:off x="2662099" y="4900490"/>
                    <a:ext cx="1573786" cy="1594272"/>
                    <a:chOff x="377737" y="2640814"/>
                    <a:chExt cx="1573786" cy="1594272"/>
                  </a:xfrm>
                  <a:solidFill>
                    <a:schemeClr val="accent1">
                      <a:lumMod val="50000"/>
                    </a:schemeClr>
                  </a:solidFill>
                </p:grpSpPr>
                <p:sp>
                  <p:nvSpPr>
                    <p:cNvPr id="74" name="Rectangle 50"/>
                    <p:cNvSpPr/>
                    <p:nvPr/>
                  </p:nvSpPr>
                  <p:spPr>
                    <a:xfrm>
                      <a:off x="377737" y="2640814"/>
                      <a:ext cx="1453617" cy="1594272"/>
                    </a:xfrm>
                    <a:prstGeom prst="rect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75" name="Isosceles Triangle 51"/>
                    <p:cNvSpPr/>
                    <p:nvPr/>
                  </p:nvSpPr>
                  <p:spPr>
                    <a:xfrm rot="5400000">
                      <a:off x="1785948" y="3035711"/>
                      <a:ext cx="208428" cy="122723"/>
                    </a:xfrm>
                    <a:prstGeom prst="triangle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71" name="Group 47"/>
                  <p:cNvGrpSpPr/>
                  <p:nvPr/>
                </p:nvGrpSpPr>
                <p:grpSpPr>
                  <a:xfrm>
                    <a:off x="2962226" y="5246154"/>
                    <a:ext cx="1044430" cy="1166230"/>
                    <a:chOff x="1231028" y="2850688"/>
                    <a:chExt cx="1044430" cy="1166230"/>
                  </a:xfrm>
                </p:grpSpPr>
                <p:sp>
                  <p:nvSpPr>
                    <p:cNvPr id="72" name="Freeform 16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590388" y="2850688"/>
                      <a:ext cx="325709" cy="326475"/>
                    </a:xfrm>
                    <a:custGeom>
                      <a:avLst/>
                      <a:gdLst>
                        <a:gd name="T0" fmla="*/ 136 w 360"/>
                        <a:gd name="T1" fmla="*/ 226 h 361"/>
                        <a:gd name="T2" fmla="*/ 56 w 360"/>
                        <a:gd name="T3" fmla="*/ 194 h 361"/>
                        <a:gd name="T4" fmla="*/ 56 w 360"/>
                        <a:gd name="T5" fmla="*/ 221 h 361"/>
                        <a:gd name="T6" fmla="*/ 136 w 360"/>
                        <a:gd name="T7" fmla="*/ 253 h 361"/>
                        <a:gd name="T8" fmla="*/ 136 w 360"/>
                        <a:gd name="T9" fmla="*/ 226 h 361"/>
                        <a:gd name="T10" fmla="*/ 136 w 360"/>
                        <a:gd name="T11" fmla="*/ 143 h 361"/>
                        <a:gd name="T12" fmla="*/ 56 w 360"/>
                        <a:gd name="T13" fmla="*/ 111 h 361"/>
                        <a:gd name="T14" fmla="*/ 56 w 360"/>
                        <a:gd name="T15" fmla="*/ 138 h 361"/>
                        <a:gd name="T16" fmla="*/ 136 w 360"/>
                        <a:gd name="T17" fmla="*/ 170 h 361"/>
                        <a:gd name="T18" fmla="*/ 136 w 360"/>
                        <a:gd name="T19" fmla="*/ 143 h 361"/>
                        <a:gd name="T20" fmla="*/ 351 w 360"/>
                        <a:gd name="T21" fmla="*/ 4 h 361"/>
                        <a:gd name="T22" fmla="*/ 332 w 360"/>
                        <a:gd name="T23" fmla="*/ 2 h 361"/>
                        <a:gd name="T24" fmla="*/ 180 w 360"/>
                        <a:gd name="T25" fmla="*/ 63 h 361"/>
                        <a:gd name="T26" fmla="*/ 27 w 360"/>
                        <a:gd name="T27" fmla="*/ 2 h 361"/>
                        <a:gd name="T28" fmla="*/ 8 w 360"/>
                        <a:gd name="T29" fmla="*/ 4 h 361"/>
                        <a:gd name="T30" fmla="*/ 0 w 360"/>
                        <a:gd name="T31" fmla="*/ 21 h 361"/>
                        <a:gd name="T32" fmla="*/ 0 w 360"/>
                        <a:gd name="T33" fmla="*/ 277 h 361"/>
                        <a:gd name="T34" fmla="*/ 12 w 360"/>
                        <a:gd name="T35" fmla="*/ 295 h 361"/>
                        <a:gd name="T36" fmla="*/ 172 w 360"/>
                        <a:gd name="T37" fmla="*/ 359 h 361"/>
                        <a:gd name="T38" fmla="*/ 176 w 360"/>
                        <a:gd name="T39" fmla="*/ 361 h 361"/>
                        <a:gd name="T40" fmla="*/ 180 w 360"/>
                        <a:gd name="T41" fmla="*/ 361 h 361"/>
                        <a:gd name="T42" fmla="*/ 184 w 360"/>
                        <a:gd name="T43" fmla="*/ 361 h 361"/>
                        <a:gd name="T44" fmla="*/ 187 w 360"/>
                        <a:gd name="T45" fmla="*/ 359 h 361"/>
                        <a:gd name="T46" fmla="*/ 347 w 360"/>
                        <a:gd name="T47" fmla="*/ 295 h 361"/>
                        <a:gd name="T48" fmla="*/ 360 w 360"/>
                        <a:gd name="T49" fmla="*/ 277 h 361"/>
                        <a:gd name="T50" fmla="*/ 360 w 360"/>
                        <a:gd name="T51" fmla="*/ 21 h 361"/>
                        <a:gd name="T52" fmla="*/ 351 w 360"/>
                        <a:gd name="T53" fmla="*/ 4 h 361"/>
                        <a:gd name="T54" fmla="*/ 160 w 360"/>
                        <a:gd name="T55" fmla="*/ 320 h 361"/>
                        <a:gd name="T56" fmla="*/ 32 w 360"/>
                        <a:gd name="T57" fmla="*/ 269 h 361"/>
                        <a:gd name="T58" fmla="*/ 32 w 360"/>
                        <a:gd name="T59" fmla="*/ 45 h 361"/>
                        <a:gd name="T60" fmla="*/ 160 w 360"/>
                        <a:gd name="T61" fmla="*/ 96 h 361"/>
                        <a:gd name="T62" fmla="*/ 160 w 360"/>
                        <a:gd name="T63" fmla="*/ 320 h 361"/>
                        <a:gd name="T64" fmla="*/ 328 w 360"/>
                        <a:gd name="T65" fmla="*/ 269 h 361"/>
                        <a:gd name="T66" fmla="*/ 200 w 360"/>
                        <a:gd name="T67" fmla="*/ 320 h 361"/>
                        <a:gd name="T68" fmla="*/ 200 w 360"/>
                        <a:gd name="T69" fmla="*/ 96 h 361"/>
                        <a:gd name="T70" fmla="*/ 328 w 360"/>
                        <a:gd name="T71" fmla="*/ 45 h 361"/>
                        <a:gd name="T72" fmla="*/ 328 w 360"/>
                        <a:gd name="T73" fmla="*/ 269 h 361"/>
                        <a:gd name="T74" fmla="*/ 304 w 360"/>
                        <a:gd name="T75" fmla="*/ 194 h 361"/>
                        <a:gd name="T76" fmla="*/ 224 w 360"/>
                        <a:gd name="T77" fmla="*/ 226 h 361"/>
                        <a:gd name="T78" fmla="*/ 224 w 360"/>
                        <a:gd name="T79" fmla="*/ 253 h 361"/>
                        <a:gd name="T80" fmla="*/ 304 w 360"/>
                        <a:gd name="T81" fmla="*/ 221 h 361"/>
                        <a:gd name="T82" fmla="*/ 304 w 360"/>
                        <a:gd name="T83" fmla="*/ 194 h 361"/>
                        <a:gd name="T84" fmla="*/ 304 w 360"/>
                        <a:gd name="T85" fmla="*/ 111 h 361"/>
                        <a:gd name="T86" fmla="*/ 224 w 360"/>
                        <a:gd name="T87" fmla="*/ 143 h 361"/>
                        <a:gd name="T88" fmla="*/ 224 w 360"/>
                        <a:gd name="T89" fmla="*/ 170 h 361"/>
                        <a:gd name="T90" fmla="*/ 304 w 360"/>
                        <a:gd name="T91" fmla="*/ 138 h 361"/>
                        <a:gd name="T92" fmla="*/ 304 w 360"/>
                        <a:gd name="T93" fmla="*/ 111 h 3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</a:cxnLst>
                      <a:rect l="0" t="0" r="r" b="b"/>
                      <a:pathLst>
                        <a:path w="360" h="361">
                          <a:moveTo>
                            <a:pt x="136" y="226"/>
                          </a:moveTo>
                          <a:cubicBezTo>
                            <a:pt x="56" y="194"/>
                            <a:pt x="56" y="194"/>
                            <a:pt x="56" y="194"/>
                          </a:cubicBezTo>
                          <a:cubicBezTo>
                            <a:pt x="56" y="221"/>
                            <a:pt x="56" y="221"/>
                            <a:pt x="56" y="221"/>
                          </a:cubicBezTo>
                          <a:cubicBezTo>
                            <a:pt x="136" y="253"/>
                            <a:pt x="136" y="253"/>
                            <a:pt x="136" y="253"/>
                          </a:cubicBezTo>
                          <a:lnTo>
                            <a:pt x="136" y="226"/>
                          </a:lnTo>
                          <a:close/>
                          <a:moveTo>
                            <a:pt x="136" y="143"/>
                          </a:moveTo>
                          <a:cubicBezTo>
                            <a:pt x="56" y="111"/>
                            <a:pt x="56" y="111"/>
                            <a:pt x="56" y="111"/>
                          </a:cubicBezTo>
                          <a:cubicBezTo>
                            <a:pt x="56" y="138"/>
                            <a:pt x="56" y="138"/>
                            <a:pt x="56" y="138"/>
                          </a:cubicBezTo>
                          <a:cubicBezTo>
                            <a:pt x="136" y="170"/>
                            <a:pt x="136" y="170"/>
                            <a:pt x="136" y="170"/>
                          </a:cubicBezTo>
                          <a:lnTo>
                            <a:pt x="136" y="143"/>
                          </a:lnTo>
                          <a:close/>
                          <a:moveTo>
                            <a:pt x="351" y="4"/>
                          </a:moveTo>
                          <a:cubicBezTo>
                            <a:pt x="345" y="1"/>
                            <a:pt x="338" y="0"/>
                            <a:pt x="332" y="2"/>
                          </a:cubicBezTo>
                          <a:cubicBezTo>
                            <a:pt x="180" y="63"/>
                            <a:pt x="180" y="63"/>
                            <a:pt x="180" y="63"/>
                          </a:cubicBezTo>
                          <a:cubicBezTo>
                            <a:pt x="27" y="2"/>
                            <a:pt x="27" y="2"/>
                            <a:pt x="27" y="2"/>
                          </a:cubicBezTo>
                          <a:cubicBezTo>
                            <a:pt x="21" y="0"/>
                            <a:pt x="14" y="1"/>
                            <a:pt x="8" y="4"/>
                          </a:cubicBezTo>
                          <a:cubicBezTo>
                            <a:pt x="3" y="8"/>
                            <a:pt x="0" y="14"/>
                            <a:pt x="0" y="21"/>
                          </a:cubicBezTo>
                          <a:cubicBezTo>
                            <a:pt x="0" y="277"/>
                            <a:pt x="0" y="277"/>
                            <a:pt x="0" y="277"/>
                          </a:cubicBezTo>
                          <a:cubicBezTo>
                            <a:pt x="0" y="285"/>
                            <a:pt x="5" y="292"/>
                            <a:pt x="12" y="295"/>
                          </a:cubicBezTo>
                          <a:cubicBezTo>
                            <a:pt x="172" y="359"/>
                            <a:pt x="172" y="359"/>
                            <a:pt x="172" y="359"/>
                          </a:cubicBezTo>
                          <a:cubicBezTo>
                            <a:pt x="172" y="359"/>
                            <a:pt x="175" y="360"/>
                            <a:pt x="176" y="361"/>
                          </a:cubicBezTo>
                          <a:cubicBezTo>
                            <a:pt x="177" y="361"/>
                            <a:pt x="178" y="361"/>
                            <a:pt x="180" y="361"/>
                          </a:cubicBezTo>
                          <a:cubicBezTo>
                            <a:pt x="181" y="361"/>
                            <a:pt x="182" y="361"/>
                            <a:pt x="184" y="361"/>
                          </a:cubicBezTo>
                          <a:cubicBezTo>
                            <a:pt x="184" y="360"/>
                            <a:pt x="187" y="359"/>
                            <a:pt x="187" y="359"/>
                          </a:cubicBezTo>
                          <a:cubicBezTo>
                            <a:pt x="347" y="295"/>
                            <a:pt x="347" y="295"/>
                            <a:pt x="347" y="295"/>
                          </a:cubicBezTo>
                          <a:cubicBezTo>
                            <a:pt x="355" y="292"/>
                            <a:pt x="360" y="285"/>
                            <a:pt x="360" y="277"/>
                          </a:cubicBezTo>
                          <a:cubicBezTo>
                            <a:pt x="360" y="21"/>
                            <a:pt x="360" y="21"/>
                            <a:pt x="360" y="21"/>
                          </a:cubicBezTo>
                          <a:cubicBezTo>
                            <a:pt x="360" y="14"/>
                            <a:pt x="356" y="8"/>
                            <a:pt x="351" y="4"/>
                          </a:cubicBezTo>
                          <a:close/>
                          <a:moveTo>
                            <a:pt x="160" y="320"/>
                          </a:moveTo>
                          <a:cubicBezTo>
                            <a:pt x="32" y="269"/>
                            <a:pt x="32" y="269"/>
                            <a:pt x="32" y="269"/>
                          </a:cubicBez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160" y="96"/>
                            <a:pt x="160" y="96"/>
                            <a:pt x="160" y="96"/>
                          </a:cubicBezTo>
                          <a:lnTo>
                            <a:pt x="160" y="320"/>
                          </a:lnTo>
                          <a:close/>
                          <a:moveTo>
                            <a:pt x="328" y="269"/>
                          </a:moveTo>
                          <a:cubicBezTo>
                            <a:pt x="200" y="320"/>
                            <a:pt x="200" y="320"/>
                            <a:pt x="200" y="320"/>
                          </a:cubicBezTo>
                          <a:cubicBezTo>
                            <a:pt x="200" y="96"/>
                            <a:pt x="200" y="96"/>
                            <a:pt x="200" y="96"/>
                          </a:cubicBezTo>
                          <a:cubicBezTo>
                            <a:pt x="328" y="45"/>
                            <a:pt x="328" y="45"/>
                            <a:pt x="328" y="45"/>
                          </a:cubicBezTo>
                          <a:lnTo>
                            <a:pt x="328" y="269"/>
                          </a:lnTo>
                          <a:close/>
                          <a:moveTo>
                            <a:pt x="304" y="194"/>
                          </a:moveTo>
                          <a:cubicBezTo>
                            <a:pt x="224" y="226"/>
                            <a:pt x="224" y="226"/>
                            <a:pt x="224" y="226"/>
                          </a:cubicBezTo>
                          <a:cubicBezTo>
                            <a:pt x="224" y="253"/>
                            <a:pt x="224" y="253"/>
                            <a:pt x="224" y="253"/>
                          </a:cubicBezTo>
                          <a:cubicBezTo>
                            <a:pt x="304" y="221"/>
                            <a:pt x="304" y="221"/>
                            <a:pt x="304" y="221"/>
                          </a:cubicBezTo>
                          <a:lnTo>
                            <a:pt x="304" y="194"/>
                          </a:lnTo>
                          <a:close/>
                          <a:moveTo>
                            <a:pt x="304" y="111"/>
                          </a:moveTo>
                          <a:cubicBezTo>
                            <a:pt x="224" y="143"/>
                            <a:pt x="224" y="143"/>
                            <a:pt x="224" y="143"/>
                          </a:cubicBezTo>
                          <a:cubicBezTo>
                            <a:pt x="224" y="170"/>
                            <a:pt x="224" y="170"/>
                            <a:pt x="224" y="170"/>
                          </a:cubicBezTo>
                          <a:cubicBezTo>
                            <a:pt x="304" y="138"/>
                            <a:pt x="304" y="138"/>
                            <a:pt x="304" y="138"/>
                          </a:cubicBezTo>
                          <a:lnTo>
                            <a:pt x="304" y="111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73" name="Rectangle 14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31028" y="3177160"/>
                      <a:ext cx="1044430" cy="8397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sp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加强宣传</a:t>
                      </a:r>
                      <a:endParaRPr lang="en-US" altLang="zh-CN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发掘用户</a:t>
                      </a:r>
                      <a:endPara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49" name="Group 52"/>
                <p:cNvGrpSpPr/>
                <p:nvPr/>
              </p:nvGrpSpPr>
              <p:grpSpPr>
                <a:xfrm>
                  <a:off x="5232153" y="4027141"/>
                  <a:ext cx="1555816" cy="1545483"/>
                  <a:chOff x="6090284" y="4027141"/>
                  <a:chExt cx="1555816" cy="1545483"/>
                </a:xfrm>
              </p:grpSpPr>
              <p:grpSp>
                <p:nvGrpSpPr>
                  <p:cNvPr id="64" name="Group 53"/>
                  <p:cNvGrpSpPr/>
                  <p:nvPr/>
                </p:nvGrpSpPr>
                <p:grpSpPr>
                  <a:xfrm rot="16200000">
                    <a:off x="6095450" y="4021975"/>
                    <a:ext cx="1545483" cy="1555816"/>
                    <a:chOff x="378492" y="2648800"/>
                    <a:chExt cx="1545483" cy="1555816"/>
                  </a:xfrm>
                  <a:solidFill>
                    <a:schemeClr val="accent6">
                      <a:lumMod val="50000"/>
                    </a:schemeClr>
                  </a:solidFill>
                </p:grpSpPr>
                <p:sp>
                  <p:nvSpPr>
                    <p:cNvPr id="68" name="Rectangle 57"/>
                    <p:cNvSpPr/>
                    <p:nvPr/>
                  </p:nvSpPr>
                  <p:spPr>
                    <a:xfrm>
                      <a:off x="378492" y="2648800"/>
                      <a:ext cx="1446422" cy="1555816"/>
                    </a:xfrm>
                    <a:prstGeom prst="rect">
                      <a:avLst/>
                    </a:prstGeom>
                    <a:solidFill>
                      <a:schemeClr val="accent3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9" name="Isosceles Triangle 58"/>
                    <p:cNvSpPr/>
                    <p:nvPr/>
                  </p:nvSpPr>
                  <p:spPr>
                    <a:xfrm rot="5400000">
                      <a:off x="1758400" y="3037588"/>
                      <a:ext cx="208428" cy="122723"/>
                    </a:xfrm>
                    <a:prstGeom prst="triangle">
                      <a:avLst/>
                    </a:prstGeom>
                    <a:solidFill>
                      <a:schemeClr val="accent3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65" name="Group 54"/>
                  <p:cNvGrpSpPr/>
                  <p:nvPr/>
                </p:nvGrpSpPr>
                <p:grpSpPr>
                  <a:xfrm>
                    <a:off x="6354126" y="4358835"/>
                    <a:ext cx="1044429" cy="1121552"/>
                    <a:chOff x="3018897" y="3740949"/>
                    <a:chExt cx="1044429" cy="1121552"/>
                  </a:xfrm>
                </p:grpSpPr>
                <p:sp>
                  <p:nvSpPr>
                    <p:cNvPr id="66" name="Rectangle 14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18897" y="4022742"/>
                      <a:ext cx="1044429" cy="83975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sp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试用推广</a:t>
                      </a:r>
                      <a:endParaRPr lang="en-US" altLang="zh-CN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扩大影响</a:t>
                      </a:r>
                      <a:endParaRPr kumimoji="0" lang="en-US" altLang="zh-CN" sz="44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7" name="Freeform 36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3288438" y="3740949"/>
                      <a:ext cx="475926" cy="266700"/>
                    </a:xfrm>
                    <a:custGeom>
                      <a:avLst/>
                      <a:gdLst>
                        <a:gd name="T0" fmla="*/ 200 w 400"/>
                        <a:gd name="T1" fmla="*/ 0 h 224"/>
                        <a:gd name="T2" fmla="*/ 0 w 400"/>
                        <a:gd name="T3" fmla="*/ 112 h 224"/>
                        <a:gd name="T4" fmla="*/ 200 w 400"/>
                        <a:gd name="T5" fmla="*/ 224 h 224"/>
                        <a:gd name="T6" fmla="*/ 400 w 400"/>
                        <a:gd name="T7" fmla="*/ 112 h 224"/>
                        <a:gd name="T8" fmla="*/ 200 w 400"/>
                        <a:gd name="T9" fmla="*/ 0 h 224"/>
                        <a:gd name="T10" fmla="*/ 200 w 400"/>
                        <a:gd name="T11" fmla="*/ 198 h 224"/>
                        <a:gd name="T12" fmla="*/ 111 w 400"/>
                        <a:gd name="T13" fmla="*/ 112 h 224"/>
                        <a:gd name="T14" fmla="*/ 200 w 400"/>
                        <a:gd name="T15" fmla="*/ 26 h 224"/>
                        <a:gd name="T16" fmla="*/ 289 w 400"/>
                        <a:gd name="T17" fmla="*/ 112 h 224"/>
                        <a:gd name="T18" fmla="*/ 200 w 400"/>
                        <a:gd name="T19" fmla="*/ 198 h 224"/>
                        <a:gd name="T20" fmla="*/ 200 w 400"/>
                        <a:gd name="T21" fmla="*/ 112 h 224"/>
                        <a:gd name="T22" fmla="*/ 200 w 400"/>
                        <a:gd name="T23" fmla="*/ 69 h 224"/>
                        <a:gd name="T24" fmla="*/ 155 w 400"/>
                        <a:gd name="T25" fmla="*/ 112 h 224"/>
                        <a:gd name="T26" fmla="*/ 200 w 400"/>
                        <a:gd name="T27" fmla="*/ 155 h 224"/>
                        <a:gd name="T28" fmla="*/ 244 w 400"/>
                        <a:gd name="T29" fmla="*/ 112 h 224"/>
                        <a:gd name="T30" fmla="*/ 200 w 400"/>
                        <a:gd name="T31" fmla="*/ 112 h 2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400" h="224">
                          <a:moveTo>
                            <a:pt x="200" y="0"/>
                          </a:moveTo>
                          <a:cubicBezTo>
                            <a:pt x="69" y="0"/>
                            <a:pt x="0" y="97"/>
                            <a:pt x="0" y="112"/>
                          </a:cubicBezTo>
                          <a:cubicBezTo>
                            <a:pt x="0" y="127"/>
                            <a:pt x="69" y="224"/>
                            <a:pt x="200" y="224"/>
                          </a:cubicBezTo>
                          <a:cubicBezTo>
                            <a:pt x="331" y="224"/>
                            <a:pt x="400" y="127"/>
                            <a:pt x="400" y="112"/>
                          </a:cubicBezTo>
                          <a:cubicBezTo>
                            <a:pt x="400" y="97"/>
                            <a:pt x="331" y="0"/>
                            <a:pt x="200" y="0"/>
                          </a:cubicBezTo>
                          <a:close/>
                          <a:moveTo>
                            <a:pt x="200" y="198"/>
                          </a:moveTo>
                          <a:cubicBezTo>
                            <a:pt x="151" y="198"/>
                            <a:pt x="111" y="159"/>
                            <a:pt x="111" y="112"/>
                          </a:cubicBezTo>
                          <a:cubicBezTo>
                            <a:pt x="111" y="64"/>
                            <a:pt x="151" y="26"/>
                            <a:pt x="200" y="26"/>
                          </a:cubicBezTo>
                          <a:cubicBezTo>
                            <a:pt x="249" y="26"/>
                            <a:pt x="289" y="64"/>
                            <a:pt x="289" y="112"/>
                          </a:cubicBezTo>
                          <a:cubicBezTo>
                            <a:pt x="289" y="159"/>
                            <a:pt x="249" y="198"/>
                            <a:pt x="200" y="198"/>
                          </a:cubicBezTo>
                          <a:close/>
                          <a:moveTo>
                            <a:pt x="200" y="112"/>
                          </a:moveTo>
                          <a:cubicBezTo>
                            <a:pt x="192" y="103"/>
                            <a:pt x="213" y="69"/>
                            <a:pt x="200" y="69"/>
                          </a:cubicBezTo>
                          <a:cubicBezTo>
                            <a:pt x="175" y="69"/>
                            <a:pt x="155" y="88"/>
                            <a:pt x="155" y="112"/>
                          </a:cubicBezTo>
                          <a:cubicBezTo>
                            <a:pt x="155" y="136"/>
                            <a:pt x="175" y="155"/>
                            <a:pt x="200" y="155"/>
                          </a:cubicBezTo>
                          <a:cubicBezTo>
                            <a:pt x="224" y="155"/>
                            <a:pt x="244" y="136"/>
                            <a:pt x="244" y="112"/>
                          </a:cubicBezTo>
                          <a:cubicBezTo>
                            <a:pt x="244" y="101"/>
                            <a:pt x="207" y="119"/>
                            <a:pt x="200" y="112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grpSp>
              <p:nvGrpSpPr>
                <p:cNvPr id="50" name="Group 59"/>
                <p:cNvGrpSpPr/>
                <p:nvPr/>
              </p:nvGrpSpPr>
              <p:grpSpPr>
                <a:xfrm>
                  <a:off x="7846548" y="3085882"/>
                  <a:ext cx="1646764" cy="1554746"/>
                  <a:chOff x="8704676" y="3085882"/>
                  <a:chExt cx="1646764" cy="1554746"/>
                </a:xfrm>
              </p:grpSpPr>
              <p:grpSp>
                <p:nvGrpSpPr>
                  <p:cNvPr id="58" name="Group 60"/>
                  <p:cNvGrpSpPr/>
                  <p:nvPr/>
                </p:nvGrpSpPr>
                <p:grpSpPr>
                  <a:xfrm rot="16200000">
                    <a:off x="8750685" y="3039873"/>
                    <a:ext cx="1554746" cy="1646764"/>
                    <a:chOff x="396777" y="2641931"/>
                    <a:chExt cx="1554746" cy="1646764"/>
                  </a:xfrm>
                  <a:solidFill>
                    <a:schemeClr val="accent4">
                      <a:lumMod val="50000"/>
                    </a:schemeClr>
                  </a:solidFill>
                </p:grpSpPr>
                <p:sp>
                  <p:nvSpPr>
                    <p:cNvPr id="62" name="Rectangle 64"/>
                    <p:cNvSpPr/>
                    <p:nvPr/>
                  </p:nvSpPr>
                  <p:spPr>
                    <a:xfrm>
                      <a:off x="396777" y="2641931"/>
                      <a:ext cx="1434613" cy="1646764"/>
                    </a:xfrm>
                    <a:prstGeom prst="rect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63" name="Isosceles Triangle 65"/>
                    <p:cNvSpPr/>
                    <p:nvPr/>
                  </p:nvSpPr>
                  <p:spPr>
                    <a:xfrm rot="5400000">
                      <a:off x="1785948" y="3035711"/>
                      <a:ext cx="208428" cy="122723"/>
                    </a:xfrm>
                    <a:prstGeom prst="triangle">
                      <a:avLst/>
                    </a:prstGeom>
                    <a:solidFill>
                      <a:schemeClr val="accent4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59" name="Group 61"/>
                  <p:cNvGrpSpPr/>
                  <p:nvPr/>
                </p:nvGrpSpPr>
                <p:grpSpPr>
                  <a:xfrm>
                    <a:off x="9012172" y="3408244"/>
                    <a:ext cx="1044430" cy="1187524"/>
                    <a:chOff x="4881710" y="2829373"/>
                    <a:chExt cx="1044430" cy="1187524"/>
                  </a:xfrm>
                </p:grpSpPr>
                <p:sp>
                  <p:nvSpPr>
                    <p:cNvPr id="60" name="Rectangle 14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81710" y="3177139"/>
                      <a:ext cx="1044430" cy="8397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sp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客服平台</a:t>
                      </a:r>
                      <a:endParaRPr kumimoji="0" lang="en-US" altLang="zh-CN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升级体验</a:t>
                      </a:r>
                      <a:endParaRPr kumimoji="0" lang="en-US" sz="44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1" name="Freeform 31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5281671" y="2829373"/>
                      <a:ext cx="244475" cy="333375"/>
                    </a:xfrm>
                    <a:custGeom>
                      <a:avLst/>
                      <a:gdLst>
                        <a:gd name="T0" fmla="*/ 90 w 293"/>
                        <a:gd name="T1" fmla="*/ 383 h 400"/>
                        <a:gd name="T2" fmla="*/ 147 w 293"/>
                        <a:gd name="T3" fmla="*/ 400 h 400"/>
                        <a:gd name="T4" fmla="*/ 203 w 293"/>
                        <a:gd name="T5" fmla="*/ 383 h 400"/>
                        <a:gd name="T6" fmla="*/ 203 w 293"/>
                        <a:gd name="T7" fmla="*/ 342 h 400"/>
                        <a:gd name="T8" fmla="*/ 90 w 293"/>
                        <a:gd name="T9" fmla="*/ 342 h 400"/>
                        <a:gd name="T10" fmla="*/ 90 w 293"/>
                        <a:gd name="T11" fmla="*/ 383 h 400"/>
                        <a:gd name="T12" fmla="*/ 201 w 293"/>
                        <a:gd name="T13" fmla="*/ 318 h 400"/>
                        <a:gd name="T14" fmla="*/ 286 w 293"/>
                        <a:gd name="T15" fmla="*/ 116 h 400"/>
                        <a:gd name="T16" fmla="*/ 147 w 293"/>
                        <a:gd name="T17" fmla="*/ 0 h 400"/>
                        <a:gd name="T18" fmla="*/ 7 w 293"/>
                        <a:gd name="T19" fmla="*/ 116 h 400"/>
                        <a:gd name="T20" fmla="*/ 93 w 293"/>
                        <a:gd name="T21" fmla="*/ 318 h 400"/>
                        <a:gd name="T22" fmla="*/ 201 w 293"/>
                        <a:gd name="T23" fmla="*/ 318 h 400"/>
                        <a:gd name="T24" fmla="*/ 50 w 293"/>
                        <a:gd name="T25" fmla="*/ 119 h 400"/>
                        <a:gd name="T26" fmla="*/ 147 w 293"/>
                        <a:gd name="T27" fmla="*/ 41 h 400"/>
                        <a:gd name="T28" fmla="*/ 244 w 293"/>
                        <a:gd name="T29" fmla="*/ 119 h 400"/>
                        <a:gd name="T30" fmla="*/ 208 w 293"/>
                        <a:gd name="T31" fmla="*/ 198 h 400"/>
                        <a:gd name="T32" fmla="*/ 163 w 293"/>
                        <a:gd name="T33" fmla="*/ 283 h 400"/>
                        <a:gd name="T34" fmla="*/ 130 w 293"/>
                        <a:gd name="T35" fmla="*/ 283 h 400"/>
                        <a:gd name="T36" fmla="*/ 86 w 293"/>
                        <a:gd name="T37" fmla="*/ 198 h 400"/>
                        <a:gd name="T38" fmla="*/ 50 w 293"/>
                        <a:gd name="T39" fmla="*/ 119 h 4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293" h="400">
                          <a:moveTo>
                            <a:pt x="90" y="383"/>
                          </a:moveTo>
                          <a:cubicBezTo>
                            <a:pt x="106" y="393"/>
                            <a:pt x="125" y="400"/>
                            <a:pt x="147" y="400"/>
                          </a:cubicBezTo>
                          <a:cubicBezTo>
                            <a:pt x="169" y="400"/>
                            <a:pt x="187" y="393"/>
                            <a:pt x="203" y="383"/>
                          </a:cubicBezTo>
                          <a:cubicBezTo>
                            <a:pt x="203" y="342"/>
                            <a:pt x="203" y="342"/>
                            <a:pt x="203" y="342"/>
                          </a:cubicBezTo>
                          <a:cubicBezTo>
                            <a:pt x="90" y="342"/>
                            <a:pt x="90" y="342"/>
                            <a:pt x="90" y="342"/>
                          </a:cubicBezTo>
                          <a:lnTo>
                            <a:pt x="90" y="383"/>
                          </a:lnTo>
                          <a:close/>
                          <a:moveTo>
                            <a:pt x="201" y="318"/>
                          </a:moveTo>
                          <a:cubicBezTo>
                            <a:pt x="201" y="231"/>
                            <a:pt x="293" y="203"/>
                            <a:pt x="286" y="116"/>
                          </a:cubicBezTo>
                          <a:cubicBezTo>
                            <a:pt x="282" y="61"/>
                            <a:pt x="245" y="0"/>
                            <a:pt x="147" y="0"/>
                          </a:cubicBezTo>
                          <a:cubicBezTo>
                            <a:pt x="49" y="0"/>
                            <a:pt x="12" y="61"/>
                            <a:pt x="7" y="116"/>
                          </a:cubicBezTo>
                          <a:cubicBezTo>
                            <a:pt x="0" y="203"/>
                            <a:pt x="93" y="231"/>
                            <a:pt x="93" y="318"/>
                          </a:cubicBezTo>
                          <a:lnTo>
                            <a:pt x="201" y="318"/>
                          </a:lnTo>
                          <a:close/>
                          <a:moveTo>
                            <a:pt x="50" y="119"/>
                          </a:moveTo>
                          <a:cubicBezTo>
                            <a:pt x="54" y="67"/>
                            <a:pt x="89" y="41"/>
                            <a:pt x="147" y="41"/>
                          </a:cubicBezTo>
                          <a:cubicBezTo>
                            <a:pt x="204" y="41"/>
                            <a:pt x="240" y="67"/>
                            <a:pt x="244" y="119"/>
                          </a:cubicBezTo>
                          <a:cubicBezTo>
                            <a:pt x="246" y="148"/>
                            <a:pt x="230" y="167"/>
                            <a:pt x="208" y="198"/>
                          </a:cubicBezTo>
                          <a:cubicBezTo>
                            <a:pt x="192" y="221"/>
                            <a:pt x="172" y="248"/>
                            <a:pt x="163" y="283"/>
                          </a:cubicBezTo>
                          <a:cubicBezTo>
                            <a:pt x="130" y="283"/>
                            <a:pt x="130" y="283"/>
                            <a:pt x="130" y="283"/>
                          </a:cubicBezTo>
                          <a:cubicBezTo>
                            <a:pt x="121" y="248"/>
                            <a:pt x="102" y="221"/>
                            <a:pt x="86" y="198"/>
                          </a:cubicBezTo>
                          <a:cubicBezTo>
                            <a:pt x="64" y="167"/>
                            <a:pt x="47" y="148"/>
                            <a:pt x="50" y="119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  <p:grpSp>
              <p:nvGrpSpPr>
                <p:cNvPr id="51" name="Group 66"/>
                <p:cNvGrpSpPr/>
                <p:nvPr/>
              </p:nvGrpSpPr>
              <p:grpSpPr>
                <a:xfrm>
                  <a:off x="10487394" y="2188812"/>
                  <a:ext cx="1585511" cy="1567198"/>
                  <a:chOff x="10487394" y="2188812"/>
                  <a:chExt cx="1585511" cy="1567198"/>
                </a:xfrm>
              </p:grpSpPr>
              <p:grpSp>
                <p:nvGrpSpPr>
                  <p:cNvPr id="52" name="Group 67"/>
                  <p:cNvGrpSpPr/>
                  <p:nvPr/>
                </p:nvGrpSpPr>
                <p:grpSpPr>
                  <a:xfrm rot="16200000">
                    <a:off x="10496551" y="2179655"/>
                    <a:ext cx="1567198" cy="1585511"/>
                    <a:chOff x="384325" y="2675592"/>
                    <a:chExt cx="1567198" cy="1585511"/>
                  </a:xfrm>
                  <a:solidFill>
                    <a:schemeClr val="tx1">
                      <a:lumMod val="85000"/>
                      <a:lumOff val="15000"/>
                    </a:schemeClr>
                  </a:solidFill>
                </p:grpSpPr>
                <p:sp>
                  <p:nvSpPr>
                    <p:cNvPr id="56" name="Rectangle 71"/>
                    <p:cNvSpPr/>
                    <p:nvPr/>
                  </p:nvSpPr>
                  <p:spPr>
                    <a:xfrm>
                      <a:off x="384325" y="2675592"/>
                      <a:ext cx="1458398" cy="1585511"/>
                    </a:xfrm>
                    <a:prstGeom prst="rect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57" name="Isosceles Triangle 72"/>
                    <p:cNvSpPr/>
                    <p:nvPr/>
                  </p:nvSpPr>
                  <p:spPr>
                    <a:xfrm rot="5400000">
                      <a:off x="1785948" y="3035711"/>
                      <a:ext cx="208428" cy="122723"/>
                    </a:xfrm>
                    <a:prstGeom prst="triangle">
                      <a:avLst/>
                    </a:prstGeom>
                    <a:solidFill>
                      <a:schemeClr val="accent5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grpSp>
                <p:nvGrpSpPr>
                  <p:cNvPr id="53" name="Group 68"/>
                  <p:cNvGrpSpPr/>
                  <p:nvPr/>
                </p:nvGrpSpPr>
                <p:grpSpPr>
                  <a:xfrm>
                    <a:off x="10758538" y="2470890"/>
                    <a:ext cx="1044430" cy="1217273"/>
                    <a:chOff x="8531611" y="1119274"/>
                    <a:chExt cx="1044430" cy="1217273"/>
                  </a:xfrm>
                </p:grpSpPr>
                <p:sp>
                  <p:nvSpPr>
                    <p:cNvPr id="54" name="Rectangle 14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31611" y="1496788"/>
                      <a:ext cx="1044430" cy="83975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none" lIns="0" tIns="0" rIns="0" bIns="0" numCol="1" anchor="t" anchorCtr="0" compatLnSpc="1">
                      <a:spAutoFit/>
                    </a:bodyPr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合作推广</a:t>
                      </a:r>
                      <a:endParaRPr lang="en-US" altLang="zh-CN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扩展应用</a:t>
                      </a:r>
                      <a:endParaRPr kumimoji="0" lang="en-US" sz="44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5" name="Freeform 21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8888916" y="1119274"/>
                      <a:ext cx="368485" cy="377514"/>
                    </a:xfrm>
                    <a:custGeom>
                      <a:avLst/>
                      <a:gdLst>
                        <a:gd name="T0" fmla="*/ 222 w 363"/>
                        <a:gd name="T1" fmla="*/ 242 h 372"/>
                        <a:gd name="T2" fmla="*/ 348 w 363"/>
                        <a:gd name="T3" fmla="*/ 23 h 372"/>
                        <a:gd name="T4" fmla="*/ 345 w 363"/>
                        <a:gd name="T5" fmla="*/ 18 h 372"/>
                        <a:gd name="T6" fmla="*/ 340 w 363"/>
                        <a:gd name="T7" fmla="*/ 16 h 372"/>
                        <a:gd name="T8" fmla="*/ 127 w 363"/>
                        <a:gd name="T9" fmla="*/ 144 h 372"/>
                        <a:gd name="T10" fmla="*/ 7 w 363"/>
                        <a:gd name="T11" fmla="*/ 246 h 372"/>
                        <a:gd name="T12" fmla="*/ 25 w 363"/>
                        <a:gd name="T13" fmla="*/ 265 h 372"/>
                        <a:gd name="T14" fmla="*/ 68 w 363"/>
                        <a:gd name="T15" fmla="*/ 249 h 372"/>
                        <a:gd name="T16" fmla="*/ 120 w 363"/>
                        <a:gd name="T17" fmla="*/ 302 h 372"/>
                        <a:gd name="T18" fmla="*/ 104 w 363"/>
                        <a:gd name="T19" fmla="*/ 346 h 372"/>
                        <a:gd name="T20" fmla="*/ 123 w 363"/>
                        <a:gd name="T21" fmla="*/ 364 h 372"/>
                        <a:gd name="T22" fmla="*/ 222 w 363"/>
                        <a:gd name="T23" fmla="*/ 242 h 372"/>
                        <a:gd name="T24" fmla="*/ 242 w 363"/>
                        <a:gd name="T25" fmla="*/ 124 h 372"/>
                        <a:gd name="T26" fmla="*/ 242 w 363"/>
                        <a:gd name="T27" fmla="*/ 79 h 372"/>
                        <a:gd name="T28" fmla="*/ 286 w 363"/>
                        <a:gd name="T29" fmla="*/ 79 h 372"/>
                        <a:gd name="T30" fmla="*/ 286 w 363"/>
                        <a:gd name="T31" fmla="*/ 124 h 372"/>
                        <a:gd name="T32" fmla="*/ 242 w 363"/>
                        <a:gd name="T33" fmla="*/ 124 h 3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363" h="372">
                          <a:moveTo>
                            <a:pt x="222" y="242"/>
                          </a:moveTo>
                          <a:cubicBezTo>
                            <a:pt x="222" y="242"/>
                            <a:pt x="363" y="140"/>
                            <a:pt x="348" y="23"/>
                          </a:cubicBezTo>
                          <a:cubicBezTo>
                            <a:pt x="347" y="21"/>
                            <a:pt x="346" y="19"/>
                            <a:pt x="345" y="18"/>
                          </a:cubicBezTo>
                          <a:cubicBezTo>
                            <a:pt x="344" y="17"/>
                            <a:pt x="343" y="16"/>
                            <a:pt x="340" y="16"/>
                          </a:cubicBezTo>
                          <a:cubicBezTo>
                            <a:pt x="226" y="0"/>
                            <a:pt x="127" y="144"/>
                            <a:pt x="127" y="144"/>
                          </a:cubicBezTo>
                          <a:cubicBezTo>
                            <a:pt x="40" y="134"/>
                            <a:pt x="46" y="151"/>
                            <a:pt x="7" y="246"/>
                          </a:cubicBezTo>
                          <a:cubicBezTo>
                            <a:pt x="0" y="264"/>
                            <a:pt x="12" y="270"/>
                            <a:pt x="25" y="265"/>
                          </a:cubicBezTo>
                          <a:cubicBezTo>
                            <a:pt x="39" y="260"/>
                            <a:pt x="68" y="249"/>
                            <a:pt x="68" y="249"/>
                          </a:cubicBezTo>
                          <a:cubicBezTo>
                            <a:pt x="120" y="302"/>
                            <a:pt x="120" y="302"/>
                            <a:pt x="120" y="302"/>
                          </a:cubicBezTo>
                          <a:cubicBezTo>
                            <a:pt x="120" y="302"/>
                            <a:pt x="109" y="332"/>
                            <a:pt x="104" y="346"/>
                          </a:cubicBezTo>
                          <a:cubicBezTo>
                            <a:pt x="99" y="359"/>
                            <a:pt x="105" y="372"/>
                            <a:pt x="123" y="364"/>
                          </a:cubicBezTo>
                          <a:cubicBezTo>
                            <a:pt x="215" y="324"/>
                            <a:pt x="232" y="330"/>
                            <a:pt x="222" y="242"/>
                          </a:cubicBezTo>
                          <a:close/>
                          <a:moveTo>
                            <a:pt x="242" y="124"/>
                          </a:moveTo>
                          <a:cubicBezTo>
                            <a:pt x="230" y="111"/>
                            <a:pt x="230" y="91"/>
                            <a:pt x="242" y="79"/>
                          </a:cubicBezTo>
                          <a:cubicBezTo>
                            <a:pt x="254" y="67"/>
                            <a:pt x="274" y="67"/>
                            <a:pt x="286" y="79"/>
                          </a:cubicBezTo>
                          <a:cubicBezTo>
                            <a:pt x="297" y="91"/>
                            <a:pt x="297" y="111"/>
                            <a:pt x="286" y="124"/>
                          </a:cubicBezTo>
                          <a:cubicBezTo>
                            <a:pt x="274" y="136"/>
                            <a:pt x="254" y="136"/>
                            <a:pt x="242" y="124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/>
                    <a:lstStyle/>
                    <a:p>
                      <a:endParaRPr 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17" name="组合 16"/>
              <p:cNvGrpSpPr/>
              <p:nvPr/>
            </p:nvGrpSpPr>
            <p:grpSpPr>
              <a:xfrm>
                <a:off x="416496" y="2646898"/>
                <a:ext cx="862452" cy="774103"/>
                <a:chOff x="1207945" y="4627154"/>
                <a:chExt cx="2722124" cy="2444498"/>
              </a:xfrm>
            </p:grpSpPr>
            <p:sp>
              <p:nvSpPr>
                <p:cNvPr id="29" name="Freeform 46"/>
                <p:cNvSpPr/>
                <p:nvPr/>
              </p:nvSpPr>
              <p:spPr bwMode="auto">
                <a:xfrm>
                  <a:off x="1207945" y="4627154"/>
                  <a:ext cx="2722124" cy="2444498"/>
                </a:xfrm>
                <a:custGeom>
                  <a:avLst/>
                  <a:gdLst>
                    <a:gd name="T0" fmla="*/ 1149 w 1149"/>
                    <a:gd name="T1" fmla="*/ 515 h 1030"/>
                    <a:gd name="T2" fmla="*/ 1020 w 1149"/>
                    <a:gd name="T3" fmla="*/ 412 h 1030"/>
                    <a:gd name="T4" fmla="*/ 515 w 1149"/>
                    <a:gd name="T5" fmla="*/ 0 h 1030"/>
                    <a:gd name="T6" fmla="*/ 0 w 1149"/>
                    <a:gd name="T7" fmla="*/ 515 h 1030"/>
                    <a:gd name="T8" fmla="*/ 515 w 1149"/>
                    <a:gd name="T9" fmla="*/ 1030 h 1030"/>
                    <a:gd name="T10" fmla="*/ 1020 w 1149"/>
                    <a:gd name="T11" fmla="*/ 618 h 1030"/>
                    <a:gd name="T12" fmla="*/ 1149 w 1149"/>
                    <a:gd name="T13" fmla="*/ 515 h 10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49" h="1030">
                      <a:moveTo>
                        <a:pt x="1149" y="515"/>
                      </a:moveTo>
                      <a:cubicBezTo>
                        <a:pt x="1020" y="412"/>
                        <a:pt x="1020" y="412"/>
                        <a:pt x="1020" y="412"/>
                      </a:cubicBezTo>
                      <a:cubicBezTo>
                        <a:pt x="972" y="177"/>
                        <a:pt x="764" y="0"/>
                        <a:pt x="515" y="0"/>
                      </a:cubicBezTo>
                      <a:cubicBezTo>
                        <a:pt x="231" y="0"/>
                        <a:pt x="0" y="231"/>
                        <a:pt x="0" y="515"/>
                      </a:cubicBezTo>
                      <a:cubicBezTo>
                        <a:pt x="0" y="799"/>
                        <a:pt x="231" y="1030"/>
                        <a:pt x="515" y="1030"/>
                      </a:cubicBezTo>
                      <a:cubicBezTo>
                        <a:pt x="764" y="1030"/>
                        <a:pt x="972" y="853"/>
                        <a:pt x="1020" y="618"/>
                      </a:cubicBezTo>
                      <a:lnTo>
                        <a:pt x="1149" y="515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 w="19050">
                  <a:noFill/>
                </a:ln>
                <a:effectLst>
                  <a:outerShdw blurRad="152400" dist="38100" algn="l" rotWithShape="0">
                    <a:prstClr val="black">
                      <a:alpha val="32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75308" tIns="731520" rIns="475308" bIns="582340" numCol="1" spcCol="1270" anchor="ctr" anchorCtr="0">
                  <a:noAutofit/>
                </a:bodyPr>
                <a:lstStyle/>
                <a:p>
                  <a:pPr algn="ctr" defTabSz="1778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11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Freeform 51"/>
                <p:cNvSpPr/>
                <p:nvPr/>
              </p:nvSpPr>
              <p:spPr bwMode="auto">
                <a:xfrm>
                  <a:off x="1860426" y="5175945"/>
                  <a:ext cx="1176430" cy="560012"/>
                </a:xfrm>
                <a:custGeom>
                  <a:avLst/>
                  <a:gdLst>
                    <a:gd name="T0" fmla="*/ 584 w 584"/>
                    <a:gd name="T1" fmla="*/ 0 h 278"/>
                    <a:gd name="T2" fmla="*/ 449 w 584"/>
                    <a:gd name="T3" fmla="*/ 31 h 278"/>
                    <a:gd name="T4" fmla="*/ 469 w 584"/>
                    <a:gd name="T5" fmla="*/ 62 h 278"/>
                    <a:gd name="T6" fmla="*/ 278 w 584"/>
                    <a:gd name="T7" fmla="*/ 200 h 278"/>
                    <a:gd name="T8" fmla="*/ 214 w 584"/>
                    <a:gd name="T9" fmla="*/ 116 h 278"/>
                    <a:gd name="T10" fmla="*/ 204 w 584"/>
                    <a:gd name="T11" fmla="*/ 101 h 278"/>
                    <a:gd name="T12" fmla="*/ 190 w 584"/>
                    <a:gd name="T13" fmla="*/ 112 h 278"/>
                    <a:gd name="T14" fmla="*/ 0 w 584"/>
                    <a:gd name="T15" fmla="*/ 250 h 278"/>
                    <a:gd name="T16" fmla="*/ 21 w 584"/>
                    <a:gd name="T17" fmla="*/ 278 h 278"/>
                    <a:gd name="T18" fmla="*/ 196 w 584"/>
                    <a:gd name="T19" fmla="*/ 151 h 278"/>
                    <a:gd name="T20" fmla="*/ 260 w 584"/>
                    <a:gd name="T21" fmla="*/ 237 h 278"/>
                    <a:gd name="T22" fmla="*/ 270 w 584"/>
                    <a:gd name="T23" fmla="*/ 252 h 278"/>
                    <a:gd name="T24" fmla="*/ 284 w 584"/>
                    <a:gd name="T25" fmla="*/ 241 h 278"/>
                    <a:gd name="T26" fmla="*/ 490 w 584"/>
                    <a:gd name="T27" fmla="*/ 91 h 278"/>
                    <a:gd name="T28" fmla="*/ 490 w 584"/>
                    <a:gd name="T29" fmla="*/ 91 h 278"/>
                    <a:gd name="T30" fmla="*/ 512 w 584"/>
                    <a:gd name="T31" fmla="*/ 120 h 278"/>
                    <a:gd name="T32" fmla="*/ 584 w 584"/>
                    <a:gd name="T33" fmla="*/ 0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584" h="278">
                      <a:moveTo>
                        <a:pt x="584" y="0"/>
                      </a:moveTo>
                      <a:lnTo>
                        <a:pt x="449" y="31"/>
                      </a:lnTo>
                      <a:lnTo>
                        <a:pt x="469" y="62"/>
                      </a:lnTo>
                      <a:lnTo>
                        <a:pt x="278" y="200"/>
                      </a:lnTo>
                      <a:lnTo>
                        <a:pt x="214" y="116"/>
                      </a:lnTo>
                      <a:lnTo>
                        <a:pt x="204" y="101"/>
                      </a:lnTo>
                      <a:lnTo>
                        <a:pt x="190" y="112"/>
                      </a:lnTo>
                      <a:lnTo>
                        <a:pt x="0" y="250"/>
                      </a:lnTo>
                      <a:lnTo>
                        <a:pt x="21" y="278"/>
                      </a:lnTo>
                      <a:lnTo>
                        <a:pt x="196" y="151"/>
                      </a:lnTo>
                      <a:lnTo>
                        <a:pt x="260" y="237"/>
                      </a:lnTo>
                      <a:lnTo>
                        <a:pt x="270" y="252"/>
                      </a:lnTo>
                      <a:lnTo>
                        <a:pt x="284" y="241"/>
                      </a:lnTo>
                      <a:lnTo>
                        <a:pt x="490" y="91"/>
                      </a:lnTo>
                      <a:lnTo>
                        <a:pt x="490" y="91"/>
                      </a:lnTo>
                      <a:lnTo>
                        <a:pt x="512" y="120"/>
                      </a:lnTo>
                      <a:lnTo>
                        <a:pt x="58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1456677" y="5799861"/>
                  <a:ext cx="2223476" cy="8261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4000">
                      <a:solidFill>
                        <a:srgbClr val="605E5E"/>
                      </a:solidFill>
                      <a:latin typeface="Impact" panose="020B0806030902050204" pitchFamily="34" charset="0"/>
                      <a:cs typeface="Aharoni" panose="02010803020104030203" pitchFamily="2" charset="-79"/>
                    </a:defRPr>
                  </a:lvl1pPr>
                </a:lstStyle>
                <a:p>
                  <a:r>
                    <a:rPr lang="en-US" altLang="zh-CN" sz="11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 1</a:t>
                  </a:r>
                  <a:endParaRPr lang="zh-CN" altLang="en-US" sz="1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2716481" y="2054355"/>
                <a:ext cx="861722" cy="774103"/>
                <a:chOff x="3392544" y="4627154"/>
                <a:chExt cx="2719821" cy="2444498"/>
              </a:xfrm>
            </p:grpSpPr>
            <p:sp>
              <p:nvSpPr>
                <p:cNvPr id="26" name="Freeform 44"/>
                <p:cNvSpPr/>
                <p:nvPr/>
              </p:nvSpPr>
              <p:spPr bwMode="auto">
                <a:xfrm>
                  <a:off x="3392544" y="4627154"/>
                  <a:ext cx="2719821" cy="2444498"/>
                </a:xfrm>
                <a:custGeom>
                  <a:avLst/>
                  <a:gdLst>
                    <a:gd name="T0" fmla="*/ 1148 w 1148"/>
                    <a:gd name="T1" fmla="*/ 515 h 1030"/>
                    <a:gd name="T2" fmla="*/ 1019 w 1148"/>
                    <a:gd name="T3" fmla="*/ 412 h 1030"/>
                    <a:gd name="T4" fmla="*/ 515 w 1148"/>
                    <a:gd name="T5" fmla="*/ 0 h 1030"/>
                    <a:gd name="T6" fmla="*/ 0 w 1148"/>
                    <a:gd name="T7" fmla="*/ 515 h 1030"/>
                    <a:gd name="T8" fmla="*/ 515 w 1148"/>
                    <a:gd name="T9" fmla="*/ 1030 h 1030"/>
                    <a:gd name="T10" fmla="*/ 1019 w 1148"/>
                    <a:gd name="T11" fmla="*/ 618 h 1030"/>
                    <a:gd name="T12" fmla="*/ 1148 w 1148"/>
                    <a:gd name="T13" fmla="*/ 515 h 10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48" h="1030">
                      <a:moveTo>
                        <a:pt x="1148" y="515"/>
                      </a:moveTo>
                      <a:cubicBezTo>
                        <a:pt x="1019" y="412"/>
                        <a:pt x="1019" y="412"/>
                        <a:pt x="1019" y="412"/>
                      </a:cubicBezTo>
                      <a:cubicBezTo>
                        <a:pt x="971" y="177"/>
                        <a:pt x="763" y="0"/>
                        <a:pt x="515" y="0"/>
                      </a:cubicBezTo>
                      <a:cubicBezTo>
                        <a:pt x="230" y="0"/>
                        <a:pt x="0" y="231"/>
                        <a:pt x="0" y="515"/>
                      </a:cubicBezTo>
                      <a:cubicBezTo>
                        <a:pt x="0" y="799"/>
                        <a:pt x="230" y="1030"/>
                        <a:pt x="515" y="1030"/>
                      </a:cubicBezTo>
                      <a:cubicBezTo>
                        <a:pt x="763" y="1030"/>
                        <a:pt x="971" y="853"/>
                        <a:pt x="1019" y="618"/>
                      </a:cubicBezTo>
                      <a:lnTo>
                        <a:pt x="1148" y="515"/>
                      </a:lnTo>
                      <a:close/>
                    </a:path>
                  </a:pathLst>
                </a:custGeom>
                <a:solidFill>
                  <a:srgbClr val="7C7C7C"/>
                </a:solidFill>
                <a:ln w="19050">
                  <a:noFill/>
                </a:ln>
                <a:effectLst>
                  <a:outerShdw blurRad="152400" dist="38100" algn="l" rotWithShape="0">
                    <a:prstClr val="black">
                      <a:alpha val="32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75308" tIns="731520" rIns="475308" bIns="582340" numCol="1" spcCol="1270" anchor="ctr" anchorCtr="0">
                  <a:noAutofit/>
                </a:bodyPr>
                <a:lstStyle/>
                <a:p>
                  <a:pPr algn="ctr" defTabSz="1778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11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" name="Freeform 48"/>
                <p:cNvSpPr>
                  <a:spLocks noEditPoints="1"/>
                </p:cNvSpPr>
                <p:nvPr/>
              </p:nvSpPr>
              <p:spPr bwMode="auto">
                <a:xfrm>
                  <a:off x="4321460" y="5137814"/>
                  <a:ext cx="630518" cy="630518"/>
                </a:xfrm>
                <a:custGeom>
                  <a:avLst/>
                  <a:gdLst>
                    <a:gd name="T0" fmla="*/ 152 w 152"/>
                    <a:gd name="T1" fmla="*/ 88 h 152"/>
                    <a:gd name="T2" fmla="*/ 152 w 152"/>
                    <a:gd name="T3" fmla="*/ 64 h 152"/>
                    <a:gd name="T4" fmla="*/ 138 w 152"/>
                    <a:gd name="T5" fmla="*/ 64 h 152"/>
                    <a:gd name="T6" fmla="*/ 128 w 152"/>
                    <a:gd name="T7" fmla="*/ 40 h 152"/>
                    <a:gd name="T8" fmla="*/ 138 w 152"/>
                    <a:gd name="T9" fmla="*/ 31 h 152"/>
                    <a:gd name="T10" fmla="*/ 121 w 152"/>
                    <a:gd name="T11" fmla="*/ 14 h 152"/>
                    <a:gd name="T12" fmla="*/ 111 w 152"/>
                    <a:gd name="T13" fmla="*/ 24 h 152"/>
                    <a:gd name="T14" fmla="*/ 88 w 152"/>
                    <a:gd name="T15" fmla="*/ 14 h 152"/>
                    <a:gd name="T16" fmla="*/ 88 w 152"/>
                    <a:gd name="T17" fmla="*/ 0 h 152"/>
                    <a:gd name="T18" fmla="*/ 64 w 152"/>
                    <a:gd name="T19" fmla="*/ 0 h 152"/>
                    <a:gd name="T20" fmla="*/ 64 w 152"/>
                    <a:gd name="T21" fmla="*/ 14 h 152"/>
                    <a:gd name="T22" fmla="*/ 41 w 152"/>
                    <a:gd name="T23" fmla="*/ 24 h 152"/>
                    <a:gd name="T24" fmla="*/ 31 w 152"/>
                    <a:gd name="T25" fmla="*/ 14 h 152"/>
                    <a:gd name="T26" fmla="*/ 14 w 152"/>
                    <a:gd name="T27" fmla="*/ 31 h 152"/>
                    <a:gd name="T28" fmla="*/ 24 w 152"/>
                    <a:gd name="T29" fmla="*/ 40 h 152"/>
                    <a:gd name="T30" fmla="*/ 14 w 152"/>
                    <a:gd name="T31" fmla="*/ 64 h 152"/>
                    <a:gd name="T32" fmla="*/ 0 w 152"/>
                    <a:gd name="T33" fmla="*/ 64 h 152"/>
                    <a:gd name="T34" fmla="*/ 0 w 152"/>
                    <a:gd name="T35" fmla="*/ 88 h 152"/>
                    <a:gd name="T36" fmla="*/ 14 w 152"/>
                    <a:gd name="T37" fmla="*/ 88 h 152"/>
                    <a:gd name="T38" fmla="*/ 24 w 152"/>
                    <a:gd name="T39" fmla="*/ 111 h 152"/>
                    <a:gd name="T40" fmla="*/ 14 w 152"/>
                    <a:gd name="T41" fmla="*/ 121 h 152"/>
                    <a:gd name="T42" fmla="*/ 31 w 152"/>
                    <a:gd name="T43" fmla="*/ 138 h 152"/>
                    <a:gd name="T44" fmla="*/ 41 w 152"/>
                    <a:gd name="T45" fmla="*/ 128 h 152"/>
                    <a:gd name="T46" fmla="*/ 64 w 152"/>
                    <a:gd name="T47" fmla="*/ 138 h 152"/>
                    <a:gd name="T48" fmla="*/ 64 w 152"/>
                    <a:gd name="T49" fmla="*/ 152 h 152"/>
                    <a:gd name="T50" fmla="*/ 88 w 152"/>
                    <a:gd name="T51" fmla="*/ 152 h 152"/>
                    <a:gd name="T52" fmla="*/ 88 w 152"/>
                    <a:gd name="T53" fmla="*/ 138 h 152"/>
                    <a:gd name="T54" fmla="*/ 111 w 152"/>
                    <a:gd name="T55" fmla="*/ 128 h 152"/>
                    <a:gd name="T56" fmla="*/ 121 w 152"/>
                    <a:gd name="T57" fmla="*/ 138 h 152"/>
                    <a:gd name="T58" fmla="*/ 138 w 152"/>
                    <a:gd name="T59" fmla="*/ 121 h 152"/>
                    <a:gd name="T60" fmla="*/ 128 w 152"/>
                    <a:gd name="T61" fmla="*/ 111 h 152"/>
                    <a:gd name="T62" fmla="*/ 138 w 152"/>
                    <a:gd name="T63" fmla="*/ 88 h 152"/>
                    <a:gd name="T64" fmla="*/ 152 w 152"/>
                    <a:gd name="T65" fmla="*/ 88 h 152"/>
                    <a:gd name="T66" fmla="*/ 76 w 152"/>
                    <a:gd name="T67" fmla="*/ 115 h 152"/>
                    <a:gd name="T68" fmla="*/ 37 w 152"/>
                    <a:gd name="T69" fmla="*/ 76 h 152"/>
                    <a:gd name="T70" fmla="*/ 76 w 152"/>
                    <a:gd name="T71" fmla="*/ 37 h 152"/>
                    <a:gd name="T72" fmla="*/ 115 w 152"/>
                    <a:gd name="T73" fmla="*/ 76 h 152"/>
                    <a:gd name="T74" fmla="*/ 76 w 152"/>
                    <a:gd name="T75" fmla="*/ 115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52" h="152">
                      <a:moveTo>
                        <a:pt x="152" y="88"/>
                      </a:moveTo>
                      <a:cubicBezTo>
                        <a:pt x="152" y="64"/>
                        <a:pt x="152" y="64"/>
                        <a:pt x="152" y="64"/>
                      </a:cubicBezTo>
                      <a:cubicBezTo>
                        <a:pt x="138" y="64"/>
                        <a:pt x="138" y="64"/>
                        <a:pt x="138" y="64"/>
                      </a:cubicBezTo>
                      <a:cubicBezTo>
                        <a:pt x="136" y="55"/>
                        <a:pt x="133" y="47"/>
                        <a:pt x="128" y="40"/>
                      </a:cubicBezTo>
                      <a:cubicBezTo>
                        <a:pt x="138" y="31"/>
                        <a:pt x="138" y="31"/>
                        <a:pt x="138" y="31"/>
                      </a:cubicBezTo>
                      <a:cubicBezTo>
                        <a:pt x="121" y="14"/>
                        <a:pt x="121" y="14"/>
                        <a:pt x="121" y="14"/>
                      </a:cubicBezTo>
                      <a:cubicBezTo>
                        <a:pt x="111" y="24"/>
                        <a:pt x="111" y="24"/>
                        <a:pt x="111" y="24"/>
                      </a:cubicBezTo>
                      <a:cubicBezTo>
                        <a:pt x="104" y="19"/>
                        <a:pt x="96" y="16"/>
                        <a:pt x="88" y="14"/>
                      </a:cubicBez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14"/>
                        <a:pt x="64" y="14"/>
                        <a:pt x="64" y="14"/>
                      </a:cubicBezTo>
                      <a:cubicBezTo>
                        <a:pt x="56" y="16"/>
                        <a:pt x="48" y="19"/>
                        <a:pt x="41" y="24"/>
                      </a:cubicBezTo>
                      <a:cubicBezTo>
                        <a:pt x="31" y="14"/>
                        <a:pt x="31" y="14"/>
                        <a:pt x="31" y="14"/>
                      </a:cubicBezTo>
                      <a:cubicBezTo>
                        <a:pt x="14" y="31"/>
                        <a:pt x="14" y="31"/>
                        <a:pt x="14" y="31"/>
                      </a:cubicBezTo>
                      <a:cubicBezTo>
                        <a:pt x="24" y="40"/>
                        <a:pt x="24" y="40"/>
                        <a:pt x="24" y="40"/>
                      </a:cubicBezTo>
                      <a:cubicBezTo>
                        <a:pt x="19" y="47"/>
                        <a:pt x="16" y="55"/>
                        <a:pt x="14" y="64"/>
                      </a:cubicBezTo>
                      <a:cubicBezTo>
                        <a:pt x="0" y="64"/>
                        <a:pt x="0" y="64"/>
                        <a:pt x="0" y="64"/>
                      </a:cubicBezTo>
                      <a:cubicBezTo>
                        <a:pt x="0" y="88"/>
                        <a:pt x="0" y="88"/>
                        <a:pt x="0" y="88"/>
                      </a:cubicBezTo>
                      <a:cubicBezTo>
                        <a:pt x="14" y="88"/>
                        <a:pt x="14" y="88"/>
                        <a:pt x="14" y="88"/>
                      </a:cubicBezTo>
                      <a:cubicBezTo>
                        <a:pt x="16" y="96"/>
                        <a:pt x="19" y="104"/>
                        <a:pt x="24" y="111"/>
                      </a:cubicBezTo>
                      <a:cubicBezTo>
                        <a:pt x="14" y="121"/>
                        <a:pt x="14" y="121"/>
                        <a:pt x="14" y="121"/>
                      </a:cubicBezTo>
                      <a:cubicBezTo>
                        <a:pt x="31" y="138"/>
                        <a:pt x="31" y="138"/>
                        <a:pt x="31" y="138"/>
                      </a:cubicBezTo>
                      <a:cubicBezTo>
                        <a:pt x="41" y="128"/>
                        <a:pt x="41" y="128"/>
                        <a:pt x="41" y="128"/>
                      </a:cubicBezTo>
                      <a:cubicBezTo>
                        <a:pt x="48" y="133"/>
                        <a:pt x="56" y="136"/>
                        <a:pt x="64" y="138"/>
                      </a:cubicBezTo>
                      <a:cubicBezTo>
                        <a:pt x="64" y="152"/>
                        <a:pt x="64" y="152"/>
                        <a:pt x="64" y="152"/>
                      </a:cubicBezTo>
                      <a:cubicBezTo>
                        <a:pt x="88" y="152"/>
                        <a:pt x="88" y="152"/>
                        <a:pt x="88" y="152"/>
                      </a:cubicBezTo>
                      <a:cubicBezTo>
                        <a:pt x="88" y="138"/>
                        <a:pt x="88" y="138"/>
                        <a:pt x="88" y="138"/>
                      </a:cubicBezTo>
                      <a:cubicBezTo>
                        <a:pt x="96" y="136"/>
                        <a:pt x="104" y="133"/>
                        <a:pt x="111" y="128"/>
                      </a:cubicBezTo>
                      <a:cubicBezTo>
                        <a:pt x="121" y="138"/>
                        <a:pt x="121" y="138"/>
                        <a:pt x="121" y="138"/>
                      </a:cubicBezTo>
                      <a:cubicBezTo>
                        <a:pt x="138" y="121"/>
                        <a:pt x="138" y="121"/>
                        <a:pt x="138" y="121"/>
                      </a:cubicBezTo>
                      <a:cubicBezTo>
                        <a:pt x="128" y="111"/>
                        <a:pt x="128" y="111"/>
                        <a:pt x="128" y="111"/>
                      </a:cubicBezTo>
                      <a:cubicBezTo>
                        <a:pt x="133" y="104"/>
                        <a:pt x="136" y="96"/>
                        <a:pt x="138" y="88"/>
                      </a:cubicBezTo>
                      <a:lnTo>
                        <a:pt x="152" y="88"/>
                      </a:lnTo>
                      <a:close/>
                      <a:moveTo>
                        <a:pt x="76" y="115"/>
                      </a:moveTo>
                      <a:cubicBezTo>
                        <a:pt x="54" y="115"/>
                        <a:pt x="37" y="98"/>
                        <a:pt x="37" y="76"/>
                      </a:cubicBezTo>
                      <a:cubicBezTo>
                        <a:pt x="37" y="54"/>
                        <a:pt x="54" y="37"/>
                        <a:pt x="76" y="37"/>
                      </a:cubicBezTo>
                      <a:cubicBezTo>
                        <a:pt x="98" y="37"/>
                        <a:pt x="115" y="54"/>
                        <a:pt x="115" y="76"/>
                      </a:cubicBezTo>
                      <a:cubicBezTo>
                        <a:pt x="115" y="98"/>
                        <a:pt x="98" y="115"/>
                        <a:pt x="76" y="11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3684524" y="5776433"/>
                  <a:ext cx="1938801" cy="826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4000">
                      <a:solidFill>
                        <a:srgbClr val="605E5E"/>
                      </a:solidFill>
                      <a:latin typeface="Impact" panose="020B0806030902050204" pitchFamily="34" charset="0"/>
                      <a:cs typeface="Aharoni" panose="02010803020104030203" pitchFamily="2" charset="-79"/>
                    </a:defRPr>
                  </a:lvl1pPr>
                </a:lstStyle>
                <a:p>
                  <a:r>
                    <a:rPr lang="en-US" altLang="zh-CN" sz="11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 2</a:t>
                  </a:r>
                  <a:endParaRPr lang="zh-CN" altLang="en-US" sz="1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5027231" y="1460614"/>
                <a:ext cx="862452" cy="774103"/>
                <a:chOff x="5569598" y="4627154"/>
                <a:chExt cx="2722124" cy="2444498"/>
              </a:xfrm>
            </p:grpSpPr>
            <p:sp>
              <p:nvSpPr>
                <p:cNvPr id="23" name="Freeform 42"/>
                <p:cNvSpPr/>
                <p:nvPr/>
              </p:nvSpPr>
              <p:spPr bwMode="auto">
                <a:xfrm>
                  <a:off x="5569598" y="4627154"/>
                  <a:ext cx="2722124" cy="2444498"/>
                </a:xfrm>
                <a:custGeom>
                  <a:avLst/>
                  <a:gdLst>
                    <a:gd name="T0" fmla="*/ 1149 w 1149"/>
                    <a:gd name="T1" fmla="*/ 515 h 1030"/>
                    <a:gd name="T2" fmla="*/ 1019 w 1149"/>
                    <a:gd name="T3" fmla="*/ 412 h 1030"/>
                    <a:gd name="T4" fmla="*/ 515 w 1149"/>
                    <a:gd name="T5" fmla="*/ 0 h 1030"/>
                    <a:gd name="T6" fmla="*/ 0 w 1149"/>
                    <a:gd name="T7" fmla="*/ 515 h 1030"/>
                    <a:gd name="T8" fmla="*/ 515 w 1149"/>
                    <a:gd name="T9" fmla="*/ 1030 h 1030"/>
                    <a:gd name="T10" fmla="*/ 1019 w 1149"/>
                    <a:gd name="T11" fmla="*/ 618 h 1030"/>
                    <a:gd name="T12" fmla="*/ 1149 w 1149"/>
                    <a:gd name="T13" fmla="*/ 515 h 10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49" h="1030">
                      <a:moveTo>
                        <a:pt x="1149" y="515"/>
                      </a:moveTo>
                      <a:cubicBezTo>
                        <a:pt x="1019" y="412"/>
                        <a:pt x="1019" y="412"/>
                        <a:pt x="1019" y="412"/>
                      </a:cubicBezTo>
                      <a:cubicBezTo>
                        <a:pt x="971" y="177"/>
                        <a:pt x="764" y="0"/>
                        <a:pt x="515" y="0"/>
                      </a:cubicBezTo>
                      <a:cubicBezTo>
                        <a:pt x="231" y="0"/>
                        <a:pt x="0" y="231"/>
                        <a:pt x="0" y="515"/>
                      </a:cubicBezTo>
                      <a:cubicBezTo>
                        <a:pt x="0" y="799"/>
                        <a:pt x="231" y="1030"/>
                        <a:pt x="515" y="1030"/>
                      </a:cubicBezTo>
                      <a:cubicBezTo>
                        <a:pt x="764" y="1030"/>
                        <a:pt x="971" y="853"/>
                        <a:pt x="1019" y="618"/>
                      </a:cubicBezTo>
                      <a:lnTo>
                        <a:pt x="1149" y="515"/>
                      </a:lnTo>
                      <a:close/>
                    </a:path>
                  </a:pathLst>
                </a:custGeom>
                <a:solidFill>
                  <a:srgbClr val="BF9000"/>
                </a:solidFill>
                <a:ln w="19050">
                  <a:noFill/>
                </a:ln>
                <a:effectLst>
                  <a:outerShdw blurRad="152400" dist="38100" algn="l" rotWithShape="0">
                    <a:prstClr val="black">
                      <a:alpha val="32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75308" tIns="731520" rIns="475308" bIns="582340" numCol="1" spcCol="1270" anchor="ctr" anchorCtr="0">
                  <a:noAutofit/>
                </a:bodyPr>
                <a:lstStyle/>
                <a:p>
                  <a:pPr algn="ctr" defTabSz="17780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11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" name="Freeform 50"/>
                <p:cNvSpPr/>
                <p:nvPr/>
              </p:nvSpPr>
              <p:spPr bwMode="auto">
                <a:xfrm>
                  <a:off x="6526738" y="5132909"/>
                  <a:ext cx="495552" cy="582170"/>
                </a:xfrm>
                <a:custGeom>
                  <a:avLst/>
                  <a:gdLst>
                    <a:gd name="T0" fmla="*/ 74 w 120"/>
                    <a:gd name="T1" fmla="*/ 39 h 140"/>
                    <a:gd name="T2" fmla="*/ 82 w 120"/>
                    <a:gd name="T3" fmla="*/ 22 h 140"/>
                    <a:gd name="T4" fmla="*/ 60 w 120"/>
                    <a:gd name="T5" fmla="*/ 0 h 140"/>
                    <a:gd name="T6" fmla="*/ 38 w 120"/>
                    <a:gd name="T7" fmla="*/ 22 h 140"/>
                    <a:gd name="T8" fmla="*/ 46 w 120"/>
                    <a:gd name="T9" fmla="*/ 39 h 140"/>
                    <a:gd name="T10" fmla="*/ 8 w 120"/>
                    <a:gd name="T11" fmla="*/ 98 h 140"/>
                    <a:gd name="T12" fmla="*/ 37 w 120"/>
                    <a:gd name="T13" fmla="*/ 78 h 140"/>
                    <a:gd name="T14" fmla="*/ 25 w 120"/>
                    <a:gd name="T15" fmla="*/ 140 h 140"/>
                    <a:gd name="T16" fmla="*/ 45 w 120"/>
                    <a:gd name="T17" fmla="*/ 140 h 140"/>
                    <a:gd name="T18" fmla="*/ 60 w 120"/>
                    <a:gd name="T19" fmla="*/ 114 h 140"/>
                    <a:gd name="T20" fmla="*/ 75 w 120"/>
                    <a:gd name="T21" fmla="*/ 140 h 140"/>
                    <a:gd name="T22" fmla="*/ 95 w 120"/>
                    <a:gd name="T23" fmla="*/ 140 h 140"/>
                    <a:gd name="T24" fmla="*/ 83 w 120"/>
                    <a:gd name="T25" fmla="*/ 78 h 140"/>
                    <a:gd name="T26" fmla="*/ 112 w 120"/>
                    <a:gd name="T27" fmla="*/ 98 h 140"/>
                    <a:gd name="T28" fmla="*/ 74 w 120"/>
                    <a:gd name="T29" fmla="*/ 39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20" h="140">
                      <a:moveTo>
                        <a:pt x="74" y="39"/>
                      </a:moveTo>
                      <a:cubicBezTo>
                        <a:pt x="78" y="35"/>
                        <a:pt x="82" y="29"/>
                        <a:pt x="82" y="22"/>
                      </a:cubicBezTo>
                      <a:cubicBezTo>
                        <a:pt x="82" y="10"/>
                        <a:pt x="72" y="0"/>
                        <a:pt x="60" y="0"/>
                      </a:cubicBezTo>
                      <a:cubicBezTo>
                        <a:pt x="48" y="0"/>
                        <a:pt x="38" y="10"/>
                        <a:pt x="38" y="22"/>
                      </a:cubicBezTo>
                      <a:cubicBezTo>
                        <a:pt x="38" y="29"/>
                        <a:pt x="42" y="35"/>
                        <a:pt x="46" y="39"/>
                      </a:cubicBezTo>
                      <a:cubicBezTo>
                        <a:pt x="24" y="46"/>
                        <a:pt x="0" y="91"/>
                        <a:pt x="8" y="98"/>
                      </a:cubicBezTo>
                      <a:cubicBezTo>
                        <a:pt x="15" y="105"/>
                        <a:pt x="27" y="91"/>
                        <a:pt x="37" y="78"/>
                      </a:cubicBezTo>
                      <a:cubicBezTo>
                        <a:pt x="32" y="99"/>
                        <a:pt x="27" y="121"/>
                        <a:pt x="25" y="140"/>
                      </a:cubicBezTo>
                      <a:cubicBezTo>
                        <a:pt x="45" y="140"/>
                        <a:pt x="45" y="140"/>
                        <a:pt x="45" y="140"/>
                      </a:cubicBezTo>
                      <a:cubicBezTo>
                        <a:pt x="45" y="129"/>
                        <a:pt x="52" y="114"/>
                        <a:pt x="60" y="114"/>
                      </a:cubicBezTo>
                      <a:cubicBezTo>
                        <a:pt x="68" y="114"/>
                        <a:pt x="75" y="129"/>
                        <a:pt x="75" y="140"/>
                      </a:cubicBezTo>
                      <a:cubicBezTo>
                        <a:pt x="95" y="140"/>
                        <a:pt x="95" y="140"/>
                        <a:pt x="95" y="140"/>
                      </a:cubicBezTo>
                      <a:cubicBezTo>
                        <a:pt x="93" y="121"/>
                        <a:pt x="88" y="99"/>
                        <a:pt x="83" y="78"/>
                      </a:cubicBezTo>
                      <a:cubicBezTo>
                        <a:pt x="93" y="91"/>
                        <a:pt x="105" y="105"/>
                        <a:pt x="112" y="98"/>
                      </a:cubicBezTo>
                      <a:cubicBezTo>
                        <a:pt x="120" y="91"/>
                        <a:pt x="96" y="46"/>
                        <a:pt x="74" y="3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sz="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5843805" y="5759545"/>
                  <a:ext cx="1938800" cy="826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4000">
                      <a:solidFill>
                        <a:srgbClr val="605E5E"/>
                      </a:solidFill>
                      <a:latin typeface="Impact" panose="020B0806030902050204" pitchFamily="34" charset="0"/>
                      <a:cs typeface="Aharoni" panose="02010803020104030203" pitchFamily="2" charset="-79"/>
                    </a:defRPr>
                  </a:lvl1pPr>
                </a:lstStyle>
                <a:p>
                  <a:r>
                    <a:rPr lang="en-US" altLang="zh-CN" sz="11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Step 3</a:t>
                  </a:r>
                  <a:endParaRPr lang="zh-CN" altLang="en-US" sz="1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20" name="直接连接符 60"/>
              <p:cNvCxnSpPr/>
              <p:nvPr/>
            </p:nvCxnSpPr>
            <p:spPr>
              <a:xfrm flipH="1">
                <a:off x="569879" y="5080853"/>
                <a:ext cx="3352416" cy="0"/>
              </a:xfrm>
              <a:prstGeom prst="line">
                <a:avLst/>
              </a:prstGeom>
              <a:ln w="19050">
                <a:solidFill>
                  <a:srgbClr val="1C2B3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60"/>
              <p:cNvCxnSpPr/>
              <p:nvPr/>
            </p:nvCxnSpPr>
            <p:spPr>
              <a:xfrm flipH="1">
                <a:off x="4473100" y="5080853"/>
                <a:ext cx="3352416" cy="0"/>
              </a:xfrm>
              <a:prstGeom prst="line">
                <a:avLst/>
              </a:prstGeom>
              <a:ln w="19050">
                <a:solidFill>
                  <a:srgbClr val="1C2B3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60"/>
              <p:cNvCxnSpPr/>
              <p:nvPr/>
            </p:nvCxnSpPr>
            <p:spPr>
              <a:xfrm flipH="1">
                <a:off x="8376320" y="5080853"/>
                <a:ext cx="3352416" cy="0"/>
              </a:xfrm>
              <a:prstGeom prst="line">
                <a:avLst/>
              </a:prstGeom>
              <a:ln w="19050">
                <a:solidFill>
                  <a:srgbClr val="1C2B3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3543300" y="2921635"/>
            <a:ext cx="46488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人员分工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0"/>
          <p:cNvSpPr txBox="1"/>
          <p:nvPr/>
        </p:nvSpPr>
        <p:spPr>
          <a:xfrm>
            <a:off x="1290464" y="211112"/>
            <a:ext cx="912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spc="300" dirty="0">
                <a:gradFill>
                  <a:gsLst>
                    <a:gs pos="0">
                      <a:srgbClr val="00B0F0"/>
                    </a:gs>
                    <a:gs pos="70000">
                      <a:srgbClr val="0070C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srgbClr val="063D8D">
                      <a:alpha val="2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人员组织： 团队高效协作，共筑成功基石</a:t>
            </a:r>
            <a:endParaRPr lang="zh-CN" altLang="en-US" sz="2800" b="1" spc="300" dirty="0">
              <a:gradFill>
                <a:gsLst>
                  <a:gs pos="0">
                    <a:srgbClr val="00B0F0"/>
                  </a:gs>
                  <a:gs pos="70000">
                    <a:srgbClr val="0070C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srgbClr val="063D8D">
                    <a:alpha val="2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53234" y="5469416"/>
            <a:ext cx="4224486" cy="713581"/>
            <a:chOff x="7634998" y="5076175"/>
            <a:chExt cx="4224486" cy="713581"/>
          </a:xfrm>
        </p:grpSpPr>
        <p:sp>
          <p:nvSpPr>
            <p:cNvPr id="4" name="矩形 70"/>
            <p:cNvSpPr>
              <a:spLocks noChangeArrowheads="1"/>
            </p:cNvSpPr>
            <p:nvPr/>
          </p:nvSpPr>
          <p:spPr bwMode="auto">
            <a:xfrm>
              <a:off x="7655997" y="5451202"/>
              <a:ext cx="38450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为了方便管理和协作，以</a:t>
              </a:r>
              <a:r>
                <a:rPr kumimoji="0" lang="en-US" altLang="zh-CN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Gitlab</a:t>
              </a:r>
              <a:r>
                <a:rPr kumimoji="0" lang="zh-CN" altLang="en-US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平台作为本项目代码托管、质量控制和产品管理的云开发平台 。</a:t>
              </a:r>
              <a:endParaRPr kumimoji="0" lang="zh-CN" altLang="en-US" sz="800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Box 21"/>
            <p:cNvSpPr txBox="1">
              <a:spLocks noChangeArrowheads="1"/>
            </p:cNvSpPr>
            <p:nvPr/>
          </p:nvSpPr>
          <p:spPr bwMode="auto">
            <a:xfrm>
              <a:off x="7634998" y="5076175"/>
              <a:ext cx="42244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en-US" sz="1800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团队流程协作管理平台 </a:t>
              </a:r>
              <a:endParaRPr kumimoji="0" lang="zh-CN" altLang="en-US" sz="1800" b="1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56973" y="5469416"/>
            <a:ext cx="3847041" cy="667182"/>
            <a:chOff x="559167" y="5249999"/>
            <a:chExt cx="3847041" cy="667182"/>
          </a:xfrm>
        </p:grpSpPr>
        <p:sp>
          <p:nvSpPr>
            <p:cNvPr id="7" name="矩形 73"/>
            <p:cNvSpPr>
              <a:spLocks noChangeArrowheads="1"/>
            </p:cNvSpPr>
            <p:nvPr/>
          </p:nvSpPr>
          <p:spPr bwMode="auto">
            <a:xfrm>
              <a:off x="561116" y="5578627"/>
              <a:ext cx="38450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en-US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</a:t>
              </a:r>
              <a:r>
                <a:rPr kumimoji="0" lang="en-US" altLang="zh-CN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Scrum</a:t>
              </a:r>
              <a:r>
                <a:rPr kumimoji="0" lang="zh-CN" altLang="en-US" sz="800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敏捷开发方式管理项目进度与组织。成员们跨越职能，根据个人能力以及涉及领域，在各个活动都有相应的参与 。</a:t>
              </a:r>
              <a:endParaRPr kumimoji="0" lang="zh-CN" altLang="en-US" sz="800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25"/>
            <p:cNvSpPr txBox="1">
              <a:spLocks noChangeArrowheads="1"/>
            </p:cNvSpPr>
            <p:nvPr/>
          </p:nvSpPr>
          <p:spPr bwMode="auto">
            <a:xfrm>
              <a:off x="559167" y="5249999"/>
              <a:ext cx="30564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 b="1" dirty="0">
                  <a:solidFill>
                    <a:srgbClr val="1C2B38"/>
                  </a:solidFill>
                  <a:latin typeface="Calibri" panose="020F0502020204030204" pitchFamily="34" charset="0"/>
                </a:rPr>
                <a:t>SCRUM</a:t>
              </a:r>
              <a:r>
                <a:rPr kumimoji="0" lang="zh-CN" altLang="en-US" sz="1800" b="1" dirty="0">
                  <a:solidFill>
                    <a:srgbClr val="1C2B3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敏捷开发</a:t>
              </a:r>
              <a:endParaRPr kumimoji="0" lang="zh-CN" altLang="en-US" sz="1800" b="1" dirty="0">
                <a:solidFill>
                  <a:srgbClr val="1C2B3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9" name="直接连接符 26"/>
          <p:cNvCxnSpPr/>
          <p:nvPr/>
        </p:nvCxnSpPr>
        <p:spPr>
          <a:xfrm>
            <a:off x="4831386" y="5424974"/>
            <a:ext cx="0" cy="937628"/>
          </a:xfrm>
          <a:prstGeom prst="line">
            <a:avLst/>
          </a:prstGeom>
          <a:ln w="19050">
            <a:solidFill>
              <a:srgbClr val="1C2B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8"/>
          <p:cNvCxnSpPr/>
          <p:nvPr/>
        </p:nvCxnSpPr>
        <p:spPr>
          <a:xfrm>
            <a:off x="514254" y="5040964"/>
            <a:ext cx="10637947" cy="1"/>
          </a:xfrm>
          <a:prstGeom prst="line">
            <a:avLst/>
          </a:prstGeom>
          <a:ln>
            <a:solidFill>
              <a:srgbClr val="1C2B3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6"/>
          <p:cNvCxnSpPr/>
          <p:nvPr/>
        </p:nvCxnSpPr>
        <p:spPr>
          <a:xfrm>
            <a:off x="6908838" y="5424974"/>
            <a:ext cx="0" cy="937628"/>
          </a:xfrm>
          <a:prstGeom prst="line">
            <a:avLst/>
          </a:prstGeom>
          <a:ln w="19050">
            <a:solidFill>
              <a:srgbClr val="1C2B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7"/>
          <p:cNvGrpSpPr/>
          <p:nvPr/>
        </p:nvGrpSpPr>
        <p:grpSpPr>
          <a:xfrm>
            <a:off x="8464539" y="2582088"/>
            <a:ext cx="2067561" cy="1225305"/>
            <a:chOff x="3805395" y="4123811"/>
            <a:chExt cx="2085228" cy="1266933"/>
          </a:xfrm>
        </p:grpSpPr>
        <p:sp>
          <p:nvSpPr>
            <p:cNvPr id="23" name="Rounded Rectangle 43"/>
            <p:cNvSpPr/>
            <p:nvPr/>
          </p:nvSpPr>
          <p:spPr>
            <a:xfrm>
              <a:off x="3812440" y="4123811"/>
              <a:ext cx="2078183" cy="1227792"/>
            </a:xfrm>
            <a:prstGeom prst="roundRect">
              <a:avLst>
                <a:gd name="adj" fmla="val 6276"/>
              </a:avLst>
            </a:prstGeom>
            <a:solidFill>
              <a:srgbClr val="B2D2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805395" y="4668702"/>
              <a:ext cx="2078182" cy="722042"/>
              <a:chOff x="1183778" y="4287702"/>
              <a:chExt cx="2078182" cy="722042"/>
            </a:xfrm>
          </p:grpSpPr>
          <p:sp>
            <p:nvSpPr>
              <p:cNvPr id="25" name="Text Placeholder 16"/>
              <p:cNvSpPr txBox="1"/>
              <p:nvPr/>
            </p:nvSpPr>
            <p:spPr>
              <a:xfrm>
                <a:off x="1257617" y="4287702"/>
                <a:ext cx="1945930" cy="36965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800" b="1" dirty="0">
                    <a:solidFill>
                      <a:schemeClr val="bg1"/>
                    </a:solidFill>
                  </a:rPr>
                  <a:t>朱涵</a:t>
                </a:r>
                <a:endParaRPr lang="ar-SA" sz="1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 Placeholder 17"/>
              <p:cNvSpPr txBox="1"/>
              <p:nvPr/>
            </p:nvSpPr>
            <p:spPr>
              <a:xfrm>
                <a:off x="1183778" y="4619379"/>
                <a:ext cx="2078182" cy="3903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200" dirty="0">
                    <a:solidFill>
                      <a:schemeClr val="bg1"/>
                    </a:solidFill>
                    <a:latin typeface="+mj-lt"/>
                  </a:rPr>
                  <a:t>算法开发工程师</a:t>
                </a:r>
                <a:endParaRPr lang="ar-SA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grpSp>
        <p:nvGrpSpPr>
          <p:cNvPr id="27" name="Group 6"/>
          <p:cNvGrpSpPr/>
          <p:nvPr/>
        </p:nvGrpSpPr>
        <p:grpSpPr>
          <a:xfrm>
            <a:off x="1681055" y="2588437"/>
            <a:ext cx="2069964" cy="1225306"/>
            <a:chOff x="1277216" y="4123810"/>
            <a:chExt cx="2087652" cy="1266934"/>
          </a:xfrm>
        </p:grpSpPr>
        <p:sp>
          <p:nvSpPr>
            <p:cNvPr id="28" name="Rounded Rectangle 46"/>
            <p:cNvSpPr/>
            <p:nvPr/>
          </p:nvSpPr>
          <p:spPr>
            <a:xfrm>
              <a:off x="1286686" y="4123810"/>
              <a:ext cx="2078182" cy="1266933"/>
            </a:xfrm>
            <a:prstGeom prst="roundRect">
              <a:avLst>
                <a:gd name="adj" fmla="val 6276"/>
              </a:avLst>
            </a:prstGeom>
            <a:solidFill>
              <a:srgbClr val="0EBE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1"/>
            <p:cNvGrpSpPr/>
            <p:nvPr/>
          </p:nvGrpSpPr>
          <p:grpSpPr>
            <a:xfrm>
              <a:off x="1277216" y="4668702"/>
              <a:ext cx="2078182" cy="722042"/>
              <a:chOff x="1183778" y="4287702"/>
              <a:chExt cx="2078182" cy="722042"/>
            </a:xfrm>
          </p:grpSpPr>
          <p:sp>
            <p:nvSpPr>
              <p:cNvPr id="30" name="Text Placeholder 16"/>
              <p:cNvSpPr txBox="1"/>
              <p:nvPr/>
            </p:nvSpPr>
            <p:spPr>
              <a:xfrm>
                <a:off x="1257617" y="4287702"/>
                <a:ext cx="1945930" cy="369650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1800" b="1" dirty="0">
                    <a:solidFill>
                      <a:schemeClr val="bg1"/>
                    </a:solidFill>
                  </a:rPr>
                  <a:t>丁牧云</a:t>
                </a:r>
                <a:endParaRPr lang="ar-SA" sz="1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 Placeholder 17"/>
              <p:cNvSpPr txBox="1"/>
              <p:nvPr/>
            </p:nvSpPr>
            <p:spPr>
              <a:xfrm>
                <a:off x="1183778" y="4619379"/>
                <a:ext cx="2078182" cy="3903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200" dirty="0">
                    <a:solidFill>
                      <a:schemeClr val="bg1"/>
                    </a:solidFill>
                    <a:latin typeface="+mj-lt"/>
                  </a:rPr>
                  <a:t>A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+mj-lt"/>
                  </a:rPr>
                  <a:t>gent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+mj-lt"/>
                  </a:rPr>
                  <a:t>开发工程师</a:t>
                </a:r>
                <a:endParaRPr lang="ar-SA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</p:grpSp>
      <p:sp>
        <p:nvSpPr>
          <p:cNvPr id="38" name="Oval 19"/>
          <p:cNvSpPr>
            <a:spLocks noChangeArrowheads="1"/>
          </p:cNvSpPr>
          <p:nvPr/>
        </p:nvSpPr>
        <p:spPr bwMode="auto">
          <a:xfrm>
            <a:off x="2226968" y="2108138"/>
            <a:ext cx="987528" cy="96060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en-US" sz="2400" dirty="0">
              <a:solidFill>
                <a:srgbClr val="FFFFFF"/>
              </a:solidFill>
              <a:latin typeface="FontAwesome" pitchFamily="2" charset="0"/>
            </a:endParaRPr>
          </a:p>
        </p:txBody>
      </p:sp>
      <p:sp>
        <p:nvSpPr>
          <p:cNvPr id="39" name="Oval 19"/>
          <p:cNvSpPr>
            <a:spLocks noChangeArrowheads="1"/>
          </p:cNvSpPr>
          <p:nvPr/>
        </p:nvSpPr>
        <p:spPr bwMode="auto">
          <a:xfrm>
            <a:off x="9006564" y="2101788"/>
            <a:ext cx="987528" cy="960601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algn="ctr"/>
            <a:endParaRPr lang="en-US" sz="2400" dirty="0">
              <a:solidFill>
                <a:schemeClr val="bg1"/>
              </a:solidFill>
              <a:latin typeface="FontAwesome" pitchFamily="2" charset="0"/>
            </a:endParaRPr>
          </a:p>
        </p:txBody>
      </p:sp>
      <p:grpSp>
        <p:nvGrpSpPr>
          <p:cNvPr id="42" name="Group 5"/>
          <p:cNvGrpSpPr/>
          <p:nvPr/>
        </p:nvGrpSpPr>
        <p:grpSpPr>
          <a:xfrm>
            <a:off x="5092177" y="2069632"/>
            <a:ext cx="2130425" cy="1699260"/>
            <a:chOff x="5068218" y="1602948"/>
            <a:chExt cx="2148629" cy="1756989"/>
          </a:xfrm>
        </p:grpSpPr>
        <p:sp>
          <p:nvSpPr>
            <p:cNvPr id="43" name="Rounded Rectangle 39"/>
            <p:cNvSpPr/>
            <p:nvPr/>
          </p:nvSpPr>
          <p:spPr>
            <a:xfrm>
              <a:off x="5068218" y="2132802"/>
              <a:ext cx="2148629" cy="1227135"/>
            </a:xfrm>
            <a:prstGeom prst="roundRect">
              <a:avLst>
                <a:gd name="adj" fmla="val 6276"/>
              </a:avLst>
            </a:prstGeom>
            <a:solidFill>
              <a:srgbClr val="F49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5598867" y="1602948"/>
              <a:ext cx="995966" cy="993236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vert="horz" wrap="square" lIns="0" tIns="0" rIns="0" bIns="0" numCol="1" anchor="ctr" anchorCtr="0" compatLnSpc="1"/>
            <a:lstStyle/>
            <a:p>
              <a:pPr lvl="0" algn="ctr"/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"/>
          <p:cNvGrpSpPr/>
          <p:nvPr/>
        </p:nvGrpSpPr>
        <p:grpSpPr>
          <a:xfrm>
            <a:off x="5107666" y="3038830"/>
            <a:ext cx="2114687" cy="689071"/>
            <a:chOff x="5125122" y="2578555"/>
            <a:chExt cx="2132756" cy="712482"/>
          </a:xfrm>
        </p:grpSpPr>
        <p:sp>
          <p:nvSpPr>
            <p:cNvPr id="46" name="Text Placeholder 16"/>
            <p:cNvSpPr txBox="1"/>
            <p:nvPr/>
          </p:nvSpPr>
          <p:spPr>
            <a:xfrm>
              <a:off x="5125122" y="2578555"/>
              <a:ext cx="1945930" cy="36965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800" b="1" dirty="0">
                  <a:solidFill>
                    <a:schemeClr val="bg1"/>
                  </a:solidFill>
                </a:rPr>
                <a:t>赵楷越</a:t>
              </a:r>
              <a:endParaRPr lang="ar-SA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Text Placeholder 17"/>
            <p:cNvSpPr txBox="1"/>
            <p:nvPr/>
          </p:nvSpPr>
          <p:spPr>
            <a:xfrm>
              <a:off x="5179696" y="2900672"/>
              <a:ext cx="2078182" cy="3903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CN" altLang="en-US" sz="1200" dirty="0">
                  <a:solidFill>
                    <a:schemeClr val="bg1"/>
                  </a:solidFill>
                  <a:latin typeface="+mj-lt"/>
                </a:rPr>
                <a:t>产品经理 </a:t>
              </a:r>
              <a:r>
                <a:rPr lang="en-US" altLang="zh-CN" sz="1200" dirty="0">
                  <a:solidFill>
                    <a:schemeClr val="bg1"/>
                  </a:solidFill>
                  <a:latin typeface="+mj-lt"/>
                </a:rPr>
                <a:t> </a:t>
              </a:r>
              <a:r>
                <a:rPr lang="zh-CN" altLang="en-US" sz="1200" dirty="0">
                  <a:solidFill>
                    <a:schemeClr val="bg1"/>
                  </a:solidFill>
                  <a:latin typeface="+mj-lt"/>
                </a:rPr>
                <a:t>技术负责人</a:t>
              </a:r>
              <a:endParaRPr lang="ar-SA" sz="1200" dirty="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50" name="图片 4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84" y="2054706"/>
            <a:ext cx="1008000" cy="100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709" y="2110114"/>
            <a:ext cx="1008000" cy="100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892" y="2102116"/>
            <a:ext cx="1008000" cy="100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3" name="图形 52" descr="客户评价 RT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6858" y="5330642"/>
            <a:ext cx="1162356" cy="11623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2893" y="2839159"/>
            <a:ext cx="3260167" cy="83099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zh-CN" altLang="en-US" sz="48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风暴已至</a:t>
            </a:r>
            <a:endParaRPr lang="en-US" altLang="zh-CN" sz="48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02282" y="3670156"/>
            <a:ext cx="4258235" cy="830997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zh-CN" altLang="en-US" sz="4800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策略即未来</a:t>
            </a:r>
            <a:endParaRPr lang="zh-CN" altLang="en-US" sz="4800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8"/>
</p:tagLst>
</file>

<file path=ppt/tags/tag2.xml><?xml version="1.0" encoding="utf-8"?>
<p:tagLst xmlns:p="http://schemas.openxmlformats.org/presentationml/2006/main">
  <p:tag name="PA" val="v5.2.8"/>
</p:tagLst>
</file>

<file path=ppt/tags/tag3.xml><?xml version="1.0" encoding="utf-8"?>
<p:tagLst xmlns:p="http://schemas.openxmlformats.org/presentationml/2006/main">
  <p:tag name="PA" val="v5.2.8"/>
</p:tagLst>
</file>

<file path=ppt/tags/tag4.xml><?xml version="1.0" encoding="utf-8"?>
<p:tagLst xmlns:p="http://schemas.openxmlformats.org/presentationml/2006/main">
  <p:tag name="PA" val="v5.2.8"/>
</p:tagLst>
</file>

<file path=ppt/tags/tag5.xml><?xml version="1.0" encoding="utf-8"?>
<p:tagLst xmlns:p="http://schemas.openxmlformats.org/presentationml/2006/main">
  <p:tag name="PA" val="v5.2.8"/>
</p:tagLst>
</file>

<file path=ppt/tags/tag6.xml><?xml version="1.0" encoding="utf-8"?>
<p:tagLst xmlns:p="http://schemas.openxmlformats.org/presentationml/2006/main">
  <p:tag name="PA" val="v5.2.8"/>
</p:tagLst>
</file>

<file path=ppt/tags/tag7.xml><?xml version="1.0" encoding="utf-8"?>
<p:tagLst xmlns:p="http://schemas.openxmlformats.org/presentationml/2006/main">
  <p:tag name="PA" val="v5.2.8"/>
</p:tagLst>
</file>

<file path=ppt/tags/tag8.xml><?xml version="1.0" encoding="utf-8"?>
<p:tagLst xmlns:p="http://schemas.openxmlformats.org/presentationml/2006/main">
  <p:tag name="PA" val="v5.2.8"/>
</p:tagLst>
</file>

<file path=ppt/tags/tag9.xml><?xml version="1.0" encoding="utf-8"?>
<p:tagLst xmlns:p="http://schemas.openxmlformats.org/presentationml/2006/main">
  <p:tag name="PA" val="v5.2.8"/>
</p:tagLst>
</file>

<file path=ppt/tags/tag10.xml><?xml version="1.0" encoding="utf-8"?>
<p:tagLst xmlns:p="http://schemas.openxmlformats.org/presentationml/2006/main">
  <p:tag name="PA" val="v5.2.8"/>
</p:tagLst>
</file>

<file path=ppt/tags/tag11.xml><?xml version="1.0" encoding="utf-8"?>
<p:tagLst xmlns:p="http://schemas.openxmlformats.org/presentationml/2006/main">
  <p:tag name="PA" val="v5.2.8"/>
</p:tagLst>
</file>

<file path=ppt/tags/tag12.xml><?xml version="1.0" encoding="utf-8"?>
<p:tagLst xmlns:p="http://schemas.openxmlformats.org/presentationml/2006/main">
  <p:tag name="PA" val="v5.2.8"/>
</p:tagLst>
</file>

<file path=ppt/tags/tag13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4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5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6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7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8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19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20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21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22.xml><?xml version="1.0" encoding="utf-8"?>
<p:tagLst xmlns:p="http://schemas.openxmlformats.org/presentationml/2006/main">
  <p:tag name="KSO_WM_DIAGRAM_VIRTUALLY_FRAME" val="{&quot;height&quot;:325.0771653543307,&quot;left&quot;:568.5992125984252,&quot;top&quot;:110.21905511811023,&quot;width&quot;:432.1363779527559}"/>
</p:tagLst>
</file>

<file path=ppt/tags/tag23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24.xml><?xml version="1.0" encoding="utf-8"?>
<p:tagLst xmlns:p="http://schemas.openxmlformats.org/presentationml/2006/main">
  <p:tag name="ADJUSTMENTS" val="12.08757"/>
</p:tagLst>
</file>

<file path=ppt/tags/tag25.xml><?xml version="1.0" encoding="utf-8"?>
<p:tagLst xmlns:p="http://schemas.openxmlformats.org/presentationml/2006/main">
  <p:tag name="TEXTZ '" val="-2.147484E+09"/>
</p:tagLst>
</file>

<file path=ppt/tags/tag26.xml><?xml version="1.0" encoding="utf-8"?>
<p:tagLst xmlns:p="http://schemas.openxmlformats.org/presentationml/2006/main">
  <p:tag name="TEXTZ '" val="-2.147484E+09"/>
</p:tagLst>
</file>

<file path=ppt/tags/tag27.xml><?xml version="1.0" encoding="utf-8"?>
<p:tagLst xmlns:p="http://schemas.openxmlformats.org/presentationml/2006/main">
  <p:tag name="TEXTZ '" val="-2.147484E+09"/>
</p:tagLst>
</file>

<file path=ppt/tags/tag28.xml><?xml version="1.0" encoding="utf-8"?>
<p:tagLst xmlns:p="http://schemas.openxmlformats.org/presentationml/2006/main">
  <p:tag name="TEXTZ '" val="-2.147484E+09"/>
</p:tagLst>
</file>

<file path=ppt/tags/tag29.xml><?xml version="1.0" encoding="utf-8"?>
<p:tagLst xmlns:p="http://schemas.openxmlformats.org/presentationml/2006/main">
  <p:tag name="TEXTZ '" val="-2.147484E+09"/>
</p:tagLst>
</file>

<file path=ppt/tags/tag30.xml><?xml version="1.0" encoding="utf-8"?>
<p:tagLst xmlns:p="http://schemas.openxmlformats.org/presentationml/2006/main">
  <p:tag name="ADJUSTMENTS" val="12.08757"/>
</p:tagLst>
</file>

<file path=ppt/tags/tag31.xml><?xml version="1.0" encoding="utf-8"?>
<p:tagLst xmlns:p="http://schemas.openxmlformats.org/presentationml/2006/main">
  <p:tag name="ADJUSTMENTS" val="12.08757"/>
</p:tagLst>
</file>

<file path=ppt/tags/tag32.xml><?xml version="1.0" encoding="utf-8"?>
<p:tagLst xmlns:p="http://schemas.openxmlformats.org/presentationml/2006/main">
  <p:tag name="ADJUSTMENTS" val="12.08757"/>
</p:tagLst>
</file>

<file path=ppt/tags/tag33.xml><?xml version="1.0" encoding="utf-8"?>
<p:tagLst xmlns:p="http://schemas.openxmlformats.org/presentationml/2006/main">
  <p:tag name="ADJUSTMENTS" val="12.08757"/>
</p:tagLst>
</file>

<file path=ppt/tags/tag34.xml><?xml version="1.0" encoding="utf-8"?>
<p:tagLst xmlns:p="http://schemas.openxmlformats.org/presentationml/2006/main">
  <p:tag name="ADJUSTMENTS" val="12.08757"/>
</p:tagLst>
</file>

<file path=ppt/tags/tag35.xml><?xml version="1.0" encoding="utf-8"?>
<p:tagLst xmlns:p="http://schemas.openxmlformats.org/presentationml/2006/main">
  <p:tag name="ADJUSTMENTS" val="12.08757"/>
</p:tagLst>
</file>

<file path=ppt/tags/tag36.xml><?xml version="1.0" encoding="utf-8"?>
<p:tagLst xmlns:p="http://schemas.openxmlformats.org/presentationml/2006/main">
  <p:tag name="TEXTZ '" val="0"/>
</p:tagLst>
</file>

<file path=ppt/tags/tag37.xml><?xml version="1.0" encoding="utf-8"?>
<p:tagLst xmlns:p="http://schemas.openxmlformats.org/presentationml/2006/main">
  <p:tag name="ADJUSTMENTS" val="12.08757"/>
</p:tagLst>
</file>

<file path=ppt/tags/tag38.xml><?xml version="1.0" encoding="utf-8"?>
<p:tagLst xmlns:p="http://schemas.openxmlformats.org/presentationml/2006/main">
  <p:tag name="TEXTZ '" val="0"/>
</p:tagLst>
</file>

<file path=ppt/tags/tag39.xml><?xml version="1.0" encoding="utf-8"?>
<p:tagLst xmlns:p="http://schemas.openxmlformats.org/presentationml/2006/main">
  <p:tag name="ADJUSTMENTS" val="2.454583"/>
</p:tagLst>
</file>

<file path=ppt/tags/tag40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1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2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3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4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5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6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7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8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49.xml><?xml version="1.0" encoding="utf-8"?>
<p:tagLst xmlns:p="http://schemas.openxmlformats.org/presentationml/2006/main">
  <p:tag name="ADJUSTMENTS" val="2.454583"/>
</p:tagLst>
</file>

<file path=ppt/tags/tag50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1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2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3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4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5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6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7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8.xml><?xml version="1.0" encoding="utf-8"?>
<p:tagLst xmlns:p="http://schemas.openxmlformats.org/presentationml/2006/main">
  <p:tag name="KSO_WM_DIAGRAM_VIRTUALLY_FRAME" val="{&quot;height&quot;:410.4,&quot;left&quot;:36,&quot;top&quot;:77,&quot;width&quot;:469.3688188976378}"/>
</p:tagLst>
</file>

<file path=ppt/tags/tag59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0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1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2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3.xml><?xml version="1.0" encoding="utf-8"?>
<p:tagLst xmlns:p="http://schemas.openxmlformats.org/presentationml/2006/main">
  <p:tag name="TEXTZ '" val="0"/>
</p:tagLst>
</file>

<file path=ppt/tags/tag64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5.xml><?xml version="1.0" encoding="utf-8"?>
<p:tagLst xmlns:p="http://schemas.openxmlformats.org/presentationml/2006/main">
  <p:tag name="ADJUSTMENTS" val="12.08757"/>
</p:tagLst>
</file>

<file path=ppt/tags/tag66.xml><?xml version="1.0" encoding="utf-8"?>
<p:tagLst xmlns:p="http://schemas.openxmlformats.org/presentationml/2006/main">
  <p:tag name="ADJUSTMENTS" val="12.08757"/>
</p:tagLst>
</file>

<file path=ppt/tags/tag67.xml><?xml version="1.0" encoding="utf-8"?>
<p:tagLst xmlns:p="http://schemas.openxmlformats.org/presentationml/2006/main">
  <p:tag name="ADJUSTMENTS" val="12.08757"/>
</p:tagLst>
</file>

<file path=ppt/tags/tag68.xml><?xml version="1.0" encoding="utf-8"?>
<p:tagLst xmlns:p="http://schemas.openxmlformats.org/presentationml/2006/main">
  <p:tag name="KSO_WM_DIAGRAM_VIRTUALLY_FRAME" val="{&quot;height&quot;:325.0771653543307,&quot;left&quot;:326.3492125984252,&quot;top&quot;:110.21905511811023,&quot;width&quot;:674.3863779527559}"/>
</p:tagLst>
</file>

<file path=ppt/tags/tag69.xml><?xml version="1.0" encoding="utf-8"?>
<p:tagLst xmlns:p="http://schemas.openxmlformats.org/presentationml/2006/main">
  <p:tag name="commondata" val="eyJoZGlkIjoiMzlmYTc4MzhjNjE3YjkzMGM1OTI2OTEwZjZiYjU5ZWUifQ=="/>
</p:tagLst>
</file>

<file path=ppt/theme/theme1.xml><?xml version="1.0" encoding="utf-8"?>
<a:theme xmlns:a="http://schemas.openxmlformats.org/drawingml/2006/main" name="P1-P4-母版_v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5968</Words>
  <Application>WPS 演示</Application>
  <PresentationFormat>宽屏</PresentationFormat>
  <Paragraphs>992</Paragraphs>
  <Slides>27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68" baseType="lpstr">
      <vt:lpstr>Arial</vt:lpstr>
      <vt:lpstr>宋体</vt:lpstr>
      <vt:lpstr>Wingdings</vt:lpstr>
      <vt:lpstr>Microsoft YaHei UI</vt:lpstr>
      <vt:lpstr>思源黑体 CN Regular</vt:lpstr>
      <vt:lpstr>思源黑体 CN Regular</vt:lpstr>
      <vt:lpstr>Roboto Regular</vt:lpstr>
      <vt:lpstr>Abadi MT Condensed Light</vt:lpstr>
      <vt:lpstr>Yu Gothic UI Light</vt:lpstr>
      <vt:lpstr>微软雅黑</vt:lpstr>
      <vt:lpstr>Times New Roman</vt:lpstr>
      <vt:lpstr>Brush Script MT</vt:lpstr>
      <vt:lpstr>思源黑体 CN Normal</vt:lpstr>
      <vt:lpstr>黑体</vt:lpstr>
      <vt:lpstr>思源黑体 CN Normal</vt:lpstr>
      <vt:lpstr>等线</vt:lpstr>
      <vt:lpstr>Calibri</vt:lpstr>
      <vt:lpstr>演示流云楷</vt:lpstr>
      <vt:lpstr>思源黑体 CN Bold</vt:lpstr>
      <vt:lpstr>Cambria Math</vt:lpstr>
      <vt:lpstr>Menlo</vt:lpstr>
      <vt:lpstr>Segoe Print</vt:lpstr>
      <vt:lpstr>Arial</vt:lpstr>
      <vt:lpstr>Arial Unicode MS</vt:lpstr>
      <vt:lpstr>等线 Light</vt:lpstr>
      <vt:lpstr>Impact</vt:lpstr>
      <vt:lpstr>Aharoni</vt:lpstr>
      <vt:lpstr>Ice kingdom</vt:lpstr>
      <vt:lpstr>Source Sans Pro Light</vt:lpstr>
      <vt:lpstr>JetBrains Mono</vt:lpstr>
      <vt:lpstr>FontAwesome</vt:lpstr>
      <vt:lpstr>Comic Sans MS</vt:lpstr>
      <vt:lpstr>幼圆</vt:lpstr>
      <vt:lpstr>仿宋</vt:lpstr>
      <vt:lpstr>微软雅黑 Light</vt:lpstr>
      <vt:lpstr>方正兰亭超细黑简体</vt:lpstr>
      <vt:lpstr>汉仪中黑 197</vt:lpstr>
      <vt:lpstr>楷体</vt:lpstr>
      <vt:lpstr>新宋体</vt:lpstr>
      <vt:lpstr>Adobe Gothic Std B</vt:lpstr>
      <vt:lpstr>P1-P4-母版_v2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朱涵</cp:lastModifiedBy>
  <cp:revision>222</cp:revision>
  <dcterms:created xsi:type="dcterms:W3CDTF">2025-04-15T04:24:00Z</dcterms:created>
  <dcterms:modified xsi:type="dcterms:W3CDTF">2025-04-27T07:34:32Z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C3ABE4A2160243128DA4D3CC2A8E0900_12</vt:lpwstr>
  </property>
  <property fmtid="{D5CDD505-2E9C-101B-9397-08002B2CF9AE}" pid="3" name="KSOProductBuildVer">
    <vt:lpwstr>2052-12.1.0.17147</vt:lpwstr>
  </property>
</Properties>
</file>